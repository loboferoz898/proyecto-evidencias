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Public Sans" panose="020B0604020202020204" charset="0"/>
      <p:regular r:id="rId25"/>
    </p:embeddedFont>
    <p:embeddedFont>
      <p:font typeface="Nunito Bold" panose="020B0604020202020204" charset="0"/>
      <p:regular r:id="rId26"/>
    </p:embeddedFont>
    <p:embeddedFont>
      <p:font typeface="Public Sans Thin" panose="020B0604020202020204" charset="0"/>
      <p:regular r:id="rId27"/>
    </p:embeddedFont>
    <p:embeddedFont>
      <p:font typeface="Calibri" panose="020F0502020204030204" pitchFamily="34" charset="0"/>
      <p:regular r:id="rId28"/>
      <p:bold r:id="rId29"/>
      <p:italic r:id="rId30"/>
      <p:boldItalic r:id="rId31"/>
    </p:embeddedFont>
    <p:embeddedFont>
      <p:font typeface="Public Sans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6" d="100"/>
          <a:sy n="46" d="100"/>
        </p:scale>
        <p:origin x="1109"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30.10.2025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1.jpe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1.jpe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21.png"/><Relationship Id="rId3" Type="http://schemas.openxmlformats.org/officeDocument/2006/relationships/image" Target="../media/image1.jpeg"/><Relationship Id="rId7" Type="http://schemas.openxmlformats.org/officeDocument/2006/relationships/image" Target="../media/image3.png"/><Relationship Id="rId12" Type="http://schemas.openxmlformats.org/officeDocument/2006/relationships/image" Target="../media/image20.png"/><Relationship Id="rId2" Type="http://schemas.openxmlformats.org/officeDocument/2006/relationships/notesSlide" Target="../notesSlides/notesSlide9.xml"/><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8.svg"/><Relationship Id="rId11" Type="http://schemas.openxmlformats.org/officeDocument/2006/relationships/image" Target="../media/image19.png"/><Relationship Id="rId5" Type="http://schemas.openxmlformats.org/officeDocument/2006/relationships/image" Target="../media/image16.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5.png"/><Relationship Id="rId9" Type="http://schemas.openxmlformats.org/officeDocument/2006/relationships/image" Target="../media/image17.png"/><Relationship Id="rId14"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jpeg"/><Relationship Id="rId7" Type="http://schemas.openxmlformats.org/officeDocument/2006/relationships/image" Target="../media/image3.png"/><Relationship Id="rId12"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8.svg"/><Relationship Id="rId11" Type="http://schemas.openxmlformats.org/officeDocument/2006/relationships/image" Target="../media/image27.png"/><Relationship Id="rId5" Type="http://schemas.openxmlformats.org/officeDocument/2006/relationships/image" Target="../media/image16.png"/><Relationship Id="rId10" Type="http://schemas.openxmlformats.org/officeDocument/2006/relationships/image" Target="../media/image26.png"/><Relationship Id="rId4" Type="http://schemas.openxmlformats.org/officeDocument/2006/relationships/image" Target="../media/image5.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5.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1.jpeg"/><Relationship Id="rId9" Type="http://schemas.openxmlformats.org/officeDocument/2006/relationships/image" Target="../media/image35.png"/><Relationship Id="rId1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5.svg"/><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50.svg"/><Relationship Id="rId2" Type="http://schemas.openxmlformats.org/officeDocument/2006/relationships/image" Target="../media/image43.jpe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15.png"/><Relationship Id="rId4" Type="http://schemas.openxmlformats.org/officeDocument/2006/relationships/image" Target="../media/image48.svg"/></Relationships>
</file>

<file path=ppt/slides/_rels/slide17.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1.jpeg"/><Relationship Id="rId7"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2.svg"/><Relationship Id="rId5" Type="http://schemas.openxmlformats.org/officeDocument/2006/relationships/image" Target="../media/image4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48.png"/><Relationship Id="rId7" Type="http://schemas.openxmlformats.org/officeDocument/2006/relationships/image" Target="../media/image50.png"/><Relationship Id="rId2" Type="http://schemas.openxmlformats.org/officeDocument/2006/relationships/image" Target="../media/image43.jpeg"/><Relationship Id="rId1" Type="http://schemas.openxmlformats.org/officeDocument/2006/relationships/slideLayout" Target="../slideLayouts/slideLayout7.xml"/><Relationship Id="rId6" Type="http://schemas.openxmlformats.org/officeDocument/2006/relationships/image" Target="../media/image58.svg"/><Relationship Id="rId5" Type="http://schemas.openxmlformats.org/officeDocument/2006/relationships/image" Target="../media/image49.png"/><Relationship Id="rId4" Type="http://schemas.openxmlformats.org/officeDocument/2006/relationships/image" Target="../media/image56.sv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64.sv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9235" b="-9235"/>
              </a:stretch>
            </a:blipFill>
          </p:spPr>
        </p:sp>
      </p:grpSp>
      <p:grpSp>
        <p:nvGrpSpPr>
          <p:cNvPr id="4" name="Group 4"/>
          <p:cNvGrpSpPr/>
          <p:nvPr/>
        </p:nvGrpSpPr>
        <p:grpSpPr>
          <a:xfrm>
            <a:off x="13447130" y="1028700"/>
            <a:ext cx="6320791" cy="1248356"/>
            <a:chOff x="0" y="0"/>
            <a:chExt cx="8427721" cy="1664475"/>
          </a:xfrm>
        </p:grpSpPr>
        <p:sp>
          <p:nvSpPr>
            <p:cNvPr id="5" name="Freeform 5"/>
            <p:cNvSpPr/>
            <p:nvPr/>
          </p:nvSpPr>
          <p:spPr>
            <a:xfrm flipH="1">
              <a:off x="0" y="0"/>
              <a:ext cx="8427720" cy="1664462"/>
            </a:xfrm>
            <a:custGeom>
              <a:avLst/>
              <a:gdLst/>
              <a:ahLst/>
              <a:cxnLst/>
              <a:rect l="l" t="t" r="r" b="b"/>
              <a:pathLst>
                <a:path w="8427720" h="1664462">
                  <a:moveTo>
                    <a:pt x="8427720" y="0"/>
                  </a:moveTo>
                  <a:lnTo>
                    <a:pt x="0" y="0"/>
                  </a:lnTo>
                  <a:lnTo>
                    <a:pt x="0" y="1664462"/>
                  </a:lnTo>
                  <a:lnTo>
                    <a:pt x="8427720" y="1664462"/>
                  </a:lnTo>
                  <a:lnTo>
                    <a:pt x="8427720" y="0"/>
                  </a:lnTo>
                  <a:close/>
                </a:path>
              </a:pathLst>
            </a:custGeom>
            <a:blipFill>
              <a:blip r:embed="rId4"/>
              <a:stretch>
                <a:fillRect l="-132" r="-132"/>
              </a:stretch>
            </a:blipFill>
          </p:spPr>
        </p:sp>
      </p:grpSp>
      <p:grpSp>
        <p:nvGrpSpPr>
          <p:cNvPr id="6" name="Group 6"/>
          <p:cNvGrpSpPr/>
          <p:nvPr/>
        </p:nvGrpSpPr>
        <p:grpSpPr>
          <a:xfrm>
            <a:off x="11612603" y="2289558"/>
            <a:ext cx="6139288" cy="6031850"/>
            <a:chOff x="0" y="0"/>
            <a:chExt cx="8185717" cy="8042467"/>
          </a:xfrm>
        </p:grpSpPr>
        <p:sp>
          <p:nvSpPr>
            <p:cNvPr id="7" name="Freeform 7"/>
            <p:cNvSpPr/>
            <p:nvPr/>
          </p:nvSpPr>
          <p:spPr>
            <a:xfrm>
              <a:off x="0" y="0"/>
              <a:ext cx="8185658" cy="8042529"/>
            </a:xfrm>
            <a:custGeom>
              <a:avLst/>
              <a:gdLst/>
              <a:ahLst/>
              <a:cxnLst/>
              <a:rect l="l" t="t" r="r" b="b"/>
              <a:pathLst>
                <a:path w="8185658" h="8042529">
                  <a:moveTo>
                    <a:pt x="0" y="0"/>
                  </a:moveTo>
                  <a:lnTo>
                    <a:pt x="8185658" y="0"/>
                  </a:lnTo>
                  <a:lnTo>
                    <a:pt x="8185658" y="8042529"/>
                  </a:lnTo>
                  <a:lnTo>
                    <a:pt x="0" y="8042529"/>
                  </a:lnTo>
                  <a:lnTo>
                    <a:pt x="0" y="0"/>
                  </a:lnTo>
                  <a:close/>
                </a:path>
              </a:pathLst>
            </a:custGeom>
            <a:blipFill>
              <a:blip r:embed="rId5"/>
              <a:stretch>
                <a:fillRect l="-38" r="-38"/>
              </a:stretch>
            </a:blipFill>
          </p:spPr>
        </p:sp>
      </p:grpSp>
      <p:sp>
        <p:nvSpPr>
          <p:cNvPr id="8" name="AutoShape 8"/>
          <p:cNvSpPr/>
          <p:nvPr/>
        </p:nvSpPr>
        <p:spPr>
          <a:xfrm rot="29037">
            <a:off x="1019095" y="9248775"/>
            <a:ext cx="4510781" cy="0"/>
          </a:xfrm>
          <a:prstGeom prst="line">
            <a:avLst/>
          </a:prstGeom>
          <a:ln w="28575" cap="rnd">
            <a:solidFill>
              <a:srgbClr val="FFFFFF"/>
            </a:solidFill>
            <a:prstDash val="solid"/>
            <a:headEnd type="none" w="sm" len="sm"/>
            <a:tailEnd type="oval" w="lg" len="lg"/>
          </a:ln>
        </p:spPr>
      </p:sp>
      <p:sp>
        <p:nvSpPr>
          <p:cNvPr id="9" name="TextBox 9"/>
          <p:cNvSpPr txBox="1"/>
          <p:nvPr/>
        </p:nvSpPr>
        <p:spPr>
          <a:xfrm>
            <a:off x="1028700" y="7186219"/>
            <a:ext cx="4472520" cy="1649894"/>
          </a:xfrm>
          <a:prstGeom prst="rect">
            <a:avLst/>
          </a:prstGeom>
        </p:spPr>
        <p:txBody>
          <a:bodyPr lIns="0" tIns="0" rIns="0" bIns="0" rtlCol="0" anchor="t">
            <a:spAutoFit/>
          </a:bodyPr>
          <a:lstStyle/>
          <a:p>
            <a:pPr algn="l">
              <a:lnSpc>
                <a:spcPts val="3024"/>
              </a:lnSpc>
            </a:pPr>
            <a:r>
              <a:rPr lang="en-US" sz="1800">
                <a:solidFill>
                  <a:srgbClr val="FFFFFF"/>
                </a:solidFill>
                <a:latin typeface="Public Sans"/>
                <a:ea typeface="Public Sans"/>
                <a:cs typeface="Public Sans"/>
                <a:sym typeface="Public Sans"/>
              </a:rPr>
              <a:t>POR:</a:t>
            </a:r>
          </a:p>
          <a:p>
            <a:pPr marL="411485" lvl="2" indent="-137162" algn="l">
              <a:lnSpc>
                <a:spcPts val="3024"/>
              </a:lnSpc>
              <a:buFont typeface="Arial"/>
              <a:buChar char="⚬"/>
            </a:pPr>
            <a:r>
              <a:rPr lang="en-US" sz="1800">
                <a:solidFill>
                  <a:srgbClr val="FFFFFF"/>
                </a:solidFill>
                <a:latin typeface="Public Sans"/>
                <a:ea typeface="Public Sans"/>
                <a:cs typeface="Public Sans"/>
                <a:sym typeface="Public Sans"/>
              </a:rPr>
              <a:t>SERGIO LÓPEZ</a:t>
            </a:r>
          </a:p>
          <a:p>
            <a:pPr marL="411485" lvl="2" indent="-137162" algn="l">
              <a:lnSpc>
                <a:spcPts val="3024"/>
              </a:lnSpc>
              <a:buFont typeface="Arial"/>
              <a:buChar char="⚬"/>
            </a:pPr>
            <a:r>
              <a:rPr lang="en-US" sz="1800">
                <a:solidFill>
                  <a:srgbClr val="FFFFFF"/>
                </a:solidFill>
                <a:latin typeface="Public Sans"/>
                <a:ea typeface="Public Sans"/>
                <a:cs typeface="Public Sans"/>
                <a:sym typeface="Public Sans"/>
              </a:rPr>
              <a:t>CLAUDIO ADONES</a:t>
            </a:r>
          </a:p>
          <a:p>
            <a:pPr marL="411485" lvl="2" indent="-137162" algn="l">
              <a:lnSpc>
                <a:spcPts val="3024"/>
              </a:lnSpc>
              <a:buFont typeface="Arial"/>
              <a:buChar char="⚬"/>
            </a:pPr>
            <a:r>
              <a:rPr lang="en-US" sz="1800">
                <a:solidFill>
                  <a:srgbClr val="FFFFFF"/>
                </a:solidFill>
                <a:latin typeface="Public Sans"/>
                <a:ea typeface="Public Sans"/>
                <a:cs typeface="Public Sans"/>
                <a:sym typeface="Public Sans"/>
              </a:rPr>
              <a:t>HANS ASTORGA</a:t>
            </a:r>
          </a:p>
          <a:p>
            <a:pPr marL="411485" lvl="2" indent="-137162" algn="l">
              <a:lnSpc>
                <a:spcPts val="3024"/>
              </a:lnSpc>
            </a:pPr>
            <a:endParaRPr lang="en-US" sz="1800">
              <a:solidFill>
                <a:srgbClr val="FFFFFF"/>
              </a:solidFill>
              <a:latin typeface="Public Sans"/>
              <a:ea typeface="Public Sans"/>
              <a:cs typeface="Public Sans"/>
              <a:sym typeface="Public Sans"/>
            </a:endParaRPr>
          </a:p>
        </p:txBody>
      </p:sp>
      <p:sp>
        <p:nvSpPr>
          <p:cNvPr id="10" name="TextBox 10"/>
          <p:cNvSpPr txBox="1"/>
          <p:nvPr/>
        </p:nvSpPr>
        <p:spPr>
          <a:xfrm>
            <a:off x="1028700" y="4364888"/>
            <a:ext cx="10330349" cy="1585915"/>
          </a:xfrm>
          <a:prstGeom prst="rect">
            <a:avLst/>
          </a:prstGeom>
        </p:spPr>
        <p:txBody>
          <a:bodyPr lIns="0" tIns="0" rIns="0" bIns="0" rtlCol="0" anchor="t">
            <a:spAutoFit/>
          </a:bodyPr>
          <a:lstStyle/>
          <a:p>
            <a:pPr algn="l">
              <a:lnSpc>
                <a:spcPts val="6619"/>
              </a:lnSpc>
            </a:pPr>
            <a:r>
              <a:rPr lang="en-US" sz="3940">
                <a:solidFill>
                  <a:srgbClr val="FFFFFF"/>
                </a:solidFill>
                <a:latin typeface="Public Sans Thin"/>
                <a:ea typeface="Public Sans Thin"/>
                <a:cs typeface="Public Sans Thin"/>
                <a:sym typeface="Public Sans Thin"/>
              </a:rPr>
              <a:t>Asistente Autónomo Virtual para Transmisiones Web</a:t>
            </a:r>
          </a:p>
        </p:txBody>
      </p:sp>
      <p:sp>
        <p:nvSpPr>
          <p:cNvPr id="11" name="TextBox 11"/>
          <p:cNvSpPr txBox="1"/>
          <p:nvPr/>
        </p:nvSpPr>
        <p:spPr>
          <a:xfrm>
            <a:off x="130215" y="2148951"/>
            <a:ext cx="11228834" cy="2126651"/>
          </a:xfrm>
          <a:prstGeom prst="rect">
            <a:avLst/>
          </a:prstGeom>
        </p:spPr>
        <p:txBody>
          <a:bodyPr lIns="0" tIns="0" rIns="0" bIns="0" rtlCol="0" anchor="t">
            <a:spAutoFit/>
          </a:bodyPr>
          <a:lstStyle/>
          <a:p>
            <a:pPr algn="l">
              <a:lnSpc>
                <a:spcPts val="16209"/>
              </a:lnSpc>
            </a:pPr>
            <a:r>
              <a:rPr lang="en-US" sz="9647" b="1">
                <a:solidFill>
                  <a:srgbClr val="FFFFFF"/>
                </a:solidFill>
                <a:latin typeface="Public Sans Bold"/>
                <a:ea typeface="Public Sans Bold"/>
                <a:cs typeface="Public Sans Bold"/>
                <a:sym typeface="Public Sans Bold"/>
              </a:rPr>
              <a:t> Proyecto APT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568840" y="1009650"/>
            <a:ext cx="4768218" cy="941723"/>
            <a:chOff x="0" y="0"/>
            <a:chExt cx="6357624" cy="1255631"/>
          </a:xfrm>
        </p:grpSpPr>
        <p:sp>
          <p:nvSpPr>
            <p:cNvPr id="3" name="Freeform 3"/>
            <p:cNvSpPr/>
            <p:nvPr/>
          </p:nvSpPr>
          <p:spPr>
            <a:xfrm flipH="1">
              <a:off x="0" y="0"/>
              <a:ext cx="6357620" cy="1255649"/>
            </a:xfrm>
            <a:custGeom>
              <a:avLst/>
              <a:gdLst/>
              <a:ahLst/>
              <a:cxnLst/>
              <a:rect l="l" t="t" r="r" b="b"/>
              <a:pathLst>
                <a:path w="6357620" h="1255649">
                  <a:moveTo>
                    <a:pt x="6357620" y="0"/>
                  </a:moveTo>
                  <a:lnTo>
                    <a:pt x="0" y="0"/>
                  </a:lnTo>
                  <a:lnTo>
                    <a:pt x="0" y="1255649"/>
                  </a:lnTo>
                  <a:lnTo>
                    <a:pt x="6357620" y="1255649"/>
                  </a:lnTo>
                  <a:lnTo>
                    <a:pt x="6357620" y="0"/>
                  </a:lnTo>
                  <a:close/>
                </a:path>
              </a:pathLst>
            </a:custGeom>
            <a:blipFill>
              <a:blip r:embed="rId3"/>
              <a:stretch>
                <a:fillRect l="-132" r="-132" b="1"/>
              </a:stretch>
            </a:blipFill>
          </p:spPr>
        </p:sp>
      </p:grpSp>
      <p:grpSp>
        <p:nvGrpSpPr>
          <p:cNvPr id="4" name="Group 4"/>
          <p:cNvGrpSpPr/>
          <p:nvPr/>
        </p:nvGrpSpPr>
        <p:grpSpPr>
          <a:xfrm>
            <a:off x="0" y="-2324"/>
            <a:ext cx="8303135" cy="10289324"/>
            <a:chOff x="0" y="0"/>
            <a:chExt cx="11070847" cy="13719099"/>
          </a:xfrm>
        </p:grpSpPr>
        <p:sp>
          <p:nvSpPr>
            <p:cNvPr id="5" name="Freeform 5"/>
            <p:cNvSpPr/>
            <p:nvPr/>
          </p:nvSpPr>
          <p:spPr>
            <a:xfrm>
              <a:off x="0" y="0"/>
              <a:ext cx="11070844" cy="13719048"/>
            </a:xfrm>
            <a:custGeom>
              <a:avLst/>
              <a:gdLst/>
              <a:ahLst/>
              <a:cxnLst/>
              <a:rect l="l" t="t" r="r" b="b"/>
              <a:pathLst>
                <a:path w="11070844" h="13719048">
                  <a:moveTo>
                    <a:pt x="0" y="0"/>
                  </a:moveTo>
                  <a:lnTo>
                    <a:pt x="11070844" y="0"/>
                  </a:lnTo>
                  <a:lnTo>
                    <a:pt x="11070844" y="13719048"/>
                  </a:lnTo>
                  <a:lnTo>
                    <a:pt x="0" y="13719048"/>
                  </a:lnTo>
                  <a:lnTo>
                    <a:pt x="0" y="0"/>
                  </a:lnTo>
                  <a:close/>
                </a:path>
              </a:pathLst>
            </a:custGeom>
            <a:blipFill>
              <a:blip r:embed="rId4"/>
              <a:stretch>
                <a:fillRect l="-42977" r="-42977"/>
              </a:stretch>
            </a:blipFill>
          </p:spPr>
        </p:sp>
      </p:grpSp>
      <p:grpSp>
        <p:nvGrpSpPr>
          <p:cNvPr id="6" name="Group 6"/>
          <p:cNvGrpSpPr/>
          <p:nvPr/>
        </p:nvGrpSpPr>
        <p:grpSpPr>
          <a:xfrm>
            <a:off x="1028700" y="5678421"/>
            <a:ext cx="6112880" cy="3579879"/>
            <a:chOff x="0" y="0"/>
            <a:chExt cx="8150507" cy="4773171"/>
          </a:xfrm>
        </p:grpSpPr>
        <p:sp>
          <p:nvSpPr>
            <p:cNvPr id="7" name="Freeform 7"/>
            <p:cNvSpPr/>
            <p:nvPr/>
          </p:nvSpPr>
          <p:spPr>
            <a:xfrm>
              <a:off x="0" y="0"/>
              <a:ext cx="8150479" cy="4773168"/>
            </a:xfrm>
            <a:custGeom>
              <a:avLst/>
              <a:gdLst/>
              <a:ahLst/>
              <a:cxnLst/>
              <a:rect l="l" t="t" r="r" b="b"/>
              <a:pathLst>
                <a:path w="8150479" h="4773168">
                  <a:moveTo>
                    <a:pt x="395986" y="0"/>
                  </a:moveTo>
                  <a:lnTo>
                    <a:pt x="7754493" y="0"/>
                  </a:lnTo>
                  <a:cubicBezTo>
                    <a:pt x="7973187" y="0"/>
                    <a:pt x="8150479" y="177292"/>
                    <a:pt x="8150479" y="395986"/>
                  </a:cubicBezTo>
                  <a:lnTo>
                    <a:pt x="8150479" y="4377182"/>
                  </a:lnTo>
                  <a:cubicBezTo>
                    <a:pt x="8150479" y="4482211"/>
                    <a:pt x="8108824" y="4582922"/>
                    <a:pt x="8034528" y="4657217"/>
                  </a:cubicBezTo>
                  <a:cubicBezTo>
                    <a:pt x="7960233" y="4731512"/>
                    <a:pt x="7859523" y="4773168"/>
                    <a:pt x="7754493" y="4773168"/>
                  </a:cubicBezTo>
                  <a:lnTo>
                    <a:pt x="395986" y="4773168"/>
                  </a:lnTo>
                  <a:cubicBezTo>
                    <a:pt x="290957" y="4773168"/>
                    <a:pt x="190246" y="4731512"/>
                    <a:pt x="115951" y="4657217"/>
                  </a:cubicBezTo>
                  <a:cubicBezTo>
                    <a:pt x="41656" y="4582922"/>
                    <a:pt x="0" y="4482211"/>
                    <a:pt x="0" y="4377182"/>
                  </a:cubicBezTo>
                  <a:lnTo>
                    <a:pt x="0" y="395986"/>
                  </a:lnTo>
                  <a:cubicBezTo>
                    <a:pt x="0" y="290957"/>
                    <a:pt x="41656" y="190246"/>
                    <a:pt x="115951" y="115951"/>
                  </a:cubicBezTo>
                  <a:cubicBezTo>
                    <a:pt x="190246" y="41656"/>
                    <a:pt x="290957" y="0"/>
                    <a:pt x="395986" y="0"/>
                  </a:cubicBezTo>
                  <a:close/>
                </a:path>
              </a:pathLst>
            </a:custGeom>
            <a:blipFill>
              <a:blip r:embed="rId5"/>
              <a:stretch>
                <a:fillRect l="-2531" r="-2531"/>
              </a:stretch>
            </a:blipFill>
          </p:spPr>
        </p:sp>
      </p:grpSp>
      <p:grpSp>
        <p:nvGrpSpPr>
          <p:cNvPr id="8" name="Group 8"/>
          <p:cNvGrpSpPr/>
          <p:nvPr/>
        </p:nvGrpSpPr>
        <p:grpSpPr>
          <a:xfrm>
            <a:off x="1028700" y="9258300"/>
            <a:ext cx="6112880" cy="709858"/>
            <a:chOff x="0" y="0"/>
            <a:chExt cx="8150507" cy="946478"/>
          </a:xfrm>
        </p:grpSpPr>
        <p:sp>
          <p:nvSpPr>
            <p:cNvPr id="9" name="Freeform 9"/>
            <p:cNvSpPr/>
            <p:nvPr/>
          </p:nvSpPr>
          <p:spPr>
            <a:xfrm>
              <a:off x="0" y="0"/>
              <a:ext cx="8150479" cy="946531"/>
            </a:xfrm>
            <a:custGeom>
              <a:avLst/>
              <a:gdLst/>
              <a:ahLst/>
              <a:cxnLst/>
              <a:rect l="l" t="t" r="r" b="b"/>
              <a:pathLst>
                <a:path w="8150479" h="946531">
                  <a:moveTo>
                    <a:pt x="0" y="0"/>
                  </a:moveTo>
                  <a:lnTo>
                    <a:pt x="8150479" y="0"/>
                  </a:lnTo>
                  <a:lnTo>
                    <a:pt x="8150479" y="946531"/>
                  </a:lnTo>
                  <a:lnTo>
                    <a:pt x="0" y="946531"/>
                  </a:lnTo>
                  <a:lnTo>
                    <a:pt x="0" y="0"/>
                  </a:lnTo>
                  <a:close/>
                </a:path>
              </a:pathLst>
            </a:custGeom>
            <a:blipFill>
              <a:blip r:embed="rId6">
                <a:alphaModFix amt="68000"/>
              </a:blip>
              <a:stretch>
                <a:fillRect l="-41729" r="-41729" b="5"/>
              </a:stretch>
            </a:blipFill>
          </p:spPr>
        </p:sp>
      </p:grpSp>
      <p:sp>
        <p:nvSpPr>
          <p:cNvPr id="10" name="AutoShape 10"/>
          <p:cNvSpPr/>
          <p:nvPr/>
        </p:nvSpPr>
        <p:spPr>
          <a:xfrm rot="19466">
            <a:off x="1023897" y="1556284"/>
            <a:ext cx="5046296" cy="0"/>
          </a:xfrm>
          <a:prstGeom prst="line">
            <a:avLst/>
          </a:prstGeom>
          <a:ln w="19050" cap="rnd">
            <a:solidFill>
              <a:srgbClr val="FFFFFF"/>
            </a:solidFill>
            <a:prstDash val="solid"/>
            <a:headEnd type="oval" w="lg" len="lg"/>
            <a:tailEnd type="oval" w="lg" len="lg"/>
          </a:ln>
        </p:spPr>
      </p:sp>
      <p:sp>
        <p:nvSpPr>
          <p:cNvPr id="11" name="TextBox 11"/>
          <p:cNvSpPr txBox="1"/>
          <p:nvPr/>
        </p:nvSpPr>
        <p:spPr>
          <a:xfrm>
            <a:off x="8770410" y="1954433"/>
            <a:ext cx="9182539" cy="5823810"/>
          </a:xfrm>
          <a:prstGeom prst="rect">
            <a:avLst/>
          </a:prstGeom>
        </p:spPr>
        <p:txBody>
          <a:bodyPr lIns="0" tIns="0" rIns="0" bIns="0" rtlCol="0" anchor="t">
            <a:spAutoFit/>
          </a:bodyPr>
          <a:lstStyle/>
          <a:p>
            <a:pPr algn="just">
              <a:lnSpc>
                <a:spcPts val="4199"/>
              </a:lnSpc>
            </a:pPr>
            <a:r>
              <a:rPr lang="en-US" sz="2499">
                <a:solidFill>
                  <a:srgbClr val="311581"/>
                </a:solidFill>
                <a:latin typeface="Public Sans"/>
                <a:ea typeface="Public Sans"/>
                <a:cs typeface="Public Sans"/>
                <a:sym typeface="Public Sans"/>
              </a:rPr>
              <a:t>En las transmisiones de Twitch, los streamers reciben una gran cantidad de mensajes en el chat. Sin embargo, no siempre es posible leerlos todos en tiempo real, lo que genera una pérdida de interacción con los espectadores. Esta dificultad afecta la dinámica del streaming y reduce la experiencia de quienes participan en la comunidad.</a:t>
            </a:r>
          </a:p>
          <a:p>
            <a:pPr algn="just">
              <a:lnSpc>
                <a:spcPts val="4199"/>
              </a:lnSpc>
            </a:pPr>
            <a:endParaRPr lang="en-US" sz="2499">
              <a:solidFill>
                <a:srgbClr val="311581"/>
              </a:solidFill>
              <a:latin typeface="Public Sans"/>
              <a:ea typeface="Public Sans"/>
              <a:cs typeface="Public Sans"/>
              <a:sym typeface="Public Sans"/>
            </a:endParaRPr>
          </a:p>
          <a:p>
            <a:pPr algn="just">
              <a:lnSpc>
                <a:spcPts val="4199"/>
              </a:lnSpc>
            </a:pPr>
            <a:r>
              <a:rPr lang="en-US" sz="2499">
                <a:solidFill>
                  <a:srgbClr val="311581"/>
                </a:solidFill>
                <a:latin typeface="Public Sans"/>
                <a:ea typeface="Public Sans"/>
                <a:cs typeface="Public Sans"/>
                <a:sym typeface="Public Sans"/>
              </a:rPr>
              <a:t>Puntos relevantes:</a:t>
            </a:r>
          </a:p>
          <a:p>
            <a:pPr marL="571503" lvl="2" indent="-190501" algn="l">
              <a:lnSpc>
                <a:spcPts val="4199"/>
              </a:lnSpc>
              <a:buFont typeface="Arial"/>
              <a:buChar char="⚬"/>
            </a:pPr>
            <a:r>
              <a:rPr lang="en-US" sz="2499">
                <a:solidFill>
                  <a:srgbClr val="311581"/>
                </a:solidFill>
                <a:latin typeface="Public Sans"/>
                <a:ea typeface="Public Sans"/>
                <a:cs typeface="Public Sans"/>
                <a:sym typeface="Public Sans"/>
              </a:rPr>
              <a:t>Exceso de mensajes en el chat.</a:t>
            </a:r>
          </a:p>
          <a:p>
            <a:pPr marL="571503" lvl="2" indent="-190501" algn="l">
              <a:lnSpc>
                <a:spcPts val="4199"/>
              </a:lnSpc>
              <a:buFont typeface="Arial"/>
              <a:buChar char="⚬"/>
            </a:pPr>
            <a:r>
              <a:rPr lang="en-US" sz="2499">
                <a:solidFill>
                  <a:srgbClr val="311581"/>
                </a:solidFill>
                <a:latin typeface="Public Sans"/>
                <a:ea typeface="Public Sans"/>
                <a:cs typeface="Public Sans"/>
                <a:sym typeface="Public Sans"/>
              </a:rPr>
              <a:t>Dificultad para leer en tiempo real.</a:t>
            </a:r>
          </a:p>
          <a:p>
            <a:pPr marL="571503" lvl="2" indent="-190501" algn="l">
              <a:lnSpc>
                <a:spcPts val="4199"/>
              </a:lnSpc>
              <a:buFont typeface="Arial"/>
              <a:buChar char="⚬"/>
            </a:pPr>
            <a:r>
              <a:rPr lang="en-US" sz="2499">
                <a:solidFill>
                  <a:srgbClr val="311581"/>
                </a:solidFill>
                <a:latin typeface="Public Sans"/>
                <a:ea typeface="Public Sans"/>
                <a:cs typeface="Public Sans"/>
                <a:sym typeface="Public Sans"/>
              </a:rPr>
              <a:t>Pérdida de interacción con la audiencia.</a:t>
            </a:r>
          </a:p>
          <a:p>
            <a:pPr marL="571503" lvl="2" indent="-190501" algn="l">
              <a:lnSpc>
                <a:spcPts val="4199"/>
              </a:lnSpc>
              <a:buFont typeface="Arial"/>
              <a:buChar char="⚬"/>
            </a:pPr>
            <a:r>
              <a:rPr lang="en-US" sz="2499">
                <a:solidFill>
                  <a:srgbClr val="311581"/>
                </a:solidFill>
                <a:latin typeface="Public Sans"/>
                <a:ea typeface="Public Sans"/>
                <a:cs typeface="Public Sans"/>
                <a:sym typeface="Public Sans"/>
              </a:rPr>
              <a:t>Menor calidad en la experiencia del espectador.</a:t>
            </a:r>
          </a:p>
          <a:p>
            <a:pPr marL="571503" lvl="2" indent="-190501" algn="l">
              <a:lnSpc>
                <a:spcPts val="4199"/>
              </a:lnSpc>
            </a:pPr>
            <a:endParaRPr lang="en-US" sz="2499">
              <a:solidFill>
                <a:srgbClr val="311581"/>
              </a:solidFill>
              <a:latin typeface="Public Sans"/>
              <a:ea typeface="Public Sans"/>
              <a:cs typeface="Public Sans"/>
              <a:sym typeface="Public Sans"/>
            </a:endParaRPr>
          </a:p>
        </p:txBody>
      </p:sp>
      <p:sp>
        <p:nvSpPr>
          <p:cNvPr id="12" name="TextBox 12"/>
          <p:cNvSpPr txBox="1"/>
          <p:nvPr/>
        </p:nvSpPr>
        <p:spPr>
          <a:xfrm>
            <a:off x="1028700" y="2087783"/>
            <a:ext cx="7387590" cy="2218050"/>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Problemática - Contexto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568840" y="1009650"/>
            <a:ext cx="4768218" cy="941723"/>
            <a:chOff x="0" y="0"/>
            <a:chExt cx="6357624" cy="1255631"/>
          </a:xfrm>
        </p:grpSpPr>
        <p:sp>
          <p:nvSpPr>
            <p:cNvPr id="3" name="Freeform 3"/>
            <p:cNvSpPr/>
            <p:nvPr/>
          </p:nvSpPr>
          <p:spPr>
            <a:xfrm flipH="1">
              <a:off x="0" y="0"/>
              <a:ext cx="6357620" cy="1255649"/>
            </a:xfrm>
            <a:custGeom>
              <a:avLst/>
              <a:gdLst/>
              <a:ahLst/>
              <a:cxnLst/>
              <a:rect l="l" t="t" r="r" b="b"/>
              <a:pathLst>
                <a:path w="6357620" h="1255649">
                  <a:moveTo>
                    <a:pt x="6357620" y="0"/>
                  </a:moveTo>
                  <a:lnTo>
                    <a:pt x="0" y="0"/>
                  </a:lnTo>
                  <a:lnTo>
                    <a:pt x="0" y="1255649"/>
                  </a:lnTo>
                  <a:lnTo>
                    <a:pt x="6357620" y="1255649"/>
                  </a:lnTo>
                  <a:lnTo>
                    <a:pt x="6357620" y="0"/>
                  </a:lnTo>
                  <a:close/>
                </a:path>
              </a:pathLst>
            </a:custGeom>
            <a:blipFill>
              <a:blip r:embed="rId3"/>
              <a:stretch>
                <a:fillRect l="-132" r="-132" b="1"/>
              </a:stretch>
            </a:blipFill>
          </p:spPr>
        </p:sp>
      </p:grpSp>
      <p:grpSp>
        <p:nvGrpSpPr>
          <p:cNvPr id="4" name="Group 4"/>
          <p:cNvGrpSpPr/>
          <p:nvPr/>
        </p:nvGrpSpPr>
        <p:grpSpPr>
          <a:xfrm>
            <a:off x="0" y="0"/>
            <a:ext cx="8303135" cy="10289324"/>
            <a:chOff x="0" y="0"/>
            <a:chExt cx="11070847" cy="13719099"/>
          </a:xfrm>
        </p:grpSpPr>
        <p:sp>
          <p:nvSpPr>
            <p:cNvPr id="5" name="Freeform 5"/>
            <p:cNvSpPr/>
            <p:nvPr/>
          </p:nvSpPr>
          <p:spPr>
            <a:xfrm>
              <a:off x="0" y="0"/>
              <a:ext cx="11070844" cy="13719048"/>
            </a:xfrm>
            <a:custGeom>
              <a:avLst/>
              <a:gdLst/>
              <a:ahLst/>
              <a:cxnLst/>
              <a:rect l="l" t="t" r="r" b="b"/>
              <a:pathLst>
                <a:path w="11070844" h="13719048">
                  <a:moveTo>
                    <a:pt x="0" y="0"/>
                  </a:moveTo>
                  <a:lnTo>
                    <a:pt x="11070844" y="0"/>
                  </a:lnTo>
                  <a:lnTo>
                    <a:pt x="11070844" y="13719048"/>
                  </a:lnTo>
                  <a:lnTo>
                    <a:pt x="0" y="13719048"/>
                  </a:lnTo>
                  <a:lnTo>
                    <a:pt x="0" y="0"/>
                  </a:lnTo>
                  <a:close/>
                </a:path>
              </a:pathLst>
            </a:custGeom>
            <a:blipFill>
              <a:blip r:embed="rId4"/>
              <a:stretch>
                <a:fillRect l="-42977" r="-42977"/>
              </a:stretch>
            </a:blipFill>
          </p:spPr>
        </p:sp>
      </p:grpSp>
      <p:grpSp>
        <p:nvGrpSpPr>
          <p:cNvPr id="6" name="Group 6"/>
          <p:cNvGrpSpPr/>
          <p:nvPr/>
        </p:nvGrpSpPr>
        <p:grpSpPr>
          <a:xfrm>
            <a:off x="1028700" y="5678421"/>
            <a:ext cx="6112880" cy="3579879"/>
            <a:chOff x="0" y="0"/>
            <a:chExt cx="8150507" cy="4773171"/>
          </a:xfrm>
        </p:grpSpPr>
        <p:sp>
          <p:nvSpPr>
            <p:cNvPr id="7" name="Freeform 7"/>
            <p:cNvSpPr/>
            <p:nvPr/>
          </p:nvSpPr>
          <p:spPr>
            <a:xfrm>
              <a:off x="0" y="0"/>
              <a:ext cx="8150479" cy="4773168"/>
            </a:xfrm>
            <a:custGeom>
              <a:avLst/>
              <a:gdLst/>
              <a:ahLst/>
              <a:cxnLst/>
              <a:rect l="l" t="t" r="r" b="b"/>
              <a:pathLst>
                <a:path w="8150479" h="4773168">
                  <a:moveTo>
                    <a:pt x="395986" y="0"/>
                  </a:moveTo>
                  <a:lnTo>
                    <a:pt x="7754493" y="0"/>
                  </a:lnTo>
                  <a:cubicBezTo>
                    <a:pt x="7973187" y="0"/>
                    <a:pt x="8150479" y="177292"/>
                    <a:pt x="8150479" y="395986"/>
                  </a:cubicBezTo>
                  <a:lnTo>
                    <a:pt x="8150479" y="4377182"/>
                  </a:lnTo>
                  <a:cubicBezTo>
                    <a:pt x="8150479" y="4482211"/>
                    <a:pt x="8108824" y="4582922"/>
                    <a:pt x="8034528" y="4657217"/>
                  </a:cubicBezTo>
                  <a:cubicBezTo>
                    <a:pt x="7960233" y="4731512"/>
                    <a:pt x="7859523" y="4773168"/>
                    <a:pt x="7754493" y="4773168"/>
                  </a:cubicBezTo>
                  <a:lnTo>
                    <a:pt x="395986" y="4773168"/>
                  </a:lnTo>
                  <a:cubicBezTo>
                    <a:pt x="290957" y="4773168"/>
                    <a:pt x="190246" y="4731512"/>
                    <a:pt x="115951" y="4657217"/>
                  </a:cubicBezTo>
                  <a:cubicBezTo>
                    <a:pt x="41656" y="4582922"/>
                    <a:pt x="0" y="4482211"/>
                    <a:pt x="0" y="4377182"/>
                  </a:cubicBezTo>
                  <a:lnTo>
                    <a:pt x="0" y="395986"/>
                  </a:lnTo>
                  <a:cubicBezTo>
                    <a:pt x="0" y="290957"/>
                    <a:pt x="41656" y="190246"/>
                    <a:pt x="115951" y="115951"/>
                  </a:cubicBezTo>
                  <a:cubicBezTo>
                    <a:pt x="190246" y="41656"/>
                    <a:pt x="290957" y="0"/>
                    <a:pt x="395986" y="0"/>
                  </a:cubicBezTo>
                  <a:close/>
                </a:path>
              </a:pathLst>
            </a:custGeom>
            <a:blipFill>
              <a:blip r:embed="rId5"/>
              <a:stretch>
                <a:fillRect l="-2720" r="-2721"/>
              </a:stretch>
            </a:blipFill>
          </p:spPr>
        </p:sp>
      </p:grpSp>
      <p:grpSp>
        <p:nvGrpSpPr>
          <p:cNvPr id="8" name="Group 8"/>
          <p:cNvGrpSpPr/>
          <p:nvPr/>
        </p:nvGrpSpPr>
        <p:grpSpPr>
          <a:xfrm>
            <a:off x="1028700" y="9258300"/>
            <a:ext cx="6112880" cy="709858"/>
            <a:chOff x="0" y="0"/>
            <a:chExt cx="8150507" cy="946478"/>
          </a:xfrm>
        </p:grpSpPr>
        <p:sp>
          <p:nvSpPr>
            <p:cNvPr id="9" name="Freeform 9"/>
            <p:cNvSpPr/>
            <p:nvPr/>
          </p:nvSpPr>
          <p:spPr>
            <a:xfrm>
              <a:off x="0" y="0"/>
              <a:ext cx="8150479" cy="946531"/>
            </a:xfrm>
            <a:custGeom>
              <a:avLst/>
              <a:gdLst/>
              <a:ahLst/>
              <a:cxnLst/>
              <a:rect l="l" t="t" r="r" b="b"/>
              <a:pathLst>
                <a:path w="8150479" h="946531">
                  <a:moveTo>
                    <a:pt x="0" y="0"/>
                  </a:moveTo>
                  <a:lnTo>
                    <a:pt x="8150479" y="0"/>
                  </a:lnTo>
                  <a:lnTo>
                    <a:pt x="8150479" y="946531"/>
                  </a:lnTo>
                  <a:lnTo>
                    <a:pt x="0" y="946531"/>
                  </a:lnTo>
                  <a:lnTo>
                    <a:pt x="0" y="0"/>
                  </a:lnTo>
                  <a:close/>
                </a:path>
              </a:pathLst>
            </a:custGeom>
            <a:blipFill>
              <a:blip r:embed="rId6">
                <a:alphaModFix amt="68000"/>
              </a:blip>
              <a:stretch>
                <a:fillRect l="-41729" r="-41729" b="5"/>
              </a:stretch>
            </a:blipFill>
          </p:spPr>
        </p:sp>
      </p:grpSp>
      <p:sp>
        <p:nvSpPr>
          <p:cNvPr id="10" name="AutoShape 10"/>
          <p:cNvSpPr/>
          <p:nvPr/>
        </p:nvSpPr>
        <p:spPr>
          <a:xfrm rot="19466">
            <a:off x="1023897" y="1556284"/>
            <a:ext cx="5046296" cy="0"/>
          </a:xfrm>
          <a:prstGeom prst="line">
            <a:avLst/>
          </a:prstGeom>
          <a:ln w="19050" cap="rnd">
            <a:solidFill>
              <a:srgbClr val="FFFFFF"/>
            </a:solidFill>
            <a:prstDash val="solid"/>
            <a:headEnd type="oval" w="lg" len="lg"/>
            <a:tailEnd type="oval" w="lg" len="lg"/>
          </a:ln>
        </p:spPr>
      </p:sp>
      <p:sp>
        <p:nvSpPr>
          <p:cNvPr id="11" name="TextBox 11"/>
          <p:cNvSpPr txBox="1"/>
          <p:nvPr/>
        </p:nvSpPr>
        <p:spPr>
          <a:xfrm>
            <a:off x="8523001" y="2137507"/>
            <a:ext cx="9534000" cy="6973425"/>
          </a:xfrm>
          <a:prstGeom prst="rect">
            <a:avLst/>
          </a:prstGeom>
        </p:spPr>
        <p:txBody>
          <a:bodyPr lIns="0" tIns="0" rIns="0" bIns="0" rtlCol="0" anchor="t">
            <a:spAutoFit/>
          </a:bodyPr>
          <a:lstStyle/>
          <a:p>
            <a:pPr algn="just">
              <a:lnSpc>
                <a:spcPts val="4199"/>
              </a:lnSpc>
            </a:pPr>
            <a:r>
              <a:rPr lang="en-US" sz="2499">
                <a:solidFill>
                  <a:srgbClr val="311581"/>
                </a:solidFill>
                <a:latin typeface="Public Sans"/>
                <a:ea typeface="Public Sans"/>
                <a:cs typeface="Public Sans"/>
                <a:sym typeface="Public Sans"/>
              </a:rPr>
              <a:t>Ante esta situación, surge la necesidad de contar con una herramienta que convierte los mensajes del chat en voz. De esta forma, los streamers pueden escuchar en lugar de leer, manteniendo la conexión con su audiencia, reaccionando a donaciones y comentarios importantes, y generando un espacio más accesible e inclusivo para todos.</a:t>
            </a:r>
          </a:p>
          <a:p>
            <a:pPr algn="just">
              <a:lnSpc>
                <a:spcPts val="4199"/>
              </a:lnSpc>
            </a:pPr>
            <a:endParaRPr lang="en-US" sz="2499">
              <a:solidFill>
                <a:srgbClr val="311581"/>
              </a:solidFill>
              <a:latin typeface="Public Sans"/>
              <a:ea typeface="Public Sans"/>
              <a:cs typeface="Public Sans"/>
              <a:sym typeface="Public Sans"/>
            </a:endParaRPr>
          </a:p>
          <a:p>
            <a:pPr algn="just">
              <a:lnSpc>
                <a:spcPts val="4199"/>
              </a:lnSpc>
            </a:pPr>
            <a:r>
              <a:rPr lang="en-US" sz="2499">
                <a:solidFill>
                  <a:srgbClr val="311581"/>
                </a:solidFill>
                <a:latin typeface="Public Sans"/>
                <a:ea typeface="Public Sans"/>
                <a:cs typeface="Public Sans"/>
                <a:sym typeface="Public Sans"/>
              </a:rPr>
              <a:t>Puntos relevantes:</a:t>
            </a:r>
          </a:p>
          <a:p>
            <a:pPr marL="571503" lvl="2" indent="-190501" algn="just">
              <a:lnSpc>
                <a:spcPts val="4199"/>
              </a:lnSpc>
              <a:buFont typeface="Arial"/>
              <a:buChar char="⚬"/>
            </a:pPr>
            <a:r>
              <a:rPr lang="en-US" sz="2499">
                <a:solidFill>
                  <a:srgbClr val="311581"/>
                </a:solidFill>
                <a:latin typeface="Public Sans"/>
                <a:ea typeface="Public Sans"/>
                <a:cs typeface="Public Sans"/>
                <a:sym typeface="Public Sans"/>
              </a:rPr>
              <a:t>Asistente que convierte texto en voz.</a:t>
            </a:r>
          </a:p>
          <a:p>
            <a:pPr marL="571503" lvl="2" indent="-190501" algn="just">
              <a:lnSpc>
                <a:spcPts val="4199"/>
              </a:lnSpc>
              <a:buFont typeface="Arial"/>
              <a:buChar char="⚬"/>
            </a:pPr>
            <a:r>
              <a:rPr lang="en-US" sz="2499">
                <a:solidFill>
                  <a:srgbClr val="311581"/>
                </a:solidFill>
                <a:latin typeface="Public Sans"/>
                <a:ea typeface="Public Sans"/>
                <a:cs typeface="Public Sans"/>
                <a:sym typeface="Public Sans"/>
              </a:rPr>
              <a:t>Permite atender mensajes sin leer la pantalla.</a:t>
            </a:r>
          </a:p>
          <a:p>
            <a:pPr marL="571503" lvl="2" indent="-190501" algn="just">
              <a:lnSpc>
                <a:spcPts val="4199"/>
              </a:lnSpc>
              <a:buFont typeface="Arial"/>
              <a:buChar char="⚬"/>
            </a:pPr>
            <a:r>
              <a:rPr lang="en-US" sz="2499">
                <a:solidFill>
                  <a:srgbClr val="311581"/>
                </a:solidFill>
                <a:latin typeface="Public Sans"/>
                <a:ea typeface="Public Sans"/>
                <a:cs typeface="Public Sans"/>
                <a:sym typeface="Public Sans"/>
              </a:rPr>
              <a:t>Favorece reacciones inmediatas a donaciones y comentarios.</a:t>
            </a:r>
          </a:p>
          <a:p>
            <a:pPr marL="571503" lvl="2" indent="-190501" algn="just">
              <a:lnSpc>
                <a:spcPts val="4199"/>
              </a:lnSpc>
              <a:buFont typeface="Arial"/>
              <a:buChar char="⚬"/>
            </a:pPr>
            <a:r>
              <a:rPr lang="en-US" sz="2499">
                <a:solidFill>
                  <a:srgbClr val="311581"/>
                </a:solidFill>
                <a:latin typeface="Public Sans"/>
                <a:ea typeface="Public Sans"/>
                <a:cs typeface="Public Sans"/>
                <a:sym typeface="Public Sans"/>
              </a:rPr>
              <a:t>Mejora la accesibilidad e inclusión en el streaming.</a:t>
            </a:r>
          </a:p>
          <a:p>
            <a:pPr marL="571503" lvl="2" indent="-190501" algn="just">
              <a:lnSpc>
                <a:spcPts val="4199"/>
              </a:lnSpc>
            </a:pPr>
            <a:endParaRPr lang="en-US" sz="2499">
              <a:solidFill>
                <a:srgbClr val="311581"/>
              </a:solidFill>
              <a:latin typeface="Public Sans"/>
              <a:ea typeface="Public Sans"/>
              <a:cs typeface="Public Sans"/>
              <a:sym typeface="Public Sans"/>
            </a:endParaRPr>
          </a:p>
        </p:txBody>
      </p:sp>
      <p:sp>
        <p:nvSpPr>
          <p:cNvPr id="12" name="TextBox 12"/>
          <p:cNvSpPr txBox="1"/>
          <p:nvPr/>
        </p:nvSpPr>
        <p:spPr>
          <a:xfrm>
            <a:off x="705181" y="1996632"/>
            <a:ext cx="7387590" cy="2218050"/>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Problemática -Necesidad</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062565" cy="10287000"/>
            <a:chOff x="0" y="0"/>
            <a:chExt cx="8083420" cy="13716000"/>
          </a:xfrm>
        </p:grpSpPr>
        <p:sp>
          <p:nvSpPr>
            <p:cNvPr id="3" name="Freeform 3"/>
            <p:cNvSpPr/>
            <p:nvPr/>
          </p:nvSpPr>
          <p:spPr>
            <a:xfrm>
              <a:off x="0" y="0"/>
              <a:ext cx="8083423" cy="13716000"/>
            </a:xfrm>
            <a:custGeom>
              <a:avLst/>
              <a:gdLst/>
              <a:ahLst/>
              <a:cxnLst/>
              <a:rect l="l" t="t" r="r" b="b"/>
              <a:pathLst>
                <a:path w="8083423" h="13716000">
                  <a:moveTo>
                    <a:pt x="0" y="0"/>
                  </a:moveTo>
                  <a:lnTo>
                    <a:pt x="8083423" y="0"/>
                  </a:lnTo>
                  <a:lnTo>
                    <a:pt x="8083423" y="13716000"/>
                  </a:lnTo>
                  <a:lnTo>
                    <a:pt x="0" y="13716000"/>
                  </a:lnTo>
                  <a:lnTo>
                    <a:pt x="0" y="0"/>
                  </a:lnTo>
                  <a:close/>
                </a:path>
              </a:pathLst>
            </a:custGeom>
            <a:blipFill>
              <a:blip r:embed="rId3"/>
              <a:stretch>
                <a:fillRect l="-77311" r="-77311"/>
              </a:stretch>
            </a:blipFill>
          </p:spPr>
        </p:sp>
      </p:grpSp>
      <p:grpSp>
        <p:nvGrpSpPr>
          <p:cNvPr id="4" name="Group 4"/>
          <p:cNvGrpSpPr/>
          <p:nvPr/>
        </p:nvGrpSpPr>
        <p:grpSpPr>
          <a:xfrm rot="2700000">
            <a:off x="-1003068" y="5792767"/>
            <a:ext cx="9571075" cy="8163329"/>
            <a:chOff x="0" y="0"/>
            <a:chExt cx="12761433" cy="10884439"/>
          </a:xfrm>
        </p:grpSpPr>
        <p:sp>
          <p:nvSpPr>
            <p:cNvPr id="5" name="Freeform 5"/>
            <p:cNvSpPr/>
            <p:nvPr/>
          </p:nvSpPr>
          <p:spPr>
            <a:xfrm>
              <a:off x="0" y="0"/>
              <a:ext cx="12761468" cy="10884408"/>
            </a:xfrm>
            <a:custGeom>
              <a:avLst/>
              <a:gdLst/>
              <a:ahLst/>
              <a:cxnLst/>
              <a:rect l="l" t="t" r="r" b="b"/>
              <a:pathLst>
                <a:path w="12761468" h="10884408">
                  <a:moveTo>
                    <a:pt x="0" y="0"/>
                  </a:moveTo>
                  <a:lnTo>
                    <a:pt x="12761468" y="0"/>
                  </a:lnTo>
                  <a:lnTo>
                    <a:pt x="12761468" y="10884408"/>
                  </a:lnTo>
                  <a:lnTo>
                    <a:pt x="0" y="10884408"/>
                  </a:lnTo>
                  <a:lnTo>
                    <a:pt x="0" y="0"/>
                  </a:lnTo>
                  <a:close/>
                </a:path>
              </a:pathLst>
            </a:custGeom>
            <a:blipFill>
              <a:blip r:embed="rId4">
                <a:alphaModFix amt="70000"/>
              </a:blip>
              <a:stretch>
                <a:fillRect l="-2" r="-2"/>
              </a:stretch>
            </a:blipFill>
          </p:spPr>
        </p:sp>
      </p:grpSp>
      <p:sp>
        <p:nvSpPr>
          <p:cNvPr id="6" name="AutoShape 6"/>
          <p:cNvSpPr/>
          <p:nvPr/>
        </p:nvSpPr>
        <p:spPr>
          <a:xfrm rot="19466">
            <a:off x="7598910" y="1546759"/>
            <a:ext cx="5046296" cy="0"/>
          </a:xfrm>
          <a:prstGeom prst="line">
            <a:avLst/>
          </a:prstGeom>
          <a:ln w="19050" cap="rnd">
            <a:solidFill>
              <a:srgbClr val="311581"/>
            </a:solidFill>
            <a:prstDash val="solid"/>
            <a:headEnd type="oval" w="lg" len="lg"/>
            <a:tailEnd type="oval" w="lg" len="lg"/>
          </a:ln>
        </p:spPr>
      </p:sp>
      <p:grpSp>
        <p:nvGrpSpPr>
          <p:cNvPr id="7" name="Group 7"/>
          <p:cNvGrpSpPr/>
          <p:nvPr/>
        </p:nvGrpSpPr>
        <p:grpSpPr>
          <a:xfrm>
            <a:off x="1028700" y="1655978"/>
            <a:ext cx="6016509" cy="7583272"/>
            <a:chOff x="0" y="0"/>
            <a:chExt cx="8022012" cy="10111029"/>
          </a:xfrm>
        </p:grpSpPr>
        <p:sp>
          <p:nvSpPr>
            <p:cNvPr id="8" name="Freeform 8"/>
            <p:cNvSpPr/>
            <p:nvPr/>
          </p:nvSpPr>
          <p:spPr>
            <a:xfrm>
              <a:off x="0" y="0"/>
              <a:ext cx="8021955" cy="10110978"/>
            </a:xfrm>
            <a:custGeom>
              <a:avLst/>
              <a:gdLst/>
              <a:ahLst/>
              <a:cxnLst/>
              <a:rect l="l" t="t" r="r" b="b"/>
              <a:pathLst>
                <a:path w="8021955" h="10110978">
                  <a:moveTo>
                    <a:pt x="0" y="0"/>
                  </a:moveTo>
                  <a:lnTo>
                    <a:pt x="8021955" y="0"/>
                  </a:lnTo>
                  <a:lnTo>
                    <a:pt x="8021955" y="10110978"/>
                  </a:lnTo>
                  <a:lnTo>
                    <a:pt x="0" y="10110978"/>
                  </a:lnTo>
                  <a:lnTo>
                    <a:pt x="0" y="0"/>
                  </a:lnTo>
                  <a:close/>
                </a:path>
              </a:pathLst>
            </a:custGeom>
            <a:blipFill>
              <a:blip r:embed="rId5">
                <a:alphaModFix amt="70000"/>
              </a:blip>
              <a:stretch>
                <a:fillRect l="-41420" r="-41420"/>
              </a:stretch>
            </a:blipFill>
          </p:spPr>
        </p:sp>
      </p:grpSp>
      <p:sp>
        <p:nvSpPr>
          <p:cNvPr id="9" name="Freeform 9"/>
          <p:cNvSpPr/>
          <p:nvPr/>
        </p:nvSpPr>
        <p:spPr>
          <a:xfrm>
            <a:off x="1028700" y="1638863"/>
            <a:ext cx="5464368" cy="6973109"/>
          </a:xfrm>
          <a:custGeom>
            <a:avLst/>
            <a:gdLst/>
            <a:ahLst/>
            <a:cxnLst/>
            <a:rect l="l" t="t" r="r" b="b"/>
            <a:pathLst>
              <a:path w="5464368" h="6973109">
                <a:moveTo>
                  <a:pt x="0" y="0"/>
                </a:moveTo>
                <a:lnTo>
                  <a:pt x="5464368" y="0"/>
                </a:lnTo>
                <a:lnTo>
                  <a:pt x="5464368" y="6973109"/>
                </a:lnTo>
                <a:lnTo>
                  <a:pt x="0" y="6973109"/>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10" name="Group 10"/>
          <p:cNvGrpSpPr/>
          <p:nvPr/>
        </p:nvGrpSpPr>
        <p:grpSpPr>
          <a:xfrm>
            <a:off x="1459203" y="1998480"/>
            <a:ext cx="4603363" cy="2918294"/>
            <a:chOff x="0" y="0"/>
            <a:chExt cx="6137817" cy="3891059"/>
          </a:xfrm>
        </p:grpSpPr>
        <p:sp>
          <p:nvSpPr>
            <p:cNvPr id="11" name="Freeform 11"/>
            <p:cNvSpPr/>
            <p:nvPr/>
          </p:nvSpPr>
          <p:spPr>
            <a:xfrm>
              <a:off x="0" y="0"/>
              <a:ext cx="6137910" cy="3891153"/>
            </a:xfrm>
            <a:custGeom>
              <a:avLst/>
              <a:gdLst/>
              <a:ahLst/>
              <a:cxnLst/>
              <a:rect l="l" t="t" r="r" b="b"/>
              <a:pathLst>
                <a:path w="6137910" h="3891153">
                  <a:moveTo>
                    <a:pt x="394335" y="0"/>
                  </a:moveTo>
                  <a:lnTo>
                    <a:pt x="5743448" y="0"/>
                  </a:lnTo>
                  <a:cubicBezTo>
                    <a:pt x="5848096" y="0"/>
                    <a:pt x="5948299" y="41529"/>
                    <a:pt x="6022340" y="115570"/>
                  </a:cubicBezTo>
                  <a:cubicBezTo>
                    <a:pt x="6096381" y="189611"/>
                    <a:pt x="6137910" y="289814"/>
                    <a:pt x="6137910" y="394462"/>
                  </a:cubicBezTo>
                  <a:lnTo>
                    <a:pt x="6137910" y="3496691"/>
                  </a:lnTo>
                  <a:cubicBezTo>
                    <a:pt x="6137910" y="3601339"/>
                    <a:pt x="6096381" y="3701542"/>
                    <a:pt x="6022340" y="3775583"/>
                  </a:cubicBezTo>
                  <a:cubicBezTo>
                    <a:pt x="5948299" y="3849624"/>
                    <a:pt x="5848096" y="3891153"/>
                    <a:pt x="5743448" y="3891153"/>
                  </a:cubicBezTo>
                  <a:lnTo>
                    <a:pt x="394335" y="3891153"/>
                  </a:lnTo>
                  <a:cubicBezTo>
                    <a:pt x="289687" y="3891153"/>
                    <a:pt x="189484" y="3849624"/>
                    <a:pt x="115443" y="3775583"/>
                  </a:cubicBezTo>
                  <a:cubicBezTo>
                    <a:pt x="41402" y="3701542"/>
                    <a:pt x="0" y="3601212"/>
                    <a:pt x="0" y="3496691"/>
                  </a:cubicBezTo>
                  <a:lnTo>
                    <a:pt x="0" y="394335"/>
                  </a:lnTo>
                  <a:cubicBezTo>
                    <a:pt x="0" y="289814"/>
                    <a:pt x="41529" y="189484"/>
                    <a:pt x="115570" y="115570"/>
                  </a:cubicBezTo>
                  <a:cubicBezTo>
                    <a:pt x="189611" y="41656"/>
                    <a:pt x="289814" y="0"/>
                    <a:pt x="394335" y="0"/>
                  </a:cubicBezTo>
                  <a:close/>
                </a:path>
              </a:pathLst>
            </a:custGeom>
            <a:blipFill>
              <a:blip r:embed="rId8"/>
              <a:stretch>
                <a:fillRect t="-9152" r="1" b="-9150"/>
              </a:stretch>
            </a:blipFill>
          </p:spPr>
        </p:sp>
      </p:grpSp>
      <p:grpSp>
        <p:nvGrpSpPr>
          <p:cNvPr id="12" name="Group 12"/>
          <p:cNvGrpSpPr/>
          <p:nvPr/>
        </p:nvGrpSpPr>
        <p:grpSpPr>
          <a:xfrm>
            <a:off x="1459203" y="5356633"/>
            <a:ext cx="4603363" cy="2931887"/>
            <a:chOff x="0" y="0"/>
            <a:chExt cx="6137817" cy="3909183"/>
          </a:xfrm>
        </p:grpSpPr>
        <p:sp>
          <p:nvSpPr>
            <p:cNvPr id="13" name="Freeform 13"/>
            <p:cNvSpPr/>
            <p:nvPr/>
          </p:nvSpPr>
          <p:spPr>
            <a:xfrm>
              <a:off x="0" y="0"/>
              <a:ext cx="6137910" cy="3909314"/>
            </a:xfrm>
            <a:custGeom>
              <a:avLst/>
              <a:gdLst/>
              <a:ahLst/>
              <a:cxnLst/>
              <a:rect l="l" t="t" r="r" b="b"/>
              <a:pathLst>
                <a:path w="6137910" h="3909314">
                  <a:moveTo>
                    <a:pt x="394335" y="0"/>
                  </a:moveTo>
                  <a:lnTo>
                    <a:pt x="5743448" y="0"/>
                  </a:lnTo>
                  <a:cubicBezTo>
                    <a:pt x="5848096" y="0"/>
                    <a:pt x="5948299" y="41529"/>
                    <a:pt x="6022340" y="115570"/>
                  </a:cubicBezTo>
                  <a:cubicBezTo>
                    <a:pt x="6096381" y="189611"/>
                    <a:pt x="6137910" y="289814"/>
                    <a:pt x="6137910" y="394462"/>
                  </a:cubicBezTo>
                  <a:lnTo>
                    <a:pt x="6137910" y="3514852"/>
                  </a:lnTo>
                  <a:cubicBezTo>
                    <a:pt x="6137910" y="3619500"/>
                    <a:pt x="6096381" y="3719703"/>
                    <a:pt x="6022340" y="3793744"/>
                  </a:cubicBezTo>
                  <a:cubicBezTo>
                    <a:pt x="5948299" y="3867785"/>
                    <a:pt x="5848096" y="3909314"/>
                    <a:pt x="5743448" y="3909314"/>
                  </a:cubicBezTo>
                  <a:lnTo>
                    <a:pt x="394335" y="3909314"/>
                  </a:lnTo>
                  <a:cubicBezTo>
                    <a:pt x="289687" y="3909314"/>
                    <a:pt x="189484" y="3867785"/>
                    <a:pt x="115443" y="3793744"/>
                  </a:cubicBezTo>
                  <a:cubicBezTo>
                    <a:pt x="41402" y="3719703"/>
                    <a:pt x="0" y="3619373"/>
                    <a:pt x="0" y="3514852"/>
                  </a:cubicBezTo>
                  <a:lnTo>
                    <a:pt x="0" y="394335"/>
                  </a:lnTo>
                  <a:cubicBezTo>
                    <a:pt x="0" y="289814"/>
                    <a:pt x="41529" y="189484"/>
                    <a:pt x="115570" y="115570"/>
                  </a:cubicBezTo>
                  <a:cubicBezTo>
                    <a:pt x="189611" y="41656"/>
                    <a:pt x="289814" y="0"/>
                    <a:pt x="394335" y="0"/>
                  </a:cubicBezTo>
                  <a:close/>
                </a:path>
              </a:pathLst>
            </a:custGeom>
            <a:blipFill>
              <a:blip r:embed="rId9"/>
              <a:stretch>
                <a:fillRect t="-28504" r="1" b="-28500"/>
              </a:stretch>
            </a:blipFill>
          </p:spPr>
        </p:sp>
      </p:grpSp>
      <p:sp>
        <p:nvSpPr>
          <p:cNvPr id="14" name="TextBox 14"/>
          <p:cNvSpPr txBox="1"/>
          <p:nvPr/>
        </p:nvSpPr>
        <p:spPr>
          <a:xfrm>
            <a:off x="6971342" y="3576048"/>
            <a:ext cx="10444216" cy="2756297"/>
          </a:xfrm>
          <a:prstGeom prst="rect">
            <a:avLst/>
          </a:prstGeom>
        </p:spPr>
        <p:txBody>
          <a:bodyPr lIns="0" tIns="0" rIns="0" bIns="0" rtlCol="0" anchor="t">
            <a:spAutoFit/>
          </a:bodyPr>
          <a:lstStyle/>
          <a:p>
            <a:pPr algn="just">
              <a:lnSpc>
                <a:spcPts val="4199"/>
              </a:lnSpc>
            </a:pPr>
            <a:r>
              <a:rPr lang="en-US" sz="2499">
                <a:solidFill>
                  <a:srgbClr val="311581"/>
                </a:solidFill>
                <a:latin typeface="Public Sans"/>
                <a:ea typeface="Public Sans"/>
                <a:cs typeface="Public Sans"/>
                <a:sym typeface="Public Sans"/>
              </a:rPr>
              <a:t>Se propone el desarrollo de un Asistente Virtual para Twitch (APT) que integre voz, inteligencia artificial y control desde una aplicación de escritorio. Este asistente permitirá capturar mensajes del chat, generar respuestas, convertirlas en voz y reproducirlas mediante un avatar virtual, ofreciendo al streamer una experiencia de interacción mucho más fluida e inmersiva.</a:t>
            </a:r>
          </a:p>
        </p:txBody>
      </p:sp>
      <p:sp>
        <p:nvSpPr>
          <p:cNvPr id="15" name="TextBox 15"/>
          <p:cNvSpPr txBox="1"/>
          <p:nvPr/>
        </p:nvSpPr>
        <p:spPr>
          <a:xfrm>
            <a:off x="6971341" y="2227342"/>
            <a:ext cx="11466287" cy="1368647"/>
          </a:xfrm>
          <a:prstGeom prst="rect">
            <a:avLst/>
          </a:prstGeom>
        </p:spPr>
        <p:txBody>
          <a:bodyPr lIns="0" tIns="0" rIns="0" bIns="0" rtlCol="0" anchor="t">
            <a:spAutoFit/>
          </a:bodyPr>
          <a:lstStyle/>
          <a:p>
            <a:pPr algn="l">
              <a:lnSpc>
                <a:spcPts val="9855"/>
              </a:lnSpc>
            </a:pPr>
            <a:r>
              <a:rPr lang="en-US" sz="7398" b="1">
                <a:solidFill>
                  <a:srgbClr val="311581"/>
                </a:solidFill>
                <a:latin typeface="Public Sans Bold"/>
                <a:ea typeface="Public Sans Bold"/>
                <a:cs typeface="Public Sans Bold"/>
                <a:sym typeface="Public Sans Bold"/>
              </a:rPr>
              <a:t> Propuesta de Solución</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062565" cy="10287000"/>
            <a:chOff x="0" y="0"/>
            <a:chExt cx="8083420" cy="13716000"/>
          </a:xfrm>
        </p:grpSpPr>
        <p:sp>
          <p:nvSpPr>
            <p:cNvPr id="3" name="Freeform 3"/>
            <p:cNvSpPr/>
            <p:nvPr/>
          </p:nvSpPr>
          <p:spPr>
            <a:xfrm>
              <a:off x="0" y="0"/>
              <a:ext cx="8083423" cy="13716000"/>
            </a:xfrm>
            <a:custGeom>
              <a:avLst/>
              <a:gdLst/>
              <a:ahLst/>
              <a:cxnLst/>
              <a:rect l="l" t="t" r="r" b="b"/>
              <a:pathLst>
                <a:path w="8083423" h="13716000">
                  <a:moveTo>
                    <a:pt x="0" y="0"/>
                  </a:moveTo>
                  <a:lnTo>
                    <a:pt x="8083423" y="0"/>
                  </a:lnTo>
                  <a:lnTo>
                    <a:pt x="8083423" y="13716000"/>
                  </a:lnTo>
                  <a:lnTo>
                    <a:pt x="0" y="13716000"/>
                  </a:lnTo>
                  <a:lnTo>
                    <a:pt x="0" y="0"/>
                  </a:lnTo>
                  <a:close/>
                </a:path>
              </a:pathLst>
            </a:custGeom>
            <a:blipFill>
              <a:blip r:embed="rId3"/>
              <a:stretch>
                <a:fillRect l="-77311" r="-77311"/>
              </a:stretch>
            </a:blipFill>
          </p:spPr>
        </p:sp>
      </p:grpSp>
      <p:grpSp>
        <p:nvGrpSpPr>
          <p:cNvPr id="4" name="Group 4"/>
          <p:cNvGrpSpPr/>
          <p:nvPr/>
        </p:nvGrpSpPr>
        <p:grpSpPr>
          <a:xfrm rot="2700000">
            <a:off x="-1003068" y="5792767"/>
            <a:ext cx="9571075" cy="8163329"/>
            <a:chOff x="0" y="0"/>
            <a:chExt cx="12761433" cy="10884439"/>
          </a:xfrm>
        </p:grpSpPr>
        <p:sp>
          <p:nvSpPr>
            <p:cNvPr id="5" name="Freeform 5"/>
            <p:cNvSpPr/>
            <p:nvPr/>
          </p:nvSpPr>
          <p:spPr>
            <a:xfrm>
              <a:off x="0" y="0"/>
              <a:ext cx="12761468" cy="10884408"/>
            </a:xfrm>
            <a:custGeom>
              <a:avLst/>
              <a:gdLst/>
              <a:ahLst/>
              <a:cxnLst/>
              <a:rect l="l" t="t" r="r" b="b"/>
              <a:pathLst>
                <a:path w="12761468" h="10884408">
                  <a:moveTo>
                    <a:pt x="0" y="0"/>
                  </a:moveTo>
                  <a:lnTo>
                    <a:pt x="12761468" y="0"/>
                  </a:lnTo>
                  <a:lnTo>
                    <a:pt x="12761468" y="10884408"/>
                  </a:lnTo>
                  <a:lnTo>
                    <a:pt x="0" y="10884408"/>
                  </a:lnTo>
                  <a:lnTo>
                    <a:pt x="0" y="0"/>
                  </a:lnTo>
                  <a:close/>
                </a:path>
              </a:pathLst>
            </a:custGeom>
            <a:blipFill>
              <a:blip r:embed="rId4">
                <a:alphaModFix amt="70000"/>
              </a:blip>
              <a:stretch>
                <a:fillRect l="-2" r="-2"/>
              </a:stretch>
            </a:blipFill>
          </p:spPr>
        </p:sp>
      </p:grpSp>
      <p:sp>
        <p:nvSpPr>
          <p:cNvPr id="6" name="AutoShape 6"/>
          <p:cNvSpPr/>
          <p:nvPr/>
        </p:nvSpPr>
        <p:spPr>
          <a:xfrm rot="19466">
            <a:off x="9510304" y="1424839"/>
            <a:ext cx="5046296" cy="0"/>
          </a:xfrm>
          <a:prstGeom prst="line">
            <a:avLst/>
          </a:prstGeom>
          <a:ln w="19050" cap="rnd">
            <a:solidFill>
              <a:srgbClr val="311581"/>
            </a:solidFill>
            <a:prstDash val="solid"/>
            <a:headEnd type="oval" w="lg" len="lg"/>
            <a:tailEnd type="oval" w="lg" len="lg"/>
          </a:ln>
        </p:spPr>
      </p:sp>
      <p:grpSp>
        <p:nvGrpSpPr>
          <p:cNvPr id="7" name="Group 7"/>
          <p:cNvGrpSpPr/>
          <p:nvPr/>
        </p:nvGrpSpPr>
        <p:grpSpPr>
          <a:xfrm>
            <a:off x="1028700" y="1655978"/>
            <a:ext cx="6016509" cy="7583272"/>
            <a:chOff x="0" y="0"/>
            <a:chExt cx="8022012" cy="10111029"/>
          </a:xfrm>
        </p:grpSpPr>
        <p:sp>
          <p:nvSpPr>
            <p:cNvPr id="8" name="Freeform 8"/>
            <p:cNvSpPr/>
            <p:nvPr/>
          </p:nvSpPr>
          <p:spPr>
            <a:xfrm>
              <a:off x="0" y="0"/>
              <a:ext cx="8021955" cy="10110978"/>
            </a:xfrm>
            <a:custGeom>
              <a:avLst/>
              <a:gdLst/>
              <a:ahLst/>
              <a:cxnLst/>
              <a:rect l="l" t="t" r="r" b="b"/>
              <a:pathLst>
                <a:path w="8021955" h="10110978">
                  <a:moveTo>
                    <a:pt x="0" y="0"/>
                  </a:moveTo>
                  <a:lnTo>
                    <a:pt x="8021955" y="0"/>
                  </a:lnTo>
                  <a:lnTo>
                    <a:pt x="8021955" y="10110978"/>
                  </a:lnTo>
                  <a:lnTo>
                    <a:pt x="0" y="10110978"/>
                  </a:lnTo>
                  <a:lnTo>
                    <a:pt x="0" y="0"/>
                  </a:lnTo>
                  <a:close/>
                </a:path>
              </a:pathLst>
            </a:custGeom>
            <a:blipFill>
              <a:blip r:embed="rId5">
                <a:alphaModFix amt="70000"/>
              </a:blip>
              <a:stretch>
                <a:fillRect l="-41420" r="-41420"/>
              </a:stretch>
            </a:blipFill>
          </p:spPr>
        </p:sp>
      </p:grpSp>
      <p:sp>
        <p:nvSpPr>
          <p:cNvPr id="9" name="Freeform 9"/>
          <p:cNvSpPr/>
          <p:nvPr/>
        </p:nvSpPr>
        <p:spPr>
          <a:xfrm>
            <a:off x="1028700" y="1638863"/>
            <a:ext cx="5464368" cy="6973109"/>
          </a:xfrm>
          <a:custGeom>
            <a:avLst/>
            <a:gdLst/>
            <a:ahLst/>
            <a:cxnLst/>
            <a:rect l="l" t="t" r="r" b="b"/>
            <a:pathLst>
              <a:path w="5464368" h="6973109">
                <a:moveTo>
                  <a:pt x="0" y="0"/>
                </a:moveTo>
                <a:lnTo>
                  <a:pt x="5464368" y="0"/>
                </a:lnTo>
                <a:lnTo>
                  <a:pt x="5464368" y="6973109"/>
                </a:lnTo>
                <a:lnTo>
                  <a:pt x="0" y="6973109"/>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10" name="Group 10"/>
          <p:cNvGrpSpPr/>
          <p:nvPr/>
        </p:nvGrpSpPr>
        <p:grpSpPr>
          <a:xfrm>
            <a:off x="1459203" y="1998480"/>
            <a:ext cx="4603363" cy="2918294"/>
            <a:chOff x="0" y="0"/>
            <a:chExt cx="6137817" cy="3891059"/>
          </a:xfrm>
        </p:grpSpPr>
        <p:sp>
          <p:nvSpPr>
            <p:cNvPr id="11" name="Freeform 11"/>
            <p:cNvSpPr/>
            <p:nvPr/>
          </p:nvSpPr>
          <p:spPr>
            <a:xfrm>
              <a:off x="0" y="0"/>
              <a:ext cx="6137910" cy="3891153"/>
            </a:xfrm>
            <a:custGeom>
              <a:avLst/>
              <a:gdLst/>
              <a:ahLst/>
              <a:cxnLst/>
              <a:rect l="l" t="t" r="r" b="b"/>
              <a:pathLst>
                <a:path w="6137910" h="3891153">
                  <a:moveTo>
                    <a:pt x="394335" y="0"/>
                  </a:moveTo>
                  <a:lnTo>
                    <a:pt x="5743448" y="0"/>
                  </a:lnTo>
                  <a:cubicBezTo>
                    <a:pt x="5848096" y="0"/>
                    <a:pt x="5948299" y="41529"/>
                    <a:pt x="6022340" y="115570"/>
                  </a:cubicBezTo>
                  <a:cubicBezTo>
                    <a:pt x="6096381" y="189611"/>
                    <a:pt x="6137910" y="289814"/>
                    <a:pt x="6137910" y="394462"/>
                  </a:cubicBezTo>
                  <a:lnTo>
                    <a:pt x="6137910" y="3496691"/>
                  </a:lnTo>
                  <a:cubicBezTo>
                    <a:pt x="6137910" y="3601339"/>
                    <a:pt x="6096381" y="3701542"/>
                    <a:pt x="6022340" y="3775583"/>
                  </a:cubicBezTo>
                  <a:cubicBezTo>
                    <a:pt x="5948299" y="3849624"/>
                    <a:pt x="5848096" y="3891153"/>
                    <a:pt x="5743448" y="3891153"/>
                  </a:cubicBezTo>
                  <a:lnTo>
                    <a:pt x="394335" y="3891153"/>
                  </a:lnTo>
                  <a:cubicBezTo>
                    <a:pt x="289687" y="3891153"/>
                    <a:pt x="189484" y="3849624"/>
                    <a:pt x="115443" y="3775583"/>
                  </a:cubicBezTo>
                  <a:cubicBezTo>
                    <a:pt x="41402" y="3701542"/>
                    <a:pt x="0" y="3601212"/>
                    <a:pt x="0" y="3496691"/>
                  </a:cubicBezTo>
                  <a:lnTo>
                    <a:pt x="0" y="394335"/>
                  </a:lnTo>
                  <a:cubicBezTo>
                    <a:pt x="0" y="289814"/>
                    <a:pt x="41529" y="189484"/>
                    <a:pt x="115570" y="115570"/>
                  </a:cubicBezTo>
                  <a:cubicBezTo>
                    <a:pt x="189611" y="41656"/>
                    <a:pt x="289814" y="0"/>
                    <a:pt x="394335" y="0"/>
                  </a:cubicBezTo>
                  <a:close/>
                </a:path>
              </a:pathLst>
            </a:custGeom>
            <a:blipFill>
              <a:blip r:embed="rId8"/>
              <a:stretch>
                <a:fillRect t="-9152" r="1" b="-9150"/>
              </a:stretch>
            </a:blipFill>
          </p:spPr>
        </p:sp>
      </p:grpSp>
      <p:grpSp>
        <p:nvGrpSpPr>
          <p:cNvPr id="12" name="Group 12"/>
          <p:cNvGrpSpPr/>
          <p:nvPr/>
        </p:nvGrpSpPr>
        <p:grpSpPr>
          <a:xfrm>
            <a:off x="1459203" y="5356633"/>
            <a:ext cx="4603363" cy="2931887"/>
            <a:chOff x="0" y="0"/>
            <a:chExt cx="6137817" cy="3909183"/>
          </a:xfrm>
        </p:grpSpPr>
        <p:sp>
          <p:nvSpPr>
            <p:cNvPr id="13" name="Freeform 13"/>
            <p:cNvSpPr/>
            <p:nvPr/>
          </p:nvSpPr>
          <p:spPr>
            <a:xfrm>
              <a:off x="0" y="0"/>
              <a:ext cx="6137910" cy="3909314"/>
            </a:xfrm>
            <a:custGeom>
              <a:avLst/>
              <a:gdLst/>
              <a:ahLst/>
              <a:cxnLst/>
              <a:rect l="l" t="t" r="r" b="b"/>
              <a:pathLst>
                <a:path w="6137910" h="3909314">
                  <a:moveTo>
                    <a:pt x="394335" y="0"/>
                  </a:moveTo>
                  <a:lnTo>
                    <a:pt x="5743448" y="0"/>
                  </a:lnTo>
                  <a:cubicBezTo>
                    <a:pt x="5848096" y="0"/>
                    <a:pt x="5948299" y="41529"/>
                    <a:pt x="6022340" y="115570"/>
                  </a:cubicBezTo>
                  <a:cubicBezTo>
                    <a:pt x="6096381" y="189611"/>
                    <a:pt x="6137910" y="289814"/>
                    <a:pt x="6137910" y="394462"/>
                  </a:cubicBezTo>
                  <a:lnTo>
                    <a:pt x="6137910" y="3514852"/>
                  </a:lnTo>
                  <a:cubicBezTo>
                    <a:pt x="6137910" y="3619500"/>
                    <a:pt x="6096381" y="3719703"/>
                    <a:pt x="6022340" y="3793744"/>
                  </a:cubicBezTo>
                  <a:cubicBezTo>
                    <a:pt x="5948299" y="3867785"/>
                    <a:pt x="5848096" y="3909314"/>
                    <a:pt x="5743448" y="3909314"/>
                  </a:cubicBezTo>
                  <a:lnTo>
                    <a:pt x="394335" y="3909314"/>
                  </a:lnTo>
                  <a:cubicBezTo>
                    <a:pt x="289687" y="3909314"/>
                    <a:pt x="189484" y="3867785"/>
                    <a:pt x="115443" y="3793744"/>
                  </a:cubicBezTo>
                  <a:cubicBezTo>
                    <a:pt x="41402" y="3719703"/>
                    <a:pt x="0" y="3619373"/>
                    <a:pt x="0" y="3514852"/>
                  </a:cubicBezTo>
                  <a:lnTo>
                    <a:pt x="0" y="394335"/>
                  </a:lnTo>
                  <a:cubicBezTo>
                    <a:pt x="0" y="289814"/>
                    <a:pt x="41529" y="189484"/>
                    <a:pt x="115570" y="115570"/>
                  </a:cubicBezTo>
                  <a:cubicBezTo>
                    <a:pt x="189611" y="41656"/>
                    <a:pt x="289814" y="0"/>
                    <a:pt x="394335" y="0"/>
                  </a:cubicBezTo>
                  <a:close/>
                </a:path>
              </a:pathLst>
            </a:custGeom>
            <a:blipFill>
              <a:blip r:embed="rId9"/>
              <a:stretch>
                <a:fillRect t="-28504" r="1" b="-28500"/>
              </a:stretch>
            </a:blipFill>
          </p:spPr>
        </p:sp>
      </p:grpSp>
      <p:sp>
        <p:nvSpPr>
          <p:cNvPr id="14" name="TextBox 14"/>
          <p:cNvSpPr txBox="1"/>
          <p:nvPr/>
        </p:nvSpPr>
        <p:spPr>
          <a:xfrm>
            <a:off x="6971342" y="3452223"/>
            <a:ext cx="5346164" cy="6735580"/>
          </a:xfrm>
          <a:prstGeom prst="rect">
            <a:avLst/>
          </a:prstGeom>
        </p:spPr>
        <p:txBody>
          <a:bodyPr lIns="0" tIns="0" rIns="0" bIns="0" rtlCol="0" anchor="t">
            <a:spAutoFit/>
          </a:bodyPr>
          <a:lstStyle/>
          <a:p>
            <a:pPr algn="just">
              <a:lnSpc>
                <a:spcPts val="4800"/>
              </a:lnSpc>
            </a:pPr>
            <a:r>
              <a:rPr lang="en-US" sz="2000" b="1">
                <a:solidFill>
                  <a:srgbClr val="7030A0"/>
                </a:solidFill>
                <a:latin typeface="Public Sans Bold"/>
                <a:ea typeface="Public Sans Bold"/>
                <a:cs typeface="Public Sans Bold"/>
                <a:sym typeface="Public Sans Bold"/>
              </a:rPr>
              <a:t>Que Hace:</a:t>
            </a:r>
          </a:p>
          <a:p>
            <a:pPr marL="193040" lvl="1" indent="-96520" algn="just">
              <a:lnSpc>
                <a:spcPts val="3840"/>
              </a:lnSpc>
              <a:buFont typeface="Arial"/>
              <a:buChar char="•"/>
            </a:pPr>
            <a:r>
              <a:rPr lang="en-US" sz="1600">
                <a:solidFill>
                  <a:srgbClr val="7030A0"/>
                </a:solidFill>
                <a:latin typeface="Public Sans"/>
                <a:ea typeface="Public Sans"/>
                <a:cs typeface="Public Sans"/>
                <a:sym typeface="Public Sans"/>
              </a:rPr>
              <a:t>Captura de mensajes de transmisión de plataformas de streaming.</a:t>
            </a:r>
          </a:p>
          <a:p>
            <a:pPr marL="193040" lvl="1" indent="-96520" algn="just">
              <a:lnSpc>
                <a:spcPts val="3840"/>
              </a:lnSpc>
              <a:buFont typeface="Arial"/>
              <a:buChar char="•"/>
            </a:pPr>
            <a:r>
              <a:rPr lang="en-US" sz="1600">
                <a:solidFill>
                  <a:srgbClr val="7030A0"/>
                </a:solidFill>
                <a:latin typeface="Public Sans"/>
                <a:ea typeface="Public Sans"/>
                <a:cs typeface="Public Sans"/>
                <a:sym typeface="Public Sans"/>
              </a:rPr>
              <a:t>Genera respuestas en base al mensaje utilizando modelo de inteligencia artificial.</a:t>
            </a:r>
          </a:p>
          <a:p>
            <a:pPr marL="193040" lvl="1" indent="-96520" algn="just">
              <a:lnSpc>
                <a:spcPts val="3840"/>
              </a:lnSpc>
              <a:buFont typeface="Arial"/>
              <a:buChar char="•"/>
            </a:pPr>
            <a:r>
              <a:rPr lang="en-US" sz="1600">
                <a:solidFill>
                  <a:srgbClr val="7030A0"/>
                </a:solidFill>
                <a:latin typeface="Public Sans"/>
                <a:ea typeface="Public Sans"/>
                <a:cs typeface="Public Sans"/>
                <a:sym typeface="Public Sans"/>
              </a:rPr>
              <a:t>Conversión de respuesta a voz mediante una aplicación TTS.</a:t>
            </a:r>
          </a:p>
          <a:p>
            <a:pPr marL="193040" lvl="1" indent="-96520" algn="just">
              <a:lnSpc>
                <a:spcPts val="3840"/>
              </a:lnSpc>
              <a:buFont typeface="Arial"/>
              <a:buChar char="•"/>
            </a:pPr>
            <a:r>
              <a:rPr lang="en-US" sz="1600">
                <a:solidFill>
                  <a:srgbClr val="7030A0"/>
                </a:solidFill>
                <a:latin typeface="Public Sans"/>
                <a:ea typeface="Public Sans"/>
                <a:cs typeface="Public Sans"/>
                <a:sym typeface="Public Sans"/>
              </a:rPr>
              <a:t>Integración de mensaje TTS con personaje virtual e interactivo.</a:t>
            </a:r>
          </a:p>
          <a:p>
            <a:pPr marL="193040" lvl="1" indent="-96520" algn="just">
              <a:lnSpc>
                <a:spcPts val="3840"/>
              </a:lnSpc>
              <a:buFont typeface="Arial"/>
              <a:buChar char="•"/>
            </a:pPr>
            <a:r>
              <a:rPr lang="en-US" sz="1600">
                <a:solidFill>
                  <a:srgbClr val="7030A0"/>
                </a:solidFill>
                <a:latin typeface="Public Sans"/>
                <a:ea typeface="Public Sans"/>
                <a:cs typeface="Public Sans"/>
                <a:sym typeface="Public Sans"/>
              </a:rPr>
              <a:t>Almacenamiento de mensajes para futuras interacciones.</a:t>
            </a:r>
          </a:p>
          <a:p>
            <a:pPr marL="193040" lvl="1" indent="-96520" algn="just">
              <a:lnSpc>
                <a:spcPts val="2688"/>
              </a:lnSpc>
            </a:pPr>
            <a:endParaRPr lang="en-US" sz="1600">
              <a:solidFill>
                <a:srgbClr val="7030A0"/>
              </a:solidFill>
              <a:latin typeface="Public Sans"/>
              <a:ea typeface="Public Sans"/>
              <a:cs typeface="Public Sans"/>
              <a:sym typeface="Public Sans"/>
            </a:endParaRPr>
          </a:p>
          <a:p>
            <a:pPr marL="193040" lvl="1" indent="-96520" algn="just">
              <a:lnSpc>
                <a:spcPts val="2688"/>
              </a:lnSpc>
            </a:pPr>
            <a:endParaRPr lang="en-US" sz="1600">
              <a:solidFill>
                <a:srgbClr val="7030A0"/>
              </a:solidFill>
              <a:latin typeface="Public Sans"/>
              <a:ea typeface="Public Sans"/>
              <a:cs typeface="Public Sans"/>
              <a:sym typeface="Public Sans"/>
            </a:endParaRPr>
          </a:p>
          <a:p>
            <a:pPr marL="193040" lvl="1" indent="-96520" algn="just">
              <a:lnSpc>
                <a:spcPts val="2688"/>
              </a:lnSpc>
            </a:pPr>
            <a:endParaRPr lang="en-US" sz="1600">
              <a:solidFill>
                <a:srgbClr val="7030A0"/>
              </a:solidFill>
              <a:latin typeface="Public Sans"/>
              <a:ea typeface="Public Sans"/>
              <a:cs typeface="Public Sans"/>
              <a:sym typeface="Public Sans"/>
            </a:endParaRPr>
          </a:p>
        </p:txBody>
      </p:sp>
      <p:sp>
        <p:nvSpPr>
          <p:cNvPr id="15" name="TextBox 15"/>
          <p:cNvSpPr txBox="1"/>
          <p:nvPr/>
        </p:nvSpPr>
        <p:spPr>
          <a:xfrm>
            <a:off x="8333440" y="1617081"/>
            <a:ext cx="7720019" cy="1368647"/>
          </a:xfrm>
          <a:prstGeom prst="rect">
            <a:avLst/>
          </a:prstGeom>
        </p:spPr>
        <p:txBody>
          <a:bodyPr lIns="0" tIns="0" rIns="0" bIns="0" rtlCol="0" anchor="t">
            <a:spAutoFit/>
          </a:bodyPr>
          <a:lstStyle/>
          <a:p>
            <a:pPr algn="l">
              <a:lnSpc>
                <a:spcPts val="9855"/>
              </a:lnSpc>
            </a:pPr>
            <a:r>
              <a:rPr lang="en-US" sz="7398" b="1">
                <a:solidFill>
                  <a:srgbClr val="311581"/>
                </a:solidFill>
                <a:latin typeface="Public Sans Bold"/>
                <a:ea typeface="Public Sans Bold"/>
                <a:cs typeface="Public Sans Bold"/>
                <a:sym typeface="Public Sans Bold"/>
              </a:rPr>
              <a:t> Funcionalidades</a:t>
            </a:r>
          </a:p>
        </p:txBody>
      </p:sp>
      <p:sp>
        <p:nvSpPr>
          <p:cNvPr id="16" name="TextBox 16"/>
          <p:cNvSpPr txBox="1"/>
          <p:nvPr/>
        </p:nvSpPr>
        <p:spPr>
          <a:xfrm>
            <a:off x="12865635" y="3452223"/>
            <a:ext cx="4575199" cy="5947672"/>
          </a:xfrm>
          <a:prstGeom prst="rect">
            <a:avLst/>
          </a:prstGeom>
        </p:spPr>
        <p:txBody>
          <a:bodyPr lIns="0" tIns="0" rIns="0" bIns="0" rtlCol="0" anchor="t">
            <a:spAutoFit/>
          </a:bodyPr>
          <a:lstStyle/>
          <a:p>
            <a:pPr algn="just">
              <a:lnSpc>
                <a:spcPts val="4800"/>
              </a:lnSpc>
            </a:pPr>
            <a:r>
              <a:rPr lang="en-US" sz="2000" b="1">
                <a:solidFill>
                  <a:srgbClr val="7030A0"/>
                </a:solidFill>
                <a:latin typeface="Public Sans Bold"/>
                <a:ea typeface="Public Sans Bold"/>
                <a:cs typeface="Public Sans Bold"/>
                <a:sym typeface="Public Sans Bold"/>
              </a:rPr>
              <a:t>Que no Hace:</a:t>
            </a:r>
          </a:p>
          <a:p>
            <a:pPr marL="193040" lvl="1" indent="-96520" algn="just">
              <a:lnSpc>
                <a:spcPts val="3840"/>
              </a:lnSpc>
              <a:buFont typeface="Arial"/>
              <a:buChar char="•"/>
            </a:pPr>
            <a:r>
              <a:rPr lang="en-US" sz="1600">
                <a:solidFill>
                  <a:srgbClr val="7030A0"/>
                </a:solidFill>
                <a:latin typeface="Public Sans"/>
                <a:ea typeface="Public Sans"/>
                <a:cs typeface="Public Sans"/>
                <a:sym typeface="Public Sans"/>
              </a:rPr>
              <a:t>Personalizar personajes virtuales.</a:t>
            </a:r>
          </a:p>
          <a:p>
            <a:pPr marL="193040" lvl="1" indent="-96520" algn="just">
              <a:lnSpc>
                <a:spcPts val="3840"/>
              </a:lnSpc>
              <a:buFont typeface="Arial"/>
              <a:buChar char="•"/>
            </a:pPr>
            <a:r>
              <a:rPr lang="en-US" sz="1600">
                <a:solidFill>
                  <a:srgbClr val="7030A0"/>
                </a:solidFill>
                <a:latin typeface="Public Sans"/>
                <a:ea typeface="Public Sans"/>
                <a:cs typeface="Public Sans"/>
                <a:sym typeface="Public Sans"/>
              </a:rPr>
              <a:t>No contempla analítica avanzada de audiencia.</a:t>
            </a:r>
          </a:p>
          <a:p>
            <a:pPr marL="193040" lvl="1" indent="-96520" algn="just">
              <a:lnSpc>
                <a:spcPts val="3840"/>
              </a:lnSpc>
              <a:buFont typeface="Arial"/>
              <a:buChar char="•"/>
            </a:pPr>
            <a:r>
              <a:rPr lang="en-US" sz="1600">
                <a:solidFill>
                  <a:srgbClr val="7030A0"/>
                </a:solidFill>
                <a:latin typeface="Public Sans"/>
                <a:ea typeface="Public Sans"/>
                <a:cs typeface="Public Sans"/>
                <a:sym typeface="Public Sans"/>
              </a:rPr>
              <a:t>No permite personalización de voz o avatar desde cero.</a:t>
            </a:r>
          </a:p>
          <a:p>
            <a:pPr marL="193040" lvl="1" indent="-96520" algn="just">
              <a:lnSpc>
                <a:spcPts val="3840"/>
              </a:lnSpc>
              <a:buFont typeface="Arial"/>
              <a:buChar char="•"/>
            </a:pPr>
            <a:r>
              <a:rPr lang="en-US" sz="1600">
                <a:solidFill>
                  <a:srgbClr val="7030A0"/>
                </a:solidFill>
                <a:latin typeface="Public Sans"/>
                <a:ea typeface="Public Sans"/>
                <a:cs typeface="Public Sans"/>
                <a:sym typeface="Public Sans"/>
              </a:rPr>
              <a:t>No gestiona multiples plataformas de streaming</a:t>
            </a:r>
          </a:p>
          <a:p>
            <a:pPr marL="193040" lvl="1" indent="-96520" algn="just">
              <a:lnSpc>
                <a:spcPts val="2688"/>
              </a:lnSpc>
            </a:pPr>
            <a:endParaRPr lang="en-US" sz="1600">
              <a:solidFill>
                <a:srgbClr val="7030A0"/>
              </a:solidFill>
              <a:latin typeface="Public Sans"/>
              <a:ea typeface="Public Sans"/>
              <a:cs typeface="Public Sans"/>
              <a:sym typeface="Public Sans"/>
            </a:endParaRPr>
          </a:p>
          <a:p>
            <a:pPr marL="193040" lvl="1" indent="-96520" algn="just">
              <a:lnSpc>
                <a:spcPts val="2688"/>
              </a:lnSpc>
            </a:pPr>
            <a:endParaRPr lang="en-US" sz="1600">
              <a:solidFill>
                <a:srgbClr val="7030A0"/>
              </a:solidFill>
              <a:latin typeface="Public Sans"/>
              <a:ea typeface="Public Sans"/>
              <a:cs typeface="Public Sans"/>
              <a:sym typeface="Public Sans"/>
            </a:endParaRPr>
          </a:p>
          <a:p>
            <a:pPr marL="193040" lvl="1" indent="-96520" algn="just">
              <a:lnSpc>
                <a:spcPts val="2688"/>
              </a:lnSpc>
            </a:pPr>
            <a:endParaRPr lang="en-US" sz="1600">
              <a:solidFill>
                <a:srgbClr val="7030A0"/>
              </a:solidFill>
              <a:latin typeface="Public Sans"/>
              <a:ea typeface="Public Sans"/>
              <a:cs typeface="Public Sans"/>
              <a:sym typeface="Public Sans"/>
            </a:endParaRPr>
          </a:p>
          <a:p>
            <a:pPr marL="193040" lvl="1" indent="-96520" algn="just">
              <a:lnSpc>
                <a:spcPts val="2688"/>
              </a:lnSpc>
            </a:pPr>
            <a:endParaRPr lang="en-US" sz="1600">
              <a:solidFill>
                <a:srgbClr val="7030A0"/>
              </a:solidFill>
              <a:latin typeface="Public Sans"/>
              <a:ea typeface="Public Sans"/>
              <a:cs typeface="Public Sans"/>
              <a:sym typeface="Public Sans"/>
            </a:endParaRPr>
          </a:p>
          <a:p>
            <a:pPr marL="193040" lvl="1" indent="-96520" algn="just">
              <a:lnSpc>
                <a:spcPts val="2688"/>
              </a:lnSpc>
            </a:pPr>
            <a:endParaRPr lang="en-US" sz="1600">
              <a:solidFill>
                <a:srgbClr val="7030A0"/>
              </a:solidFill>
              <a:latin typeface="Public Sans"/>
              <a:ea typeface="Public Sans"/>
              <a:cs typeface="Public Sans"/>
              <a:sym typeface="Public Sans"/>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 y="0"/>
            <a:ext cx="18394680" cy="4994990"/>
            <a:chOff x="0" y="0"/>
            <a:chExt cx="24526240" cy="6659987"/>
          </a:xfrm>
        </p:grpSpPr>
        <p:sp>
          <p:nvSpPr>
            <p:cNvPr id="3" name="Freeform 3"/>
            <p:cNvSpPr/>
            <p:nvPr/>
          </p:nvSpPr>
          <p:spPr>
            <a:xfrm>
              <a:off x="0" y="0"/>
              <a:ext cx="24526239" cy="6660007"/>
            </a:xfrm>
            <a:custGeom>
              <a:avLst/>
              <a:gdLst/>
              <a:ahLst/>
              <a:cxnLst/>
              <a:rect l="l" t="t" r="r" b="b"/>
              <a:pathLst>
                <a:path w="24526239" h="6660007">
                  <a:moveTo>
                    <a:pt x="0" y="0"/>
                  </a:moveTo>
                  <a:lnTo>
                    <a:pt x="24526239" y="0"/>
                  </a:lnTo>
                  <a:lnTo>
                    <a:pt x="24526239" y="6660007"/>
                  </a:lnTo>
                  <a:lnTo>
                    <a:pt x="0" y="6660007"/>
                  </a:lnTo>
                  <a:lnTo>
                    <a:pt x="0" y="0"/>
                  </a:lnTo>
                  <a:close/>
                </a:path>
              </a:pathLst>
            </a:custGeom>
            <a:blipFill>
              <a:blip r:embed="rId3"/>
              <a:stretch>
                <a:fillRect t="-72704" b="-72704"/>
              </a:stretch>
            </a:blipFill>
          </p:spPr>
        </p:sp>
      </p:grpSp>
      <p:grpSp>
        <p:nvGrpSpPr>
          <p:cNvPr id="4" name="Group 4"/>
          <p:cNvGrpSpPr/>
          <p:nvPr/>
        </p:nvGrpSpPr>
        <p:grpSpPr>
          <a:xfrm>
            <a:off x="2031157" y="4994990"/>
            <a:ext cx="13922445" cy="754850"/>
            <a:chOff x="0" y="0"/>
            <a:chExt cx="18563260" cy="1006466"/>
          </a:xfrm>
        </p:grpSpPr>
        <p:sp>
          <p:nvSpPr>
            <p:cNvPr id="5" name="Freeform 5"/>
            <p:cNvSpPr/>
            <p:nvPr/>
          </p:nvSpPr>
          <p:spPr>
            <a:xfrm>
              <a:off x="0" y="0"/>
              <a:ext cx="18563210" cy="1006475"/>
            </a:xfrm>
            <a:custGeom>
              <a:avLst/>
              <a:gdLst/>
              <a:ahLst/>
              <a:cxnLst/>
              <a:rect l="l" t="t" r="r" b="b"/>
              <a:pathLst>
                <a:path w="18563210" h="1006475">
                  <a:moveTo>
                    <a:pt x="0" y="0"/>
                  </a:moveTo>
                  <a:lnTo>
                    <a:pt x="18563210" y="0"/>
                  </a:lnTo>
                  <a:lnTo>
                    <a:pt x="18563210" y="1006475"/>
                  </a:lnTo>
                  <a:lnTo>
                    <a:pt x="0" y="1006475"/>
                  </a:lnTo>
                  <a:lnTo>
                    <a:pt x="0" y="0"/>
                  </a:lnTo>
                  <a:close/>
                </a:path>
              </a:pathLst>
            </a:custGeom>
            <a:blipFill>
              <a:blip r:embed="rId4">
                <a:alphaModFix amt="80000"/>
              </a:blip>
              <a:stretch>
                <a:fillRect t="-8373" b="-8372"/>
              </a:stretch>
            </a:blipFill>
          </p:spPr>
        </p:sp>
      </p:grpSp>
      <p:sp>
        <p:nvSpPr>
          <p:cNvPr id="6" name="AutoShape 6"/>
          <p:cNvSpPr/>
          <p:nvPr/>
        </p:nvSpPr>
        <p:spPr>
          <a:xfrm rot="8595">
            <a:off x="1524904" y="5312005"/>
            <a:ext cx="15238191" cy="0"/>
          </a:xfrm>
          <a:prstGeom prst="line">
            <a:avLst/>
          </a:prstGeom>
          <a:ln w="28575" cap="rnd">
            <a:solidFill>
              <a:srgbClr val="311581"/>
            </a:solidFill>
            <a:prstDash val="solid"/>
            <a:headEnd type="none" w="sm" len="sm"/>
            <a:tailEnd type="none" w="sm" len="sm"/>
          </a:ln>
        </p:spPr>
      </p:sp>
      <p:grpSp>
        <p:nvGrpSpPr>
          <p:cNvPr id="7" name="Group 7"/>
          <p:cNvGrpSpPr/>
          <p:nvPr/>
        </p:nvGrpSpPr>
        <p:grpSpPr>
          <a:xfrm>
            <a:off x="14555279" y="2248450"/>
            <a:ext cx="2796646" cy="2746539"/>
            <a:chOff x="0" y="0"/>
            <a:chExt cx="3728861" cy="3662052"/>
          </a:xfrm>
        </p:grpSpPr>
        <p:sp>
          <p:nvSpPr>
            <p:cNvPr id="8" name="Freeform 8"/>
            <p:cNvSpPr/>
            <p:nvPr/>
          </p:nvSpPr>
          <p:spPr>
            <a:xfrm>
              <a:off x="0" y="0"/>
              <a:ext cx="3728847" cy="3662045"/>
            </a:xfrm>
            <a:custGeom>
              <a:avLst/>
              <a:gdLst/>
              <a:ahLst/>
              <a:cxnLst/>
              <a:rect l="l" t="t" r="r" b="b"/>
              <a:pathLst>
                <a:path w="3728847" h="3662045">
                  <a:moveTo>
                    <a:pt x="0" y="0"/>
                  </a:moveTo>
                  <a:lnTo>
                    <a:pt x="3728847" y="0"/>
                  </a:lnTo>
                  <a:lnTo>
                    <a:pt x="3728847" y="3662045"/>
                  </a:lnTo>
                  <a:lnTo>
                    <a:pt x="0" y="3662045"/>
                  </a:lnTo>
                  <a:lnTo>
                    <a:pt x="0" y="0"/>
                  </a:lnTo>
                  <a:close/>
                </a:path>
              </a:pathLst>
            </a:custGeom>
            <a:blipFill>
              <a:blip r:embed="rId5"/>
              <a:stretch>
                <a:fillRect l="-16" r="-17"/>
              </a:stretch>
            </a:blipFill>
          </p:spPr>
        </p:sp>
      </p:grpSp>
      <p:grpSp>
        <p:nvGrpSpPr>
          <p:cNvPr id="9" name="Group 9"/>
          <p:cNvGrpSpPr/>
          <p:nvPr/>
        </p:nvGrpSpPr>
        <p:grpSpPr>
          <a:xfrm>
            <a:off x="13077592" y="1028700"/>
            <a:ext cx="6690329" cy="1321340"/>
            <a:chOff x="0" y="0"/>
            <a:chExt cx="8920439" cy="1761787"/>
          </a:xfrm>
        </p:grpSpPr>
        <p:sp>
          <p:nvSpPr>
            <p:cNvPr id="10" name="Freeform 10"/>
            <p:cNvSpPr/>
            <p:nvPr/>
          </p:nvSpPr>
          <p:spPr>
            <a:xfrm flipH="1">
              <a:off x="0" y="0"/>
              <a:ext cx="8920480" cy="1761744"/>
            </a:xfrm>
            <a:custGeom>
              <a:avLst/>
              <a:gdLst/>
              <a:ahLst/>
              <a:cxnLst/>
              <a:rect l="l" t="t" r="r" b="b"/>
              <a:pathLst>
                <a:path w="8920480" h="1761744">
                  <a:moveTo>
                    <a:pt x="8920480" y="0"/>
                  </a:moveTo>
                  <a:lnTo>
                    <a:pt x="0" y="0"/>
                  </a:lnTo>
                  <a:lnTo>
                    <a:pt x="0" y="1761744"/>
                  </a:lnTo>
                  <a:lnTo>
                    <a:pt x="8920480" y="1761744"/>
                  </a:lnTo>
                  <a:lnTo>
                    <a:pt x="8920480" y="0"/>
                  </a:lnTo>
                  <a:close/>
                </a:path>
              </a:pathLst>
            </a:custGeom>
            <a:blipFill>
              <a:blip r:embed="rId6"/>
              <a:stretch>
                <a:fillRect l="-132" r="-132" b="-2"/>
              </a:stretch>
            </a:blipFill>
          </p:spPr>
        </p:sp>
      </p:grpSp>
      <p:sp>
        <p:nvSpPr>
          <p:cNvPr id="11" name="TextBox 11"/>
          <p:cNvSpPr txBox="1"/>
          <p:nvPr/>
        </p:nvSpPr>
        <p:spPr>
          <a:xfrm>
            <a:off x="6921790" y="1671932"/>
            <a:ext cx="4141177" cy="1368647"/>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Usuarios</a:t>
            </a:r>
          </a:p>
        </p:txBody>
      </p:sp>
      <p:sp>
        <p:nvSpPr>
          <p:cNvPr id="12" name="TextBox 12"/>
          <p:cNvSpPr txBox="1"/>
          <p:nvPr/>
        </p:nvSpPr>
        <p:spPr>
          <a:xfrm>
            <a:off x="15479821" y="6052406"/>
            <a:ext cx="2732839" cy="456875"/>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a:t>
            </a:r>
          </a:p>
        </p:txBody>
      </p:sp>
      <p:sp>
        <p:nvSpPr>
          <p:cNvPr id="13" name="TextBox 13"/>
          <p:cNvSpPr txBox="1"/>
          <p:nvPr/>
        </p:nvSpPr>
        <p:spPr>
          <a:xfrm>
            <a:off x="2694601" y="5452499"/>
            <a:ext cx="2369848" cy="594250"/>
          </a:xfrm>
          <a:prstGeom prst="rect">
            <a:avLst/>
          </a:prstGeom>
        </p:spPr>
        <p:txBody>
          <a:bodyPr lIns="0" tIns="0" rIns="0" bIns="0" rtlCol="0" anchor="t">
            <a:spAutoFit/>
          </a:bodyPr>
          <a:lstStyle/>
          <a:p>
            <a:pPr algn="l">
              <a:lnSpc>
                <a:spcPts val="4262"/>
              </a:lnSpc>
            </a:pPr>
            <a:r>
              <a:rPr lang="en-US" sz="3200" b="1">
                <a:solidFill>
                  <a:srgbClr val="0C0C0C"/>
                </a:solidFill>
                <a:latin typeface="Public Sans Bold"/>
                <a:ea typeface="Public Sans Bold"/>
                <a:cs typeface="Public Sans Bold"/>
                <a:sym typeface="Public Sans Bold"/>
              </a:rPr>
              <a:t>Streamers</a:t>
            </a:r>
          </a:p>
        </p:txBody>
      </p:sp>
      <p:sp>
        <p:nvSpPr>
          <p:cNvPr id="14" name="TextBox 14"/>
          <p:cNvSpPr txBox="1"/>
          <p:nvPr/>
        </p:nvSpPr>
        <p:spPr>
          <a:xfrm>
            <a:off x="12833219" y="5449902"/>
            <a:ext cx="2369848" cy="594250"/>
          </a:xfrm>
          <a:prstGeom prst="rect">
            <a:avLst/>
          </a:prstGeom>
        </p:spPr>
        <p:txBody>
          <a:bodyPr lIns="0" tIns="0" rIns="0" bIns="0" rtlCol="0" anchor="t">
            <a:spAutoFit/>
          </a:bodyPr>
          <a:lstStyle/>
          <a:p>
            <a:pPr algn="l">
              <a:lnSpc>
                <a:spcPts val="4262"/>
              </a:lnSpc>
            </a:pPr>
            <a:r>
              <a:rPr lang="en-US" sz="3200" b="1">
                <a:solidFill>
                  <a:srgbClr val="0C0C0C"/>
                </a:solidFill>
                <a:latin typeface="Public Sans Bold"/>
                <a:ea typeface="Public Sans Bold"/>
                <a:cs typeface="Public Sans Bold"/>
                <a:sym typeface="Public Sans Bold"/>
              </a:rPr>
              <a:t>Viewers</a:t>
            </a:r>
          </a:p>
        </p:txBody>
      </p:sp>
      <p:grpSp>
        <p:nvGrpSpPr>
          <p:cNvPr id="15" name="Group 15"/>
          <p:cNvGrpSpPr>
            <a:grpSpLocks noChangeAspect="1"/>
          </p:cNvGrpSpPr>
          <p:nvPr/>
        </p:nvGrpSpPr>
        <p:grpSpPr>
          <a:xfrm>
            <a:off x="3062288" y="6197841"/>
            <a:ext cx="1442099" cy="1442099"/>
            <a:chOff x="0" y="0"/>
            <a:chExt cx="1922799" cy="1922799"/>
          </a:xfrm>
        </p:grpSpPr>
        <p:sp>
          <p:nvSpPr>
            <p:cNvPr id="16" name="Freeform 16" descr="Streamer - Free music icons"/>
            <p:cNvSpPr/>
            <p:nvPr/>
          </p:nvSpPr>
          <p:spPr>
            <a:xfrm>
              <a:off x="0" y="0"/>
              <a:ext cx="1922780" cy="1922780"/>
            </a:xfrm>
            <a:custGeom>
              <a:avLst/>
              <a:gdLst/>
              <a:ahLst/>
              <a:cxnLst/>
              <a:rect l="l" t="t" r="r" b="b"/>
              <a:pathLst>
                <a:path w="1922780" h="1922780">
                  <a:moveTo>
                    <a:pt x="0" y="0"/>
                  </a:moveTo>
                  <a:lnTo>
                    <a:pt x="1922780" y="0"/>
                  </a:lnTo>
                  <a:lnTo>
                    <a:pt x="1922780" y="1922780"/>
                  </a:lnTo>
                  <a:lnTo>
                    <a:pt x="0" y="1922780"/>
                  </a:lnTo>
                  <a:lnTo>
                    <a:pt x="0" y="0"/>
                  </a:lnTo>
                  <a:close/>
                </a:path>
              </a:pathLst>
            </a:custGeom>
            <a:blipFill>
              <a:blip r:embed="rId7"/>
              <a:stretch>
                <a:fillRect/>
              </a:stretch>
            </a:blipFill>
          </p:spPr>
        </p:sp>
      </p:grpSp>
      <p:grpSp>
        <p:nvGrpSpPr>
          <p:cNvPr id="17" name="Group 17"/>
          <p:cNvGrpSpPr>
            <a:grpSpLocks noChangeAspect="1"/>
          </p:cNvGrpSpPr>
          <p:nvPr/>
        </p:nvGrpSpPr>
        <p:grpSpPr>
          <a:xfrm>
            <a:off x="12833219" y="6309418"/>
            <a:ext cx="1477687" cy="1354539"/>
            <a:chOff x="0" y="0"/>
            <a:chExt cx="1970249" cy="1806052"/>
          </a:xfrm>
        </p:grpSpPr>
        <p:sp>
          <p:nvSpPr>
            <p:cNvPr id="18" name="Freeform 18" descr="Usuario de la red - Iconos gratis de redes"/>
            <p:cNvSpPr/>
            <p:nvPr/>
          </p:nvSpPr>
          <p:spPr>
            <a:xfrm>
              <a:off x="0" y="0"/>
              <a:ext cx="1970278" cy="1806067"/>
            </a:xfrm>
            <a:custGeom>
              <a:avLst/>
              <a:gdLst/>
              <a:ahLst/>
              <a:cxnLst/>
              <a:rect l="l" t="t" r="r" b="b"/>
              <a:pathLst>
                <a:path w="1970278" h="1806067">
                  <a:moveTo>
                    <a:pt x="0" y="0"/>
                  </a:moveTo>
                  <a:lnTo>
                    <a:pt x="1970278" y="0"/>
                  </a:lnTo>
                  <a:lnTo>
                    <a:pt x="1970278" y="1806067"/>
                  </a:lnTo>
                  <a:lnTo>
                    <a:pt x="0" y="1806067"/>
                  </a:lnTo>
                  <a:lnTo>
                    <a:pt x="0" y="0"/>
                  </a:lnTo>
                  <a:close/>
                </a:path>
              </a:pathLst>
            </a:custGeom>
            <a:blipFill>
              <a:blip r:embed="rId8"/>
              <a:stretch>
                <a:fillRect r="1" b="-9090"/>
              </a:stretch>
            </a:blipFill>
          </p:spPr>
        </p:sp>
      </p:grpSp>
      <p:sp>
        <p:nvSpPr>
          <p:cNvPr id="19" name="TextBox 19"/>
          <p:cNvSpPr txBox="1"/>
          <p:nvPr/>
        </p:nvSpPr>
        <p:spPr>
          <a:xfrm>
            <a:off x="1670662" y="7881817"/>
            <a:ext cx="4417725" cy="2183159"/>
          </a:xfrm>
          <a:prstGeom prst="rect">
            <a:avLst/>
          </a:prstGeom>
        </p:spPr>
        <p:txBody>
          <a:bodyPr lIns="0" tIns="0" rIns="0" bIns="0" rtlCol="0" anchor="t">
            <a:spAutoFit/>
          </a:bodyPr>
          <a:lstStyle/>
          <a:p>
            <a:pPr algn="ctr">
              <a:lnSpc>
                <a:spcPts val="3240"/>
              </a:lnSpc>
            </a:pPr>
            <a:r>
              <a:rPr lang="en-US" sz="1800">
                <a:solidFill>
                  <a:srgbClr val="7030A0"/>
                </a:solidFill>
                <a:latin typeface="Public Sans"/>
                <a:ea typeface="Public Sans"/>
                <a:cs typeface="Public Sans"/>
                <a:sym typeface="Public Sans"/>
              </a:rPr>
              <a:t>Encargado de interactuar con la audiencia y el asistente virtual, ajustando sus parámetros y respuestas para mejorar continuamente la experiencia de ambos.</a:t>
            </a:r>
          </a:p>
        </p:txBody>
      </p:sp>
      <p:sp>
        <p:nvSpPr>
          <p:cNvPr id="20" name="TextBox 20"/>
          <p:cNvSpPr txBox="1"/>
          <p:nvPr/>
        </p:nvSpPr>
        <p:spPr>
          <a:xfrm>
            <a:off x="11368295" y="7881817"/>
            <a:ext cx="4817850" cy="1767661"/>
          </a:xfrm>
          <a:prstGeom prst="rect">
            <a:avLst/>
          </a:prstGeom>
        </p:spPr>
        <p:txBody>
          <a:bodyPr lIns="0" tIns="0" rIns="0" bIns="0" rtlCol="0" anchor="t">
            <a:spAutoFit/>
          </a:bodyPr>
          <a:lstStyle/>
          <a:p>
            <a:pPr algn="ctr">
              <a:lnSpc>
                <a:spcPts val="3240"/>
              </a:lnSpc>
            </a:pPr>
            <a:r>
              <a:rPr lang="en-US" sz="1800">
                <a:solidFill>
                  <a:srgbClr val="7030A0"/>
                </a:solidFill>
                <a:latin typeface="Public Sans"/>
                <a:ea typeface="Public Sans"/>
                <a:cs typeface="Public Sans"/>
                <a:sym typeface="Public Sans"/>
              </a:rPr>
              <a:t>Usuario, el cual  visualiza la transmisión e interactúa con el streamer a través del chat, contribuyendo a la dinámica de la transmisión y el asistente.</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2020" y="146805"/>
            <a:ext cx="18394680" cy="3651474"/>
            <a:chOff x="0" y="0"/>
            <a:chExt cx="24526240" cy="4868633"/>
          </a:xfrm>
        </p:grpSpPr>
        <p:sp>
          <p:nvSpPr>
            <p:cNvPr id="3" name="Freeform 3"/>
            <p:cNvSpPr/>
            <p:nvPr/>
          </p:nvSpPr>
          <p:spPr>
            <a:xfrm>
              <a:off x="0" y="0"/>
              <a:ext cx="24526239" cy="4868672"/>
            </a:xfrm>
            <a:custGeom>
              <a:avLst/>
              <a:gdLst/>
              <a:ahLst/>
              <a:cxnLst/>
              <a:rect l="l" t="t" r="r" b="b"/>
              <a:pathLst>
                <a:path w="24526239" h="4868672">
                  <a:moveTo>
                    <a:pt x="0" y="0"/>
                  </a:moveTo>
                  <a:lnTo>
                    <a:pt x="24526239" y="0"/>
                  </a:lnTo>
                  <a:lnTo>
                    <a:pt x="24526239" y="4868672"/>
                  </a:lnTo>
                  <a:lnTo>
                    <a:pt x="0" y="4868672"/>
                  </a:lnTo>
                  <a:lnTo>
                    <a:pt x="0" y="0"/>
                  </a:lnTo>
                  <a:close/>
                </a:path>
              </a:pathLst>
            </a:custGeom>
            <a:blipFill>
              <a:blip r:embed="rId3"/>
              <a:stretch>
                <a:fillRect t="-117851" b="-117851"/>
              </a:stretch>
            </a:blipFill>
          </p:spPr>
        </p:sp>
      </p:grpSp>
      <p:grpSp>
        <p:nvGrpSpPr>
          <p:cNvPr id="4" name="Group 4"/>
          <p:cNvGrpSpPr/>
          <p:nvPr/>
        </p:nvGrpSpPr>
        <p:grpSpPr>
          <a:xfrm>
            <a:off x="1849035" y="3798279"/>
            <a:ext cx="13922445" cy="551816"/>
            <a:chOff x="0" y="0"/>
            <a:chExt cx="18563260" cy="735754"/>
          </a:xfrm>
        </p:grpSpPr>
        <p:sp>
          <p:nvSpPr>
            <p:cNvPr id="5" name="Freeform 5"/>
            <p:cNvSpPr/>
            <p:nvPr/>
          </p:nvSpPr>
          <p:spPr>
            <a:xfrm>
              <a:off x="0" y="0"/>
              <a:ext cx="18563210" cy="735711"/>
            </a:xfrm>
            <a:custGeom>
              <a:avLst/>
              <a:gdLst/>
              <a:ahLst/>
              <a:cxnLst/>
              <a:rect l="l" t="t" r="r" b="b"/>
              <a:pathLst>
                <a:path w="18563210" h="735711">
                  <a:moveTo>
                    <a:pt x="0" y="0"/>
                  </a:moveTo>
                  <a:lnTo>
                    <a:pt x="18563210" y="0"/>
                  </a:lnTo>
                  <a:lnTo>
                    <a:pt x="18563210" y="735711"/>
                  </a:lnTo>
                  <a:lnTo>
                    <a:pt x="0" y="735711"/>
                  </a:lnTo>
                  <a:lnTo>
                    <a:pt x="0" y="0"/>
                  </a:lnTo>
                  <a:close/>
                </a:path>
              </a:pathLst>
            </a:custGeom>
            <a:blipFill>
              <a:blip r:embed="rId4">
                <a:alphaModFix amt="80000"/>
              </a:blip>
              <a:stretch>
                <a:fillRect t="-29852" b="-29858"/>
              </a:stretch>
            </a:blipFill>
          </p:spPr>
        </p:sp>
      </p:grpSp>
      <p:grpSp>
        <p:nvGrpSpPr>
          <p:cNvPr id="6" name="Group 6"/>
          <p:cNvGrpSpPr/>
          <p:nvPr/>
        </p:nvGrpSpPr>
        <p:grpSpPr>
          <a:xfrm>
            <a:off x="14491144" y="1248412"/>
            <a:ext cx="2796646" cy="2746539"/>
            <a:chOff x="0" y="0"/>
            <a:chExt cx="3728861" cy="3662052"/>
          </a:xfrm>
        </p:grpSpPr>
        <p:sp>
          <p:nvSpPr>
            <p:cNvPr id="7" name="Freeform 7"/>
            <p:cNvSpPr/>
            <p:nvPr/>
          </p:nvSpPr>
          <p:spPr>
            <a:xfrm>
              <a:off x="0" y="0"/>
              <a:ext cx="3728847" cy="3662045"/>
            </a:xfrm>
            <a:custGeom>
              <a:avLst/>
              <a:gdLst/>
              <a:ahLst/>
              <a:cxnLst/>
              <a:rect l="l" t="t" r="r" b="b"/>
              <a:pathLst>
                <a:path w="3728847" h="3662045">
                  <a:moveTo>
                    <a:pt x="0" y="0"/>
                  </a:moveTo>
                  <a:lnTo>
                    <a:pt x="3728847" y="0"/>
                  </a:lnTo>
                  <a:lnTo>
                    <a:pt x="3728847" y="3662045"/>
                  </a:lnTo>
                  <a:lnTo>
                    <a:pt x="0" y="3662045"/>
                  </a:lnTo>
                  <a:lnTo>
                    <a:pt x="0" y="0"/>
                  </a:lnTo>
                  <a:close/>
                </a:path>
              </a:pathLst>
            </a:custGeom>
            <a:blipFill>
              <a:blip r:embed="rId5"/>
              <a:stretch>
                <a:fillRect l="-16" r="-17"/>
              </a:stretch>
            </a:blipFill>
          </p:spPr>
        </p:sp>
      </p:grpSp>
      <p:grpSp>
        <p:nvGrpSpPr>
          <p:cNvPr id="8" name="Group 8"/>
          <p:cNvGrpSpPr/>
          <p:nvPr/>
        </p:nvGrpSpPr>
        <p:grpSpPr>
          <a:xfrm>
            <a:off x="13136585" y="342787"/>
            <a:ext cx="6690329" cy="1321340"/>
            <a:chOff x="0" y="0"/>
            <a:chExt cx="8920439" cy="1761787"/>
          </a:xfrm>
        </p:grpSpPr>
        <p:sp>
          <p:nvSpPr>
            <p:cNvPr id="9" name="Freeform 9"/>
            <p:cNvSpPr/>
            <p:nvPr/>
          </p:nvSpPr>
          <p:spPr>
            <a:xfrm flipH="1">
              <a:off x="0" y="0"/>
              <a:ext cx="8920480" cy="1761744"/>
            </a:xfrm>
            <a:custGeom>
              <a:avLst/>
              <a:gdLst/>
              <a:ahLst/>
              <a:cxnLst/>
              <a:rect l="l" t="t" r="r" b="b"/>
              <a:pathLst>
                <a:path w="8920480" h="1761744">
                  <a:moveTo>
                    <a:pt x="8920480" y="0"/>
                  </a:moveTo>
                  <a:lnTo>
                    <a:pt x="0" y="0"/>
                  </a:lnTo>
                  <a:lnTo>
                    <a:pt x="0" y="1761744"/>
                  </a:lnTo>
                  <a:lnTo>
                    <a:pt x="8920480" y="1761744"/>
                  </a:lnTo>
                  <a:lnTo>
                    <a:pt x="8920480" y="0"/>
                  </a:lnTo>
                  <a:close/>
                </a:path>
              </a:pathLst>
            </a:custGeom>
            <a:blipFill>
              <a:blip r:embed="rId6"/>
              <a:stretch>
                <a:fillRect l="-132" r="-132" b="-2"/>
              </a:stretch>
            </a:blipFill>
          </p:spPr>
        </p:sp>
      </p:grpSp>
      <p:sp>
        <p:nvSpPr>
          <p:cNvPr id="10" name="TextBox 10"/>
          <p:cNvSpPr txBox="1"/>
          <p:nvPr/>
        </p:nvSpPr>
        <p:spPr>
          <a:xfrm>
            <a:off x="1026237" y="227257"/>
            <a:ext cx="14453584" cy="1368647"/>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Meta del Proyecto APT</a:t>
            </a:r>
          </a:p>
        </p:txBody>
      </p:sp>
      <p:sp>
        <p:nvSpPr>
          <p:cNvPr id="11" name="TextBox 11"/>
          <p:cNvSpPr txBox="1"/>
          <p:nvPr/>
        </p:nvSpPr>
        <p:spPr>
          <a:xfrm>
            <a:off x="15479821" y="6052406"/>
            <a:ext cx="2732839" cy="456875"/>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a:t>
            </a:r>
          </a:p>
        </p:txBody>
      </p:sp>
      <p:pic>
        <p:nvPicPr>
          <p:cNvPr id="12" name="Picture 12"/>
          <p:cNvPicPr>
            <a:picLocks noChangeAspect="1"/>
          </p:cNvPicPr>
          <p:nvPr/>
        </p:nvPicPr>
        <p:blipFill>
          <a:blip r:embed="rId7"/>
          <a:stretch>
            <a:fillRect/>
          </a:stretch>
        </p:blipFill>
        <p:spPr>
          <a:xfrm>
            <a:off x="417514" y="3293916"/>
            <a:ext cx="8014513" cy="7094552"/>
          </a:xfrm>
          <a:prstGeom prst="rect">
            <a:avLst/>
          </a:prstGeom>
        </p:spPr>
      </p:pic>
      <p:sp>
        <p:nvSpPr>
          <p:cNvPr id="13" name="TextBox 13"/>
          <p:cNvSpPr txBox="1"/>
          <p:nvPr/>
        </p:nvSpPr>
        <p:spPr>
          <a:xfrm>
            <a:off x="8546211" y="4223302"/>
            <a:ext cx="9180748" cy="2855508"/>
          </a:xfrm>
          <a:prstGeom prst="rect">
            <a:avLst/>
          </a:prstGeom>
        </p:spPr>
        <p:txBody>
          <a:bodyPr lIns="0" tIns="0" rIns="0" bIns="0" rtlCol="0" anchor="t">
            <a:spAutoFit/>
          </a:bodyPr>
          <a:lstStyle/>
          <a:p>
            <a:pPr algn="just">
              <a:lnSpc>
                <a:spcPts val="4320"/>
              </a:lnSpc>
            </a:pPr>
            <a:r>
              <a:rPr lang="en-US" sz="2400">
                <a:solidFill>
                  <a:srgbClr val="7030A0"/>
                </a:solidFill>
                <a:latin typeface="Public Sans"/>
                <a:ea typeface="Public Sans"/>
                <a:cs typeface="Public Sans"/>
                <a:sym typeface="Public Sans"/>
              </a:rPr>
              <a:t>Con el proyecto APT se busca incrementar en más de un 20% la calidad e interacción de las transmisiones en vivo, pasando de un 40% ofrecido por las soluciones actuales a un 60% garantizado, asegurando experiencias más dinámicas, fluidas y participativas para los espectadores.</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9235" b="-9235"/>
              </a:stretch>
            </a:blipFill>
          </p:spPr>
        </p:sp>
      </p:grpSp>
      <p:grpSp>
        <p:nvGrpSpPr>
          <p:cNvPr id="4" name="Group 4"/>
          <p:cNvGrpSpPr/>
          <p:nvPr/>
        </p:nvGrpSpPr>
        <p:grpSpPr>
          <a:xfrm rot="2700000">
            <a:off x="-1003068" y="5792767"/>
            <a:ext cx="9571075" cy="8163329"/>
            <a:chOff x="0" y="0"/>
            <a:chExt cx="12761433" cy="10884439"/>
          </a:xfrm>
        </p:grpSpPr>
        <p:sp>
          <p:nvSpPr>
            <p:cNvPr id="5" name="Freeform 5"/>
            <p:cNvSpPr/>
            <p:nvPr/>
          </p:nvSpPr>
          <p:spPr>
            <a:xfrm>
              <a:off x="0" y="0"/>
              <a:ext cx="12761468" cy="10884408"/>
            </a:xfrm>
            <a:custGeom>
              <a:avLst/>
              <a:gdLst/>
              <a:ahLst/>
              <a:cxnLst/>
              <a:rect l="l" t="t" r="r" b="b"/>
              <a:pathLst>
                <a:path w="12761468" h="10884408">
                  <a:moveTo>
                    <a:pt x="0" y="0"/>
                  </a:moveTo>
                  <a:lnTo>
                    <a:pt x="12761468" y="0"/>
                  </a:lnTo>
                  <a:lnTo>
                    <a:pt x="12761468" y="10884408"/>
                  </a:lnTo>
                  <a:lnTo>
                    <a:pt x="0" y="10884408"/>
                  </a:lnTo>
                  <a:lnTo>
                    <a:pt x="0" y="0"/>
                  </a:lnTo>
                  <a:close/>
                </a:path>
              </a:pathLst>
            </a:custGeom>
            <a:blipFill>
              <a:blip r:embed="rId4">
                <a:alphaModFix amt="19999"/>
              </a:blip>
              <a:stretch>
                <a:fillRect l="-2" r="-2"/>
              </a:stretch>
            </a:blipFill>
          </p:spPr>
        </p:sp>
      </p:grpSp>
      <p:grpSp>
        <p:nvGrpSpPr>
          <p:cNvPr id="6" name="Group 6"/>
          <p:cNvGrpSpPr/>
          <p:nvPr/>
        </p:nvGrpSpPr>
        <p:grpSpPr>
          <a:xfrm>
            <a:off x="9437446" y="1028700"/>
            <a:ext cx="9711503" cy="9258300"/>
            <a:chOff x="0" y="0"/>
            <a:chExt cx="12948671" cy="12344400"/>
          </a:xfrm>
        </p:grpSpPr>
        <p:sp>
          <p:nvSpPr>
            <p:cNvPr id="7" name="Freeform 7"/>
            <p:cNvSpPr/>
            <p:nvPr/>
          </p:nvSpPr>
          <p:spPr>
            <a:xfrm>
              <a:off x="0" y="0"/>
              <a:ext cx="12948666" cy="12344400"/>
            </a:xfrm>
            <a:custGeom>
              <a:avLst/>
              <a:gdLst/>
              <a:ahLst/>
              <a:cxnLst/>
              <a:rect l="l" t="t" r="r" b="b"/>
              <a:pathLst>
                <a:path w="12948666" h="12344400">
                  <a:moveTo>
                    <a:pt x="0" y="0"/>
                  </a:moveTo>
                  <a:lnTo>
                    <a:pt x="12948666" y="0"/>
                  </a:lnTo>
                  <a:lnTo>
                    <a:pt x="12948666" y="12344400"/>
                  </a:lnTo>
                  <a:lnTo>
                    <a:pt x="0" y="12344400"/>
                  </a:lnTo>
                  <a:lnTo>
                    <a:pt x="0" y="0"/>
                  </a:lnTo>
                  <a:close/>
                </a:path>
              </a:pathLst>
            </a:custGeom>
            <a:blipFill>
              <a:blip r:embed="rId5"/>
              <a:stretch>
                <a:fillRect l="-9" r="-9"/>
              </a:stretch>
            </a:blipFill>
          </p:spPr>
        </p:sp>
      </p:grpSp>
      <p:grpSp>
        <p:nvGrpSpPr>
          <p:cNvPr id="8" name="Group 8"/>
          <p:cNvGrpSpPr/>
          <p:nvPr/>
        </p:nvGrpSpPr>
        <p:grpSpPr>
          <a:xfrm>
            <a:off x="13077592" y="1028700"/>
            <a:ext cx="6690329" cy="1321340"/>
            <a:chOff x="0" y="0"/>
            <a:chExt cx="8920439" cy="1761787"/>
          </a:xfrm>
        </p:grpSpPr>
        <p:sp>
          <p:nvSpPr>
            <p:cNvPr id="9" name="Freeform 9"/>
            <p:cNvSpPr/>
            <p:nvPr/>
          </p:nvSpPr>
          <p:spPr>
            <a:xfrm flipH="1">
              <a:off x="0" y="0"/>
              <a:ext cx="8920480" cy="1761744"/>
            </a:xfrm>
            <a:custGeom>
              <a:avLst/>
              <a:gdLst/>
              <a:ahLst/>
              <a:cxnLst/>
              <a:rect l="l" t="t" r="r" b="b"/>
              <a:pathLst>
                <a:path w="8920480" h="1761744">
                  <a:moveTo>
                    <a:pt x="8920480" y="0"/>
                  </a:moveTo>
                  <a:lnTo>
                    <a:pt x="0" y="0"/>
                  </a:lnTo>
                  <a:lnTo>
                    <a:pt x="0" y="1761744"/>
                  </a:lnTo>
                  <a:lnTo>
                    <a:pt x="8920480" y="1761744"/>
                  </a:lnTo>
                  <a:lnTo>
                    <a:pt x="8920480" y="0"/>
                  </a:lnTo>
                  <a:close/>
                </a:path>
              </a:pathLst>
            </a:custGeom>
            <a:blipFill>
              <a:blip r:embed="rId6"/>
              <a:stretch>
                <a:fillRect l="-132" r="-132" b="-2"/>
              </a:stretch>
            </a:blipFill>
          </p:spPr>
        </p:sp>
      </p:grpSp>
      <p:sp>
        <p:nvSpPr>
          <p:cNvPr id="10" name="AutoShape 10"/>
          <p:cNvSpPr/>
          <p:nvPr/>
        </p:nvSpPr>
        <p:spPr>
          <a:xfrm rot="20909">
            <a:off x="1009592" y="1546759"/>
            <a:ext cx="6264026" cy="0"/>
          </a:xfrm>
          <a:prstGeom prst="line">
            <a:avLst/>
          </a:prstGeom>
          <a:ln w="28575" cap="rnd">
            <a:solidFill>
              <a:srgbClr val="FFFFFF"/>
            </a:solidFill>
            <a:prstDash val="solid"/>
            <a:headEnd type="oval" w="lg" len="lg"/>
            <a:tailEnd type="oval" w="lg" len="lg"/>
          </a:ln>
        </p:spPr>
      </p:sp>
      <p:sp>
        <p:nvSpPr>
          <p:cNvPr id="11" name="TextBox 11"/>
          <p:cNvSpPr txBox="1"/>
          <p:nvPr/>
        </p:nvSpPr>
        <p:spPr>
          <a:xfrm>
            <a:off x="1028700" y="714309"/>
            <a:ext cx="4955072" cy="765775"/>
          </a:xfrm>
          <a:prstGeom prst="rect">
            <a:avLst/>
          </a:prstGeom>
        </p:spPr>
        <p:txBody>
          <a:bodyPr lIns="0" tIns="0" rIns="0" bIns="0" rtlCol="0" anchor="t">
            <a:spAutoFit/>
          </a:bodyPr>
          <a:lstStyle/>
          <a:p>
            <a:pPr algn="l">
              <a:lnSpc>
                <a:spcPts val="5547"/>
              </a:lnSpc>
            </a:pPr>
            <a:r>
              <a:rPr lang="en-US" sz="3001">
                <a:solidFill>
                  <a:srgbClr val="FFFFFF"/>
                </a:solidFill>
                <a:latin typeface="Public Sans"/>
                <a:ea typeface="Public Sans"/>
                <a:cs typeface="Public Sans"/>
                <a:sym typeface="Public Sans"/>
              </a:rPr>
              <a:t>Objetivos del Proyecto</a:t>
            </a:r>
          </a:p>
        </p:txBody>
      </p:sp>
      <p:sp>
        <p:nvSpPr>
          <p:cNvPr id="12" name="TextBox 12"/>
          <p:cNvSpPr txBox="1"/>
          <p:nvPr/>
        </p:nvSpPr>
        <p:spPr>
          <a:xfrm>
            <a:off x="1028700" y="4215541"/>
            <a:ext cx="7313128" cy="6137196"/>
          </a:xfrm>
          <a:prstGeom prst="rect">
            <a:avLst/>
          </a:prstGeom>
        </p:spPr>
        <p:txBody>
          <a:bodyPr lIns="0" tIns="0" rIns="0" bIns="0" rtlCol="0" anchor="t">
            <a:spAutoFit/>
          </a:bodyPr>
          <a:lstStyle/>
          <a:p>
            <a:pPr algn="l">
              <a:lnSpc>
                <a:spcPts val="3360"/>
              </a:lnSpc>
            </a:pPr>
            <a:r>
              <a:rPr lang="en-US" sz="2000" b="1">
                <a:solidFill>
                  <a:srgbClr val="FFFFFF"/>
                </a:solidFill>
                <a:latin typeface="Public Sans Bold"/>
                <a:ea typeface="Public Sans Bold"/>
                <a:cs typeface="Public Sans Bold"/>
                <a:sym typeface="Public Sans Bold"/>
              </a:rPr>
              <a:t>Objetivos Específicos:</a:t>
            </a:r>
          </a:p>
          <a:p>
            <a:pPr algn="l">
              <a:lnSpc>
                <a:spcPts val="3360"/>
              </a:lnSpc>
            </a:pPr>
            <a:endParaRPr lang="en-US" sz="2000" b="1">
              <a:solidFill>
                <a:srgbClr val="FFFFFF"/>
              </a:solidFill>
              <a:latin typeface="Public Sans Bold"/>
              <a:ea typeface="Public Sans Bold"/>
              <a:cs typeface="Public Sans Bold"/>
              <a:sym typeface="Public Sans Bold"/>
            </a:endParaRPr>
          </a:p>
          <a:p>
            <a:pPr marL="457204" lvl="2" indent="-152401" algn="l">
              <a:lnSpc>
                <a:spcPts val="3360"/>
              </a:lnSpc>
              <a:buFont typeface="Arial"/>
              <a:buChar char="⚬"/>
            </a:pPr>
            <a:r>
              <a:rPr lang="en-US" sz="2000">
                <a:solidFill>
                  <a:srgbClr val="FFFFFF"/>
                </a:solidFill>
                <a:latin typeface="Public Sans"/>
                <a:ea typeface="Public Sans"/>
                <a:cs typeface="Public Sans"/>
                <a:sym typeface="Public Sans"/>
              </a:rPr>
              <a:t>Crear un producto mínimo viable (PMV).</a:t>
            </a:r>
          </a:p>
          <a:p>
            <a:pPr marL="457204" lvl="2" indent="-152401" algn="l">
              <a:lnSpc>
                <a:spcPts val="3360"/>
              </a:lnSpc>
            </a:pPr>
            <a:endParaRPr lang="en-US" sz="2000">
              <a:solidFill>
                <a:srgbClr val="FFFFFF"/>
              </a:solidFill>
              <a:latin typeface="Public Sans"/>
              <a:ea typeface="Public Sans"/>
              <a:cs typeface="Public Sans"/>
              <a:sym typeface="Public Sans"/>
            </a:endParaRPr>
          </a:p>
          <a:p>
            <a:pPr marL="457204" lvl="2" indent="-152401" algn="l">
              <a:lnSpc>
                <a:spcPts val="3360"/>
              </a:lnSpc>
              <a:buFont typeface="Arial"/>
              <a:buChar char="⚬"/>
            </a:pPr>
            <a:r>
              <a:rPr lang="en-US" sz="2000">
                <a:solidFill>
                  <a:srgbClr val="FFFFFF"/>
                </a:solidFill>
                <a:latin typeface="Public Sans"/>
                <a:ea typeface="Public Sans"/>
                <a:cs typeface="Public Sans"/>
                <a:sym typeface="Public Sans"/>
              </a:rPr>
              <a:t>Integrar las APIs de Gemini y ElevenLabs.</a:t>
            </a:r>
          </a:p>
          <a:p>
            <a:pPr marL="457204" lvl="2" indent="-152401" algn="l">
              <a:lnSpc>
                <a:spcPts val="3360"/>
              </a:lnSpc>
            </a:pPr>
            <a:endParaRPr lang="en-US" sz="2000">
              <a:solidFill>
                <a:srgbClr val="FFFFFF"/>
              </a:solidFill>
              <a:latin typeface="Public Sans"/>
              <a:ea typeface="Public Sans"/>
              <a:cs typeface="Public Sans"/>
              <a:sym typeface="Public Sans"/>
            </a:endParaRPr>
          </a:p>
          <a:p>
            <a:pPr marL="457204" lvl="2" indent="-152401" algn="l">
              <a:lnSpc>
                <a:spcPts val="3360"/>
              </a:lnSpc>
              <a:buFont typeface="Arial"/>
              <a:buChar char="⚬"/>
            </a:pPr>
            <a:r>
              <a:rPr lang="en-US" sz="2000">
                <a:solidFill>
                  <a:srgbClr val="FFFFFF"/>
                </a:solidFill>
                <a:latin typeface="Public Sans"/>
                <a:ea typeface="Public Sans"/>
                <a:cs typeface="Public Sans"/>
                <a:sym typeface="Public Sans"/>
              </a:rPr>
              <a:t>Implementar salida de audio virtual.</a:t>
            </a:r>
          </a:p>
          <a:p>
            <a:pPr marL="457204" lvl="2" indent="-152401" algn="l">
              <a:lnSpc>
                <a:spcPts val="3360"/>
              </a:lnSpc>
            </a:pPr>
            <a:endParaRPr lang="en-US" sz="2000">
              <a:solidFill>
                <a:srgbClr val="FFFFFF"/>
              </a:solidFill>
              <a:latin typeface="Public Sans"/>
              <a:ea typeface="Public Sans"/>
              <a:cs typeface="Public Sans"/>
              <a:sym typeface="Public Sans"/>
            </a:endParaRPr>
          </a:p>
          <a:p>
            <a:pPr marL="457204" lvl="2" indent="-152401" algn="l">
              <a:lnSpc>
                <a:spcPts val="3360"/>
              </a:lnSpc>
              <a:buFont typeface="Arial"/>
              <a:buChar char="⚬"/>
            </a:pPr>
            <a:r>
              <a:rPr lang="en-US" sz="2000">
                <a:solidFill>
                  <a:srgbClr val="FFFFFF"/>
                </a:solidFill>
                <a:latin typeface="Public Sans"/>
                <a:ea typeface="Public Sans"/>
                <a:cs typeface="Public Sans"/>
                <a:sym typeface="Public Sans"/>
              </a:rPr>
              <a:t>Diseñar una aplicación de escritorio para la configuración del asistente.</a:t>
            </a:r>
          </a:p>
          <a:p>
            <a:pPr marL="457204" lvl="2" indent="-152401" algn="l">
              <a:lnSpc>
                <a:spcPts val="3360"/>
              </a:lnSpc>
            </a:pPr>
            <a:endParaRPr lang="en-US" sz="2000">
              <a:solidFill>
                <a:srgbClr val="FFFFFF"/>
              </a:solidFill>
              <a:latin typeface="Public Sans"/>
              <a:ea typeface="Public Sans"/>
              <a:cs typeface="Public Sans"/>
              <a:sym typeface="Public Sans"/>
            </a:endParaRPr>
          </a:p>
          <a:p>
            <a:pPr marL="457204" lvl="2" indent="-152401" algn="l">
              <a:lnSpc>
                <a:spcPts val="3360"/>
              </a:lnSpc>
              <a:buFont typeface="Arial"/>
              <a:buChar char="⚬"/>
            </a:pPr>
            <a:r>
              <a:rPr lang="en-US" sz="2000">
                <a:solidFill>
                  <a:srgbClr val="FFFFFF"/>
                </a:solidFill>
                <a:latin typeface="Public Sans"/>
                <a:ea typeface="Public Sans"/>
                <a:cs typeface="Public Sans"/>
                <a:sym typeface="Public Sans"/>
              </a:rPr>
              <a:t>Incorporar una base de datos para almacenar interacciones.</a:t>
            </a:r>
          </a:p>
          <a:p>
            <a:pPr marL="457204" lvl="2" indent="-152401" algn="l">
              <a:lnSpc>
                <a:spcPts val="3360"/>
              </a:lnSpc>
            </a:pPr>
            <a:endParaRPr lang="en-US" sz="2000">
              <a:solidFill>
                <a:srgbClr val="FFFFFF"/>
              </a:solidFill>
              <a:latin typeface="Public Sans"/>
              <a:ea typeface="Public Sans"/>
              <a:cs typeface="Public Sans"/>
              <a:sym typeface="Public Sans"/>
            </a:endParaRPr>
          </a:p>
        </p:txBody>
      </p:sp>
      <p:sp>
        <p:nvSpPr>
          <p:cNvPr id="13" name="TextBox 13"/>
          <p:cNvSpPr txBox="1"/>
          <p:nvPr/>
        </p:nvSpPr>
        <p:spPr>
          <a:xfrm>
            <a:off x="1028700" y="1884423"/>
            <a:ext cx="8115300" cy="1796150"/>
          </a:xfrm>
          <a:prstGeom prst="rect">
            <a:avLst/>
          </a:prstGeom>
        </p:spPr>
        <p:txBody>
          <a:bodyPr lIns="0" tIns="0" rIns="0" bIns="0" rtlCol="0" anchor="t">
            <a:spAutoFit/>
          </a:bodyPr>
          <a:lstStyle/>
          <a:p>
            <a:pPr algn="l">
              <a:lnSpc>
                <a:spcPts val="4032"/>
              </a:lnSpc>
            </a:pPr>
            <a:r>
              <a:rPr lang="en-US" sz="2400" b="1">
                <a:solidFill>
                  <a:srgbClr val="FFFFFF"/>
                </a:solidFill>
                <a:latin typeface="Public Sans Bold"/>
                <a:ea typeface="Public Sans Bold"/>
                <a:cs typeface="Public Sans Bold"/>
                <a:sym typeface="Public Sans Bold"/>
              </a:rPr>
              <a:t>Objetivo General:</a:t>
            </a:r>
          </a:p>
          <a:p>
            <a:pPr algn="just">
              <a:lnSpc>
                <a:spcPts val="4032"/>
              </a:lnSpc>
            </a:pPr>
            <a:r>
              <a:rPr lang="en-US" sz="2400">
                <a:solidFill>
                  <a:srgbClr val="FFFFFF"/>
                </a:solidFill>
                <a:latin typeface="Public Sans Thin"/>
                <a:ea typeface="Public Sans Thin"/>
                <a:cs typeface="Public Sans Thin"/>
                <a:sym typeface="Public Sans Thin"/>
              </a:rPr>
              <a:t>Desarrollar un asistente virtual que mejore la interacción entre streamer y espectadores mediante voz e inteligencia artificial.</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 y="0"/>
            <a:ext cx="18394680" cy="4994990"/>
            <a:chOff x="0" y="0"/>
            <a:chExt cx="24526240" cy="6659987"/>
          </a:xfrm>
        </p:grpSpPr>
        <p:sp>
          <p:nvSpPr>
            <p:cNvPr id="3" name="Freeform 3"/>
            <p:cNvSpPr/>
            <p:nvPr/>
          </p:nvSpPr>
          <p:spPr>
            <a:xfrm>
              <a:off x="0" y="0"/>
              <a:ext cx="24526239" cy="6660007"/>
            </a:xfrm>
            <a:custGeom>
              <a:avLst/>
              <a:gdLst/>
              <a:ahLst/>
              <a:cxnLst/>
              <a:rect l="l" t="t" r="r" b="b"/>
              <a:pathLst>
                <a:path w="24526239" h="6660007">
                  <a:moveTo>
                    <a:pt x="0" y="0"/>
                  </a:moveTo>
                  <a:lnTo>
                    <a:pt x="24526239" y="0"/>
                  </a:lnTo>
                  <a:lnTo>
                    <a:pt x="24526239" y="6660007"/>
                  </a:lnTo>
                  <a:lnTo>
                    <a:pt x="0" y="6660007"/>
                  </a:lnTo>
                  <a:lnTo>
                    <a:pt x="0" y="0"/>
                  </a:lnTo>
                  <a:close/>
                </a:path>
              </a:pathLst>
            </a:custGeom>
            <a:blipFill>
              <a:blip r:embed="rId3"/>
              <a:stretch>
                <a:fillRect t="-72704" b="-72704"/>
              </a:stretch>
            </a:blipFill>
          </p:spPr>
        </p:sp>
      </p:grpSp>
      <p:grpSp>
        <p:nvGrpSpPr>
          <p:cNvPr id="4" name="Group 4"/>
          <p:cNvGrpSpPr/>
          <p:nvPr/>
        </p:nvGrpSpPr>
        <p:grpSpPr>
          <a:xfrm>
            <a:off x="2031157" y="4994990"/>
            <a:ext cx="13922445" cy="754850"/>
            <a:chOff x="0" y="0"/>
            <a:chExt cx="18563260" cy="1006466"/>
          </a:xfrm>
        </p:grpSpPr>
        <p:sp>
          <p:nvSpPr>
            <p:cNvPr id="5" name="Freeform 5"/>
            <p:cNvSpPr/>
            <p:nvPr/>
          </p:nvSpPr>
          <p:spPr>
            <a:xfrm>
              <a:off x="0" y="0"/>
              <a:ext cx="18563210" cy="1006475"/>
            </a:xfrm>
            <a:custGeom>
              <a:avLst/>
              <a:gdLst/>
              <a:ahLst/>
              <a:cxnLst/>
              <a:rect l="l" t="t" r="r" b="b"/>
              <a:pathLst>
                <a:path w="18563210" h="1006475">
                  <a:moveTo>
                    <a:pt x="0" y="0"/>
                  </a:moveTo>
                  <a:lnTo>
                    <a:pt x="18563210" y="0"/>
                  </a:lnTo>
                  <a:lnTo>
                    <a:pt x="18563210" y="1006475"/>
                  </a:lnTo>
                  <a:lnTo>
                    <a:pt x="0" y="1006475"/>
                  </a:lnTo>
                  <a:lnTo>
                    <a:pt x="0" y="0"/>
                  </a:lnTo>
                  <a:close/>
                </a:path>
              </a:pathLst>
            </a:custGeom>
            <a:blipFill>
              <a:blip r:embed="rId4">
                <a:alphaModFix amt="80000"/>
              </a:blip>
              <a:stretch>
                <a:fillRect t="-8373" b="-8372"/>
              </a:stretch>
            </a:blipFill>
          </p:spPr>
        </p:sp>
      </p:grpSp>
      <p:sp>
        <p:nvSpPr>
          <p:cNvPr id="6" name="AutoShape 6"/>
          <p:cNvSpPr/>
          <p:nvPr/>
        </p:nvSpPr>
        <p:spPr>
          <a:xfrm rot="8595">
            <a:off x="1558023" y="5740315"/>
            <a:ext cx="15238191" cy="0"/>
          </a:xfrm>
          <a:prstGeom prst="line">
            <a:avLst/>
          </a:prstGeom>
          <a:ln w="28575" cap="rnd">
            <a:solidFill>
              <a:srgbClr val="311581"/>
            </a:solidFill>
            <a:prstDash val="solid"/>
            <a:headEnd type="none" w="sm" len="sm"/>
            <a:tailEnd type="none" w="sm" len="sm"/>
          </a:ln>
        </p:spPr>
      </p:sp>
      <p:sp>
        <p:nvSpPr>
          <p:cNvPr id="7" name="Freeform 7"/>
          <p:cNvSpPr/>
          <p:nvPr/>
        </p:nvSpPr>
        <p:spPr>
          <a:xfrm>
            <a:off x="1374256" y="5509340"/>
            <a:ext cx="306912" cy="306912"/>
          </a:xfrm>
          <a:custGeom>
            <a:avLst/>
            <a:gdLst/>
            <a:ahLst/>
            <a:cxnLst/>
            <a:rect l="l" t="t" r="r" b="b"/>
            <a:pathLst>
              <a:path w="306912" h="306912">
                <a:moveTo>
                  <a:pt x="0" y="0"/>
                </a:moveTo>
                <a:lnTo>
                  <a:pt x="306912" y="0"/>
                </a:lnTo>
                <a:lnTo>
                  <a:pt x="306912" y="306912"/>
                </a:lnTo>
                <a:lnTo>
                  <a:pt x="0" y="30691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Freeform 8"/>
          <p:cNvSpPr/>
          <p:nvPr/>
        </p:nvSpPr>
        <p:spPr>
          <a:xfrm>
            <a:off x="4528942" y="5509340"/>
            <a:ext cx="306912" cy="306912"/>
          </a:xfrm>
          <a:custGeom>
            <a:avLst/>
            <a:gdLst/>
            <a:ahLst/>
            <a:cxnLst/>
            <a:rect l="l" t="t" r="r" b="b"/>
            <a:pathLst>
              <a:path w="306912" h="306912">
                <a:moveTo>
                  <a:pt x="0" y="0"/>
                </a:moveTo>
                <a:lnTo>
                  <a:pt x="306912" y="0"/>
                </a:lnTo>
                <a:lnTo>
                  <a:pt x="306912" y="306912"/>
                </a:lnTo>
                <a:lnTo>
                  <a:pt x="0" y="30691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9" name="Freeform 9"/>
          <p:cNvSpPr/>
          <p:nvPr/>
        </p:nvSpPr>
        <p:spPr>
          <a:xfrm>
            <a:off x="8430619" y="5509340"/>
            <a:ext cx="306912" cy="306912"/>
          </a:xfrm>
          <a:custGeom>
            <a:avLst/>
            <a:gdLst/>
            <a:ahLst/>
            <a:cxnLst/>
            <a:rect l="l" t="t" r="r" b="b"/>
            <a:pathLst>
              <a:path w="306912" h="306912">
                <a:moveTo>
                  <a:pt x="0" y="0"/>
                </a:moveTo>
                <a:lnTo>
                  <a:pt x="306912" y="0"/>
                </a:lnTo>
                <a:lnTo>
                  <a:pt x="306912" y="306912"/>
                </a:lnTo>
                <a:lnTo>
                  <a:pt x="0" y="30691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0" name="Freeform 10"/>
          <p:cNvSpPr/>
          <p:nvPr/>
        </p:nvSpPr>
        <p:spPr>
          <a:xfrm>
            <a:off x="13431136" y="5509340"/>
            <a:ext cx="306912" cy="306912"/>
          </a:xfrm>
          <a:custGeom>
            <a:avLst/>
            <a:gdLst/>
            <a:ahLst/>
            <a:cxnLst/>
            <a:rect l="l" t="t" r="r" b="b"/>
            <a:pathLst>
              <a:path w="306912" h="306912">
                <a:moveTo>
                  <a:pt x="0" y="0"/>
                </a:moveTo>
                <a:lnTo>
                  <a:pt x="306912" y="0"/>
                </a:lnTo>
                <a:lnTo>
                  <a:pt x="306912" y="306912"/>
                </a:lnTo>
                <a:lnTo>
                  <a:pt x="0" y="30691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4494558" y="2762801"/>
            <a:ext cx="2796646" cy="2746539"/>
            <a:chOff x="0" y="0"/>
            <a:chExt cx="3728861" cy="3662052"/>
          </a:xfrm>
        </p:grpSpPr>
        <p:sp>
          <p:nvSpPr>
            <p:cNvPr id="12" name="Freeform 12"/>
            <p:cNvSpPr/>
            <p:nvPr/>
          </p:nvSpPr>
          <p:spPr>
            <a:xfrm>
              <a:off x="0" y="0"/>
              <a:ext cx="3728847" cy="3662045"/>
            </a:xfrm>
            <a:custGeom>
              <a:avLst/>
              <a:gdLst/>
              <a:ahLst/>
              <a:cxnLst/>
              <a:rect l="l" t="t" r="r" b="b"/>
              <a:pathLst>
                <a:path w="3728847" h="3662045">
                  <a:moveTo>
                    <a:pt x="0" y="0"/>
                  </a:moveTo>
                  <a:lnTo>
                    <a:pt x="3728847" y="0"/>
                  </a:lnTo>
                  <a:lnTo>
                    <a:pt x="3728847" y="3662045"/>
                  </a:lnTo>
                  <a:lnTo>
                    <a:pt x="0" y="3662045"/>
                  </a:lnTo>
                  <a:lnTo>
                    <a:pt x="0" y="0"/>
                  </a:lnTo>
                  <a:close/>
                </a:path>
              </a:pathLst>
            </a:custGeom>
            <a:blipFill>
              <a:blip r:embed="rId7"/>
              <a:stretch>
                <a:fillRect l="-16" r="-17"/>
              </a:stretch>
            </a:blipFill>
          </p:spPr>
        </p:sp>
      </p:grpSp>
      <p:grpSp>
        <p:nvGrpSpPr>
          <p:cNvPr id="13" name="Group 13"/>
          <p:cNvGrpSpPr/>
          <p:nvPr/>
        </p:nvGrpSpPr>
        <p:grpSpPr>
          <a:xfrm>
            <a:off x="13077592" y="1028700"/>
            <a:ext cx="6690329" cy="1321340"/>
            <a:chOff x="0" y="0"/>
            <a:chExt cx="8920439" cy="1761787"/>
          </a:xfrm>
        </p:grpSpPr>
        <p:sp>
          <p:nvSpPr>
            <p:cNvPr id="14" name="Freeform 14"/>
            <p:cNvSpPr/>
            <p:nvPr/>
          </p:nvSpPr>
          <p:spPr>
            <a:xfrm flipH="1">
              <a:off x="0" y="0"/>
              <a:ext cx="8920480" cy="1761744"/>
            </a:xfrm>
            <a:custGeom>
              <a:avLst/>
              <a:gdLst/>
              <a:ahLst/>
              <a:cxnLst/>
              <a:rect l="l" t="t" r="r" b="b"/>
              <a:pathLst>
                <a:path w="8920480" h="1761744">
                  <a:moveTo>
                    <a:pt x="8920480" y="0"/>
                  </a:moveTo>
                  <a:lnTo>
                    <a:pt x="0" y="0"/>
                  </a:lnTo>
                  <a:lnTo>
                    <a:pt x="0" y="1761744"/>
                  </a:lnTo>
                  <a:lnTo>
                    <a:pt x="8920480" y="1761744"/>
                  </a:lnTo>
                  <a:lnTo>
                    <a:pt x="8920480" y="0"/>
                  </a:lnTo>
                  <a:close/>
                </a:path>
              </a:pathLst>
            </a:custGeom>
            <a:blipFill>
              <a:blip r:embed="rId8"/>
              <a:stretch>
                <a:fillRect l="-132" r="-132" b="-2"/>
              </a:stretch>
            </a:blipFill>
          </p:spPr>
        </p:sp>
      </p:grpSp>
      <p:sp>
        <p:nvSpPr>
          <p:cNvPr id="15" name="Freeform 15"/>
          <p:cNvSpPr/>
          <p:nvPr/>
        </p:nvSpPr>
        <p:spPr>
          <a:xfrm>
            <a:off x="16539329" y="5552862"/>
            <a:ext cx="306912" cy="306912"/>
          </a:xfrm>
          <a:custGeom>
            <a:avLst/>
            <a:gdLst/>
            <a:ahLst/>
            <a:cxnLst/>
            <a:rect l="l" t="t" r="r" b="b"/>
            <a:pathLst>
              <a:path w="306912" h="306912">
                <a:moveTo>
                  <a:pt x="0" y="0"/>
                </a:moveTo>
                <a:lnTo>
                  <a:pt x="306912" y="0"/>
                </a:lnTo>
                <a:lnTo>
                  <a:pt x="306912" y="306912"/>
                </a:lnTo>
                <a:lnTo>
                  <a:pt x="0" y="30691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1211886" y="7788614"/>
            <a:ext cx="631653" cy="631653"/>
            <a:chOff x="0" y="0"/>
            <a:chExt cx="842204" cy="842204"/>
          </a:xfrm>
        </p:grpSpPr>
        <p:sp>
          <p:nvSpPr>
            <p:cNvPr id="17" name="Freeform 17"/>
            <p:cNvSpPr/>
            <p:nvPr/>
          </p:nvSpPr>
          <p:spPr>
            <a:xfrm>
              <a:off x="0" y="0"/>
              <a:ext cx="842264" cy="842264"/>
            </a:xfrm>
            <a:custGeom>
              <a:avLst/>
              <a:gdLst/>
              <a:ahLst/>
              <a:cxnLst/>
              <a:rect l="l" t="t" r="r" b="b"/>
              <a:pathLst>
                <a:path w="842264" h="842264">
                  <a:moveTo>
                    <a:pt x="0" y="0"/>
                  </a:moveTo>
                  <a:lnTo>
                    <a:pt x="842264" y="0"/>
                  </a:lnTo>
                  <a:lnTo>
                    <a:pt x="842264" y="842264"/>
                  </a:lnTo>
                  <a:lnTo>
                    <a:pt x="0" y="842264"/>
                  </a:lnTo>
                  <a:lnTo>
                    <a:pt x="0" y="0"/>
                  </a:lnTo>
                  <a:close/>
                </a:path>
              </a:pathLst>
            </a:custGeom>
            <a:blipFill>
              <a:blip r:embed="rId9"/>
              <a:stretch>
                <a:fillRect r="7" b="7"/>
              </a:stretch>
            </a:blipFill>
          </p:spPr>
        </p:sp>
      </p:grpSp>
      <p:grpSp>
        <p:nvGrpSpPr>
          <p:cNvPr id="18" name="Group 18"/>
          <p:cNvGrpSpPr/>
          <p:nvPr/>
        </p:nvGrpSpPr>
        <p:grpSpPr>
          <a:xfrm>
            <a:off x="981171" y="7557900"/>
            <a:ext cx="1093081" cy="1093081"/>
            <a:chOff x="0" y="0"/>
            <a:chExt cx="1457441" cy="1457441"/>
          </a:xfrm>
        </p:grpSpPr>
        <p:sp>
          <p:nvSpPr>
            <p:cNvPr id="19" name="Freeform 19"/>
            <p:cNvSpPr/>
            <p:nvPr/>
          </p:nvSpPr>
          <p:spPr>
            <a:xfrm>
              <a:off x="0" y="0"/>
              <a:ext cx="1457452" cy="1457452"/>
            </a:xfrm>
            <a:custGeom>
              <a:avLst/>
              <a:gdLst/>
              <a:ahLst/>
              <a:cxnLst/>
              <a:rect l="l" t="t" r="r" b="b"/>
              <a:pathLst>
                <a:path w="1457452" h="1457452">
                  <a:moveTo>
                    <a:pt x="0" y="0"/>
                  </a:moveTo>
                  <a:lnTo>
                    <a:pt x="1457452" y="0"/>
                  </a:lnTo>
                  <a:lnTo>
                    <a:pt x="1457452" y="1457452"/>
                  </a:lnTo>
                  <a:lnTo>
                    <a:pt x="0" y="1457452"/>
                  </a:lnTo>
                  <a:lnTo>
                    <a:pt x="0" y="0"/>
                  </a:lnTo>
                  <a:close/>
                </a:path>
              </a:pathLst>
            </a:custGeom>
            <a:blipFill>
              <a:blip r:embed="rId10"/>
              <a:stretch>
                <a:fillRect/>
              </a:stretch>
            </a:blipFill>
          </p:spPr>
        </p:sp>
      </p:grpSp>
      <p:grpSp>
        <p:nvGrpSpPr>
          <p:cNvPr id="20" name="Group 20"/>
          <p:cNvGrpSpPr/>
          <p:nvPr/>
        </p:nvGrpSpPr>
        <p:grpSpPr>
          <a:xfrm>
            <a:off x="4832942" y="7641157"/>
            <a:ext cx="1093081" cy="1093081"/>
            <a:chOff x="0" y="0"/>
            <a:chExt cx="1457441" cy="1457441"/>
          </a:xfrm>
        </p:grpSpPr>
        <p:sp>
          <p:nvSpPr>
            <p:cNvPr id="21" name="Freeform 21"/>
            <p:cNvSpPr/>
            <p:nvPr/>
          </p:nvSpPr>
          <p:spPr>
            <a:xfrm>
              <a:off x="0" y="0"/>
              <a:ext cx="1457452" cy="1457452"/>
            </a:xfrm>
            <a:custGeom>
              <a:avLst/>
              <a:gdLst/>
              <a:ahLst/>
              <a:cxnLst/>
              <a:rect l="l" t="t" r="r" b="b"/>
              <a:pathLst>
                <a:path w="1457452" h="1457452">
                  <a:moveTo>
                    <a:pt x="0" y="0"/>
                  </a:moveTo>
                  <a:lnTo>
                    <a:pt x="1457452" y="0"/>
                  </a:lnTo>
                  <a:lnTo>
                    <a:pt x="1457452" y="1457452"/>
                  </a:lnTo>
                  <a:lnTo>
                    <a:pt x="0" y="1457452"/>
                  </a:lnTo>
                  <a:lnTo>
                    <a:pt x="0" y="0"/>
                  </a:lnTo>
                  <a:close/>
                </a:path>
              </a:pathLst>
            </a:custGeom>
            <a:blipFill>
              <a:blip r:embed="rId11"/>
              <a:stretch>
                <a:fillRect/>
              </a:stretch>
            </a:blipFill>
          </p:spPr>
        </p:sp>
      </p:grpSp>
      <p:grpSp>
        <p:nvGrpSpPr>
          <p:cNvPr id="22" name="Group 22"/>
          <p:cNvGrpSpPr/>
          <p:nvPr/>
        </p:nvGrpSpPr>
        <p:grpSpPr>
          <a:xfrm>
            <a:off x="8432664" y="7805309"/>
            <a:ext cx="764778" cy="764778"/>
            <a:chOff x="0" y="0"/>
            <a:chExt cx="1019704" cy="1019704"/>
          </a:xfrm>
        </p:grpSpPr>
        <p:sp>
          <p:nvSpPr>
            <p:cNvPr id="23" name="Freeform 23"/>
            <p:cNvSpPr/>
            <p:nvPr/>
          </p:nvSpPr>
          <p:spPr>
            <a:xfrm>
              <a:off x="0" y="0"/>
              <a:ext cx="1019683" cy="1019683"/>
            </a:xfrm>
            <a:custGeom>
              <a:avLst/>
              <a:gdLst/>
              <a:ahLst/>
              <a:cxnLst/>
              <a:rect l="l" t="t" r="r" b="b"/>
              <a:pathLst>
                <a:path w="1019683" h="1019683">
                  <a:moveTo>
                    <a:pt x="0" y="0"/>
                  </a:moveTo>
                  <a:lnTo>
                    <a:pt x="1019683" y="0"/>
                  </a:lnTo>
                  <a:lnTo>
                    <a:pt x="1019683" y="1019683"/>
                  </a:lnTo>
                  <a:lnTo>
                    <a:pt x="0" y="1019683"/>
                  </a:lnTo>
                  <a:lnTo>
                    <a:pt x="0" y="0"/>
                  </a:lnTo>
                  <a:close/>
                </a:path>
              </a:pathLst>
            </a:custGeom>
            <a:blipFill>
              <a:blip r:embed="rId12"/>
              <a:stretch>
                <a:fillRect r="-2" b="-2"/>
              </a:stretch>
            </a:blipFill>
          </p:spPr>
        </p:sp>
      </p:grpSp>
      <p:grpSp>
        <p:nvGrpSpPr>
          <p:cNvPr id="24" name="Group 24"/>
          <p:cNvGrpSpPr/>
          <p:nvPr/>
        </p:nvGrpSpPr>
        <p:grpSpPr>
          <a:xfrm>
            <a:off x="10211765" y="7805309"/>
            <a:ext cx="779110" cy="779110"/>
            <a:chOff x="0" y="0"/>
            <a:chExt cx="1038813" cy="1038813"/>
          </a:xfrm>
        </p:grpSpPr>
        <p:sp>
          <p:nvSpPr>
            <p:cNvPr id="25" name="Freeform 25"/>
            <p:cNvSpPr/>
            <p:nvPr/>
          </p:nvSpPr>
          <p:spPr>
            <a:xfrm>
              <a:off x="0" y="0"/>
              <a:ext cx="1038860" cy="1038860"/>
            </a:xfrm>
            <a:custGeom>
              <a:avLst/>
              <a:gdLst/>
              <a:ahLst/>
              <a:cxnLst/>
              <a:rect l="l" t="t" r="r" b="b"/>
              <a:pathLst>
                <a:path w="1038860" h="1038860">
                  <a:moveTo>
                    <a:pt x="0" y="0"/>
                  </a:moveTo>
                  <a:lnTo>
                    <a:pt x="1038860" y="0"/>
                  </a:lnTo>
                  <a:lnTo>
                    <a:pt x="1038860" y="1038860"/>
                  </a:lnTo>
                  <a:lnTo>
                    <a:pt x="0" y="1038860"/>
                  </a:lnTo>
                  <a:lnTo>
                    <a:pt x="0" y="0"/>
                  </a:lnTo>
                  <a:close/>
                </a:path>
              </a:pathLst>
            </a:custGeom>
            <a:blipFill>
              <a:blip r:embed="rId13"/>
              <a:stretch>
                <a:fillRect r="4" b="4"/>
              </a:stretch>
            </a:blipFill>
          </p:spPr>
        </p:sp>
      </p:grpSp>
      <p:grpSp>
        <p:nvGrpSpPr>
          <p:cNvPr id="26" name="Group 26"/>
          <p:cNvGrpSpPr/>
          <p:nvPr/>
        </p:nvGrpSpPr>
        <p:grpSpPr>
          <a:xfrm>
            <a:off x="9455231" y="8038132"/>
            <a:ext cx="450527" cy="299132"/>
            <a:chOff x="0" y="0"/>
            <a:chExt cx="600703" cy="398843"/>
          </a:xfrm>
        </p:grpSpPr>
        <p:sp>
          <p:nvSpPr>
            <p:cNvPr id="27" name="Freeform 27"/>
            <p:cNvSpPr/>
            <p:nvPr/>
          </p:nvSpPr>
          <p:spPr>
            <a:xfrm>
              <a:off x="0" y="0"/>
              <a:ext cx="600710" cy="398780"/>
            </a:xfrm>
            <a:custGeom>
              <a:avLst/>
              <a:gdLst/>
              <a:ahLst/>
              <a:cxnLst/>
              <a:rect l="l" t="t" r="r" b="b"/>
              <a:pathLst>
                <a:path w="600710" h="398780">
                  <a:moveTo>
                    <a:pt x="0" y="0"/>
                  </a:moveTo>
                  <a:lnTo>
                    <a:pt x="600710" y="0"/>
                  </a:lnTo>
                  <a:lnTo>
                    <a:pt x="600710" y="398780"/>
                  </a:lnTo>
                  <a:lnTo>
                    <a:pt x="0" y="398780"/>
                  </a:lnTo>
                  <a:lnTo>
                    <a:pt x="0" y="0"/>
                  </a:lnTo>
                  <a:close/>
                </a:path>
              </a:pathLst>
            </a:custGeom>
            <a:blipFill>
              <a:blip r:embed="rId14"/>
              <a:stretch>
                <a:fillRect t="-25309" r="1" b="-25325"/>
              </a:stretch>
            </a:blipFill>
          </p:spPr>
        </p:sp>
      </p:grpSp>
      <p:grpSp>
        <p:nvGrpSpPr>
          <p:cNvPr id="28" name="Group 28"/>
          <p:cNvGrpSpPr/>
          <p:nvPr/>
        </p:nvGrpSpPr>
        <p:grpSpPr>
          <a:xfrm>
            <a:off x="16419897" y="7805309"/>
            <a:ext cx="871306" cy="871306"/>
            <a:chOff x="0" y="0"/>
            <a:chExt cx="1161741" cy="1161741"/>
          </a:xfrm>
        </p:grpSpPr>
        <p:sp>
          <p:nvSpPr>
            <p:cNvPr id="29" name="Freeform 29"/>
            <p:cNvSpPr/>
            <p:nvPr/>
          </p:nvSpPr>
          <p:spPr>
            <a:xfrm>
              <a:off x="0" y="0"/>
              <a:ext cx="1161796" cy="1161796"/>
            </a:xfrm>
            <a:custGeom>
              <a:avLst/>
              <a:gdLst/>
              <a:ahLst/>
              <a:cxnLst/>
              <a:rect l="l" t="t" r="r" b="b"/>
              <a:pathLst>
                <a:path w="1161796" h="1161796">
                  <a:moveTo>
                    <a:pt x="0" y="0"/>
                  </a:moveTo>
                  <a:lnTo>
                    <a:pt x="1161796" y="0"/>
                  </a:lnTo>
                  <a:lnTo>
                    <a:pt x="1161796" y="1161796"/>
                  </a:lnTo>
                  <a:lnTo>
                    <a:pt x="0" y="1161796"/>
                  </a:lnTo>
                  <a:lnTo>
                    <a:pt x="0" y="0"/>
                  </a:lnTo>
                  <a:close/>
                </a:path>
              </a:pathLst>
            </a:custGeom>
            <a:blipFill>
              <a:blip r:embed="rId15"/>
              <a:stretch>
                <a:fillRect r="4" b="4"/>
              </a:stretch>
            </a:blipFill>
          </p:spPr>
        </p:sp>
      </p:grpSp>
      <p:grpSp>
        <p:nvGrpSpPr>
          <p:cNvPr id="30" name="Group 30"/>
          <p:cNvGrpSpPr/>
          <p:nvPr/>
        </p:nvGrpSpPr>
        <p:grpSpPr>
          <a:xfrm>
            <a:off x="13344275" y="7937571"/>
            <a:ext cx="613752" cy="569000"/>
            <a:chOff x="0" y="0"/>
            <a:chExt cx="818336" cy="758667"/>
          </a:xfrm>
        </p:grpSpPr>
        <p:sp>
          <p:nvSpPr>
            <p:cNvPr id="31" name="Freeform 31"/>
            <p:cNvSpPr/>
            <p:nvPr/>
          </p:nvSpPr>
          <p:spPr>
            <a:xfrm>
              <a:off x="0" y="0"/>
              <a:ext cx="818388" cy="758698"/>
            </a:xfrm>
            <a:custGeom>
              <a:avLst/>
              <a:gdLst/>
              <a:ahLst/>
              <a:cxnLst/>
              <a:rect l="l" t="t" r="r" b="b"/>
              <a:pathLst>
                <a:path w="818388" h="758698">
                  <a:moveTo>
                    <a:pt x="0" y="0"/>
                  </a:moveTo>
                  <a:lnTo>
                    <a:pt x="818388" y="0"/>
                  </a:lnTo>
                  <a:lnTo>
                    <a:pt x="818388" y="758698"/>
                  </a:lnTo>
                  <a:lnTo>
                    <a:pt x="0" y="758698"/>
                  </a:lnTo>
                  <a:lnTo>
                    <a:pt x="0" y="0"/>
                  </a:lnTo>
                  <a:close/>
                </a:path>
              </a:pathLst>
            </a:custGeom>
            <a:blipFill>
              <a:blip r:embed="rId16"/>
              <a:stretch>
                <a:fillRect t="-430" r="6" b="-426"/>
              </a:stretch>
            </a:blipFill>
          </p:spPr>
        </p:sp>
      </p:grpSp>
      <p:sp>
        <p:nvSpPr>
          <p:cNvPr id="32" name="TextBox 32"/>
          <p:cNvSpPr txBox="1"/>
          <p:nvPr/>
        </p:nvSpPr>
        <p:spPr>
          <a:xfrm>
            <a:off x="12218172" y="6052406"/>
            <a:ext cx="2732839" cy="1036962"/>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Reproducción de audio en una salida virtual.</a:t>
            </a:r>
          </a:p>
        </p:txBody>
      </p:sp>
      <p:sp>
        <p:nvSpPr>
          <p:cNvPr id="33" name="TextBox 33"/>
          <p:cNvSpPr txBox="1"/>
          <p:nvPr/>
        </p:nvSpPr>
        <p:spPr>
          <a:xfrm>
            <a:off x="8118102" y="6052406"/>
            <a:ext cx="3124785" cy="1036962"/>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Conversión de texto a voz mediante ElevenLabs.</a:t>
            </a:r>
          </a:p>
        </p:txBody>
      </p:sp>
      <p:sp>
        <p:nvSpPr>
          <p:cNvPr id="34" name="TextBox 34"/>
          <p:cNvSpPr txBox="1"/>
          <p:nvPr/>
        </p:nvSpPr>
        <p:spPr>
          <a:xfrm>
            <a:off x="4044966" y="6052406"/>
            <a:ext cx="2669032" cy="1256324"/>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Procesamiento de respuestas con la API de Gemini.</a:t>
            </a:r>
          </a:p>
        </p:txBody>
      </p:sp>
      <p:sp>
        <p:nvSpPr>
          <p:cNvPr id="35" name="TextBox 35"/>
          <p:cNvSpPr txBox="1"/>
          <p:nvPr/>
        </p:nvSpPr>
        <p:spPr>
          <a:xfrm>
            <a:off x="193196" y="6052406"/>
            <a:ext cx="2669032" cy="1036962"/>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Captura de mensajes desde Twitch.</a:t>
            </a:r>
          </a:p>
        </p:txBody>
      </p:sp>
      <p:sp>
        <p:nvSpPr>
          <p:cNvPr id="36" name="TextBox 36"/>
          <p:cNvSpPr txBox="1"/>
          <p:nvPr/>
        </p:nvSpPr>
        <p:spPr>
          <a:xfrm>
            <a:off x="1069232" y="1014483"/>
            <a:ext cx="12948749" cy="2218050"/>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Plan de Trabajo – Etapa 1 Producto mínimo viable</a:t>
            </a:r>
          </a:p>
        </p:txBody>
      </p:sp>
      <p:sp>
        <p:nvSpPr>
          <p:cNvPr id="37" name="TextBox 37"/>
          <p:cNvSpPr txBox="1"/>
          <p:nvPr/>
        </p:nvSpPr>
        <p:spPr>
          <a:xfrm>
            <a:off x="15479821" y="6052406"/>
            <a:ext cx="2732839" cy="1360746"/>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Configuración del avatar en Vtuber Studio con la voz generada.</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 y="0"/>
            <a:ext cx="18394680" cy="4994990"/>
            <a:chOff x="0" y="0"/>
            <a:chExt cx="24526240" cy="6659987"/>
          </a:xfrm>
        </p:grpSpPr>
        <p:sp>
          <p:nvSpPr>
            <p:cNvPr id="3" name="Freeform 3"/>
            <p:cNvSpPr/>
            <p:nvPr/>
          </p:nvSpPr>
          <p:spPr>
            <a:xfrm>
              <a:off x="0" y="0"/>
              <a:ext cx="24526239" cy="6660007"/>
            </a:xfrm>
            <a:custGeom>
              <a:avLst/>
              <a:gdLst/>
              <a:ahLst/>
              <a:cxnLst/>
              <a:rect l="l" t="t" r="r" b="b"/>
              <a:pathLst>
                <a:path w="24526239" h="6660007">
                  <a:moveTo>
                    <a:pt x="0" y="0"/>
                  </a:moveTo>
                  <a:lnTo>
                    <a:pt x="24526239" y="0"/>
                  </a:lnTo>
                  <a:lnTo>
                    <a:pt x="24526239" y="6660007"/>
                  </a:lnTo>
                  <a:lnTo>
                    <a:pt x="0" y="6660007"/>
                  </a:lnTo>
                  <a:lnTo>
                    <a:pt x="0" y="0"/>
                  </a:lnTo>
                  <a:close/>
                </a:path>
              </a:pathLst>
            </a:custGeom>
            <a:blipFill>
              <a:blip r:embed="rId3"/>
              <a:stretch>
                <a:fillRect t="-72704" b="-72704"/>
              </a:stretch>
            </a:blipFill>
          </p:spPr>
        </p:sp>
      </p:grpSp>
      <p:grpSp>
        <p:nvGrpSpPr>
          <p:cNvPr id="4" name="Group 4"/>
          <p:cNvGrpSpPr/>
          <p:nvPr/>
        </p:nvGrpSpPr>
        <p:grpSpPr>
          <a:xfrm>
            <a:off x="2031157" y="4994990"/>
            <a:ext cx="13922445" cy="754850"/>
            <a:chOff x="0" y="0"/>
            <a:chExt cx="18563260" cy="1006466"/>
          </a:xfrm>
        </p:grpSpPr>
        <p:sp>
          <p:nvSpPr>
            <p:cNvPr id="5" name="Freeform 5"/>
            <p:cNvSpPr/>
            <p:nvPr/>
          </p:nvSpPr>
          <p:spPr>
            <a:xfrm>
              <a:off x="0" y="0"/>
              <a:ext cx="18563210" cy="1006475"/>
            </a:xfrm>
            <a:custGeom>
              <a:avLst/>
              <a:gdLst/>
              <a:ahLst/>
              <a:cxnLst/>
              <a:rect l="l" t="t" r="r" b="b"/>
              <a:pathLst>
                <a:path w="18563210" h="1006475">
                  <a:moveTo>
                    <a:pt x="0" y="0"/>
                  </a:moveTo>
                  <a:lnTo>
                    <a:pt x="18563210" y="0"/>
                  </a:lnTo>
                  <a:lnTo>
                    <a:pt x="18563210" y="1006475"/>
                  </a:lnTo>
                  <a:lnTo>
                    <a:pt x="0" y="1006475"/>
                  </a:lnTo>
                  <a:lnTo>
                    <a:pt x="0" y="0"/>
                  </a:lnTo>
                  <a:close/>
                </a:path>
              </a:pathLst>
            </a:custGeom>
            <a:blipFill>
              <a:blip r:embed="rId4">
                <a:alphaModFix amt="80000"/>
              </a:blip>
              <a:stretch>
                <a:fillRect t="-8373" b="-8372"/>
              </a:stretch>
            </a:blipFill>
          </p:spPr>
        </p:sp>
      </p:grpSp>
      <p:sp>
        <p:nvSpPr>
          <p:cNvPr id="6" name="AutoShape 6"/>
          <p:cNvSpPr/>
          <p:nvPr/>
        </p:nvSpPr>
        <p:spPr>
          <a:xfrm rot="29413">
            <a:off x="1661850" y="5696793"/>
            <a:ext cx="14626768" cy="0"/>
          </a:xfrm>
          <a:prstGeom prst="line">
            <a:avLst/>
          </a:prstGeom>
          <a:ln w="28575" cap="rnd">
            <a:solidFill>
              <a:srgbClr val="311581"/>
            </a:solidFill>
            <a:prstDash val="solid"/>
            <a:headEnd type="none" w="sm" len="sm"/>
            <a:tailEnd type="none" w="sm" len="sm"/>
          </a:ln>
        </p:spPr>
      </p:sp>
      <p:sp>
        <p:nvSpPr>
          <p:cNvPr id="7" name="Freeform 7"/>
          <p:cNvSpPr/>
          <p:nvPr/>
        </p:nvSpPr>
        <p:spPr>
          <a:xfrm>
            <a:off x="1374256" y="5509340"/>
            <a:ext cx="306912" cy="306912"/>
          </a:xfrm>
          <a:custGeom>
            <a:avLst/>
            <a:gdLst/>
            <a:ahLst/>
            <a:cxnLst/>
            <a:rect l="l" t="t" r="r" b="b"/>
            <a:pathLst>
              <a:path w="306912" h="306912">
                <a:moveTo>
                  <a:pt x="0" y="0"/>
                </a:moveTo>
                <a:lnTo>
                  <a:pt x="306912" y="0"/>
                </a:lnTo>
                <a:lnTo>
                  <a:pt x="306912" y="306912"/>
                </a:lnTo>
                <a:lnTo>
                  <a:pt x="0" y="30691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Freeform 8"/>
          <p:cNvSpPr/>
          <p:nvPr/>
        </p:nvSpPr>
        <p:spPr>
          <a:xfrm>
            <a:off x="6478041" y="5596384"/>
            <a:ext cx="306912" cy="306912"/>
          </a:xfrm>
          <a:custGeom>
            <a:avLst/>
            <a:gdLst/>
            <a:ahLst/>
            <a:cxnLst/>
            <a:rect l="l" t="t" r="r" b="b"/>
            <a:pathLst>
              <a:path w="306912" h="306912">
                <a:moveTo>
                  <a:pt x="0" y="0"/>
                </a:moveTo>
                <a:lnTo>
                  <a:pt x="306912" y="0"/>
                </a:lnTo>
                <a:lnTo>
                  <a:pt x="306912" y="306912"/>
                </a:lnTo>
                <a:lnTo>
                  <a:pt x="0" y="30691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9" name="Freeform 9"/>
          <p:cNvSpPr/>
          <p:nvPr/>
        </p:nvSpPr>
        <p:spPr>
          <a:xfrm>
            <a:off x="11581826" y="5596384"/>
            <a:ext cx="306912" cy="306912"/>
          </a:xfrm>
          <a:custGeom>
            <a:avLst/>
            <a:gdLst/>
            <a:ahLst/>
            <a:cxnLst/>
            <a:rect l="l" t="t" r="r" b="b"/>
            <a:pathLst>
              <a:path w="306912" h="306912">
                <a:moveTo>
                  <a:pt x="0" y="0"/>
                </a:moveTo>
                <a:lnTo>
                  <a:pt x="306912" y="0"/>
                </a:lnTo>
                <a:lnTo>
                  <a:pt x="306912" y="306912"/>
                </a:lnTo>
                <a:lnTo>
                  <a:pt x="0" y="30691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0" name="Freeform 10"/>
          <p:cNvSpPr/>
          <p:nvPr/>
        </p:nvSpPr>
        <p:spPr>
          <a:xfrm>
            <a:off x="16269301" y="5596384"/>
            <a:ext cx="306912" cy="306912"/>
          </a:xfrm>
          <a:custGeom>
            <a:avLst/>
            <a:gdLst/>
            <a:ahLst/>
            <a:cxnLst/>
            <a:rect l="l" t="t" r="r" b="b"/>
            <a:pathLst>
              <a:path w="306912" h="306912">
                <a:moveTo>
                  <a:pt x="0" y="0"/>
                </a:moveTo>
                <a:lnTo>
                  <a:pt x="306912" y="0"/>
                </a:lnTo>
                <a:lnTo>
                  <a:pt x="306912" y="306912"/>
                </a:lnTo>
                <a:lnTo>
                  <a:pt x="0" y="30691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1" name="Group 11"/>
          <p:cNvGrpSpPr/>
          <p:nvPr/>
        </p:nvGrpSpPr>
        <p:grpSpPr>
          <a:xfrm>
            <a:off x="14494558" y="2762801"/>
            <a:ext cx="2796646" cy="2746539"/>
            <a:chOff x="0" y="0"/>
            <a:chExt cx="3728861" cy="3662052"/>
          </a:xfrm>
        </p:grpSpPr>
        <p:sp>
          <p:nvSpPr>
            <p:cNvPr id="12" name="Freeform 12"/>
            <p:cNvSpPr/>
            <p:nvPr/>
          </p:nvSpPr>
          <p:spPr>
            <a:xfrm>
              <a:off x="0" y="0"/>
              <a:ext cx="3728847" cy="3662045"/>
            </a:xfrm>
            <a:custGeom>
              <a:avLst/>
              <a:gdLst/>
              <a:ahLst/>
              <a:cxnLst/>
              <a:rect l="l" t="t" r="r" b="b"/>
              <a:pathLst>
                <a:path w="3728847" h="3662045">
                  <a:moveTo>
                    <a:pt x="0" y="0"/>
                  </a:moveTo>
                  <a:lnTo>
                    <a:pt x="3728847" y="0"/>
                  </a:lnTo>
                  <a:lnTo>
                    <a:pt x="3728847" y="3662045"/>
                  </a:lnTo>
                  <a:lnTo>
                    <a:pt x="0" y="3662045"/>
                  </a:lnTo>
                  <a:lnTo>
                    <a:pt x="0" y="0"/>
                  </a:lnTo>
                  <a:close/>
                </a:path>
              </a:pathLst>
            </a:custGeom>
            <a:blipFill>
              <a:blip r:embed="rId7"/>
              <a:stretch>
                <a:fillRect l="-16" r="-17"/>
              </a:stretch>
            </a:blipFill>
          </p:spPr>
        </p:sp>
      </p:grpSp>
      <p:grpSp>
        <p:nvGrpSpPr>
          <p:cNvPr id="13" name="Group 13"/>
          <p:cNvGrpSpPr/>
          <p:nvPr/>
        </p:nvGrpSpPr>
        <p:grpSpPr>
          <a:xfrm>
            <a:off x="13077592" y="1028700"/>
            <a:ext cx="6690329" cy="1321340"/>
            <a:chOff x="0" y="0"/>
            <a:chExt cx="8920439" cy="1761787"/>
          </a:xfrm>
        </p:grpSpPr>
        <p:sp>
          <p:nvSpPr>
            <p:cNvPr id="14" name="Freeform 14"/>
            <p:cNvSpPr/>
            <p:nvPr/>
          </p:nvSpPr>
          <p:spPr>
            <a:xfrm flipH="1">
              <a:off x="0" y="0"/>
              <a:ext cx="8920480" cy="1761744"/>
            </a:xfrm>
            <a:custGeom>
              <a:avLst/>
              <a:gdLst/>
              <a:ahLst/>
              <a:cxnLst/>
              <a:rect l="l" t="t" r="r" b="b"/>
              <a:pathLst>
                <a:path w="8920480" h="1761744">
                  <a:moveTo>
                    <a:pt x="8920480" y="0"/>
                  </a:moveTo>
                  <a:lnTo>
                    <a:pt x="0" y="0"/>
                  </a:lnTo>
                  <a:lnTo>
                    <a:pt x="0" y="1761744"/>
                  </a:lnTo>
                  <a:lnTo>
                    <a:pt x="8920480" y="1761744"/>
                  </a:lnTo>
                  <a:lnTo>
                    <a:pt x="8920480" y="0"/>
                  </a:lnTo>
                  <a:close/>
                </a:path>
              </a:pathLst>
            </a:custGeom>
            <a:blipFill>
              <a:blip r:embed="rId8"/>
              <a:stretch>
                <a:fillRect l="-132" r="-132" b="-2"/>
              </a:stretch>
            </a:blipFill>
          </p:spPr>
        </p:sp>
      </p:grpSp>
      <p:grpSp>
        <p:nvGrpSpPr>
          <p:cNvPr id="15" name="Group 15"/>
          <p:cNvGrpSpPr/>
          <p:nvPr/>
        </p:nvGrpSpPr>
        <p:grpSpPr>
          <a:xfrm>
            <a:off x="881184" y="8060720"/>
            <a:ext cx="986143" cy="986143"/>
            <a:chOff x="0" y="0"/>
            <a:chExt cx="1314857" cy="1314857"/>
          </a:xfrm>
        </p:grpSpPr>
        <p:sp>
          <p:nvSpPr>
            <p:cNvPr id="16" name="Freeform 16"/>
            <p:cNvSpPr/>
            <p:nvPr/>
          </p:nvSpPr>
          <p:spPr>
            <a:xfrm>
              <a:off x="0" y="0"/>
              <a:ext cx="1314831" cy="1314831"/>
            </a:xfrm>
            <a:custGeom>
              <a:avLst/>
              <a:gdLst/>
              <a:ahLst/>
              <a:cxnLst/>
              <a:rect l="l" t="t" r="r" b="b"/>
              <a:pathLst>
                <a:path w="1314831" h="1314831">
                  <a:moveTo>
                    <a:pt x="0" y="0"/>
                  </a:moveTo>
                  <a:lnTo>
                    <a:pt x="1314831" y="0"/>
                  </a:lnTo>
                  <a:lnTo>
                    <a:pt x="1314831" y="1314831"/>
                  </a:lnTo>
                  <a:lnTo>
                    <a:pt x="0" y="1314831"/>
                  </a:lnTo>
                  <a:lnTo>
                    <a:pt x="0" y="0"/>
                  </a:lnTo>
                  <a:close/>
                </a:path>
              </a:pathLst>
            </a:custGeom>
            <a:blipFill>
              <a:blip r:embed="rId9"/>
              <a:stretch>
                <a:fillRect r="-2" b="-2"/>
              </a:stretch>
            </a:blipFill>
          </p:spPr>
        </p:sp>
      </p:grpSp>
      <p:grpSp>
        <p:nvGrpSpPr>
          <p:cNvPr id="17" name="Group 17"/>
          <p:cNvGrpSpPr/>
          <p:nvPr/>
        </p:nvGrpSpPr>
        <p:grpSpPr>
          <a:xfrm>
            <a:off x="6127008" y="8037885"/>
            <a:ext cx="1008978" cy="1008978"/>
            <a:chOff x="0" y="0"/>
            <a:chExt cx="1345304" cy="1345304"/>
          </a:xfrm>
        </p:grpSpPr>
        <p:sp>
          <p:nvSpPr>
            <p:cNvPr id="18" name="Freeform 18"/>
            <p:cNvSpPr/>
            <p:nvPr/>
          </p:nvSpPr>
          <p:spPr>
            <a:xfrm>
              <a:off x="0" y="0"/>
              <a:ext cx="1345311" cy="1345311"/>
            </a:xfrm>
            <a:custGeom>
              <a:avLst/>
              <a:gdLst/>
              <a:ahLst/>
              <a:cxnLst/>
              <a:rect l="l" t="t" r="r" b="b"/>
              <a:pathLst>
                <a:path w="1345311" h="1345311">
                  <a:moveTo>
                    <a:pt x="0" y="0"/>
                  </a:moveTo>
                  <a:lnTo>
                    <a:pt x="1345311" y="0"/>
                  </a:lnTo>
                  <a:lnTo>
                    <a:pt x="1345311" y="1345311"/>
                  </a:lnTo>
                  <a:lnTo>
                    <a:pt x="0" y="1345311"/>
                  </a:lnTo>
                  <a:lnTo>
                    <a:pt x="0" y="0"/>
                  </a:lnTo>
                  <a:close/>
                </a:path>
              </a:pathLst>
            </a:custGeom>
            <a:blipFill>
              <a:blip r:embed="rId10"/>
              <a:stretch>
                <a:fillRect/>
              </a:stretch>
            </a:blipFill>
          </p:spPr>
        </p:sp>
      </p:grpSp>
      <p:grpSp>
        <p:nvGrpSpPr>
          <p:cNvPr id="19" name="Group 19"/>
          <p:cNvGrpSpPr/>
          <p:nvPr/>
        </p:nvGrpSpPr>
        <p:grpSpPr>
          <a:xfrm>
            <a:off x="11347806" y="8060720"/>
            <a:ext cx="1081864" cy="1081864"/>
            <a:chOff x="0" y="0"/>
            <a:chExt cx="1442485" cy="1442485"/>
          </a:xfrm>
        </p:grpSpPr>
        <p:sp>
          <p:nvSpPr>
            <p:cNvPr id="20" name="Freeform 20"/>
            <p:cNvSpPr/>
            <p:nvPr/>
          </p:nvSpPr>
          <p:spPr>
            <a:xfrm>
              <a:off x="0" y="0"/>
              <a:ext cx="1442466" cy="1442466"/>
            </a:xfrm>
            <a:custGeom>
              <a:avLst/>
              <a:gdLst/>
              <a:ahLst/>
              <a:cxnLst/>
              <a:rect l="l" t="t" r="r" b="b"/>
              <a:pathLst>
                <a:path w="1442466" h="1442466">
                  <a:moveTo>
                    <a:pt x="0" y="0"/>
                  </a:moveTo>
                  <a:lnTo>
                    <a:pt x="1442466" y="0"/>
                  </a:lnTo>
                  <a:lnTo>
                    <a:pt x="1442466" y="1442466"/>
                  </a:lnTo>
                  <a:lnTo>
                    <a:pt x="0" y="1442466"/>
                  </a:lnTo>
                  <a:lnTo>
                    <a:pt x="0" y="0"/>
                  </a:lnTo>
                  <a:close/>
                </a:path>
              </a:pathLst>
            </a:custGeom>
            <a:blipFill>
              <a:blip r:embed="rId11"/>
              <a:stretch>
                <a:fillRect r="-1" b="-1"/>
              </a:stretch>
            </a:blipFill>
          </p:spPr>
        </p:sp>
      </p:grpSp>
      <p:grpSp>
        <p:nvGrpSpPr>
          <p:cNvPr id="21" name="Group 21"/>
          <p:cNvGrpSpPr/>
          <p:nvPr/>
        </p:nvGrpSpPr>
        <p:grpSpPr>
          <a:xfrm>
            <a:off x="15945932" y="8270270"/>
            <a:ext cx="953649" cy="953649"/>
            <a:chOff x="0" y="0"/>
            <a:chExt cx="1271532" cy="1271532"/>
          </a:xfrm>
        </p:grpSpPr>
        <p:sp>
          <p:nvSpPr>
            <p:cNvPr id="22" name="Freeform 22"/>
            <p:cNvSpPr/>
            <p:nvPr/>
          </p:nvSpPr>
          <p:spPr>
            <a:xfrm>
              <a:off x="0" y="0"/>
              <a:ext cx="1271524" cy="1271524"/>
            </a:xfrm>
            <a:custGeom>
              <a:avLst/>
              <a:gdLst/>
              <a:ahLst/>
              <a:cxnLst/>
              <a:rect l="l" t="t" r="r" b="b"/>
              <a:pathLst>
                <a:path w="1271524" h="1271524">
                  <a:moveTo>
                    <a:pt x="0" y="0"/>
                  </a:moveTo>
                  <a:lnTo>
                    <a:pt x="1271524" y="0"/>
                  </a:lnTo>
                  <a:lnTo>
                    <a:pt x="1271524" y="1271524"/>
                  </a:lnTo>
                  <a:lnTo>
                    <a:pt x="0" y="1271524"/>
                  </a:lnTo>
                  <a:lnTo>
                    <a:pt x="0" y="0"/>
                  </a:lnTo>
                  <a:close/>
                </a:path>
              </a:pathLst>
            </a:custGeom>
            <a:blipFill>
              <a:blip r:embed="rId12"/>
              <a:stretch>
                <a:fillRect/>
              </a:stretch>
            </a:blipFill>
          </p:spPr>
        </p:sp>
      </p:grpSp>
      <p:sp>
        <p:nvSpPr>
          <p:cNvPr id="23" name="TextBox 23"/>
          <p:cNvSpPr txBox="1"/>
          <p:nvPr/>
        </p:nvSpPr>
        <p:spPr>
          <a:xfrm>
            <a:off x="15056337" y="6052406"/>
            <a:ext cx="2732839" cy="2008314"/>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Creación de una aplicación de escritorio para configurar parámetros.</a:t>
            </a:r>
          </a:p>
          <a:p>
            <a:pPr algn="ctr">
              <a:lnSpc>
                <a:spcPts val="3117"/>
              </a:lnSpc>
            </a:pPr>
            <a:endParaRPr lang="en-US" sz="2220" b="1">
              <a:solidFill>
                <a:srgbClr val="311581"/>
              </a:solidFill>
              <a:latin typeface="Public Sans Bold"/>
              <a:ea typeface="Public Sans Bold"/>
              <a:cs typeface="Public Sans Bold"/>
              <a:sym typeface="Public Sans Bold"/>
            </a:endParaRPr>
          </a:p>
        </p:txBody>
      </p:sp>
      <p:sp>
        <p:nvSpPr>
          <p:cNvPr id="24" name="TextBox 24"/>
          <p:cNvSpPr txBox="1"/>
          <p:nvPr/>
        </p:nvSpPr>
        <p:spPr>
          <a:xfrm>
            <a:off x="10172890" y="6156579"/>
            <a:ext cx="3124785" cy="1360746"/>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Uso de esa información en interacciones futuras con el espectador.</a:t>
            </a:r>
          </a:p>
        </p:txBody>
      </p:sp>
      <p:sp>
        <p:nvSpPr>
          <p:cNvPr id="25" name="TextBox 25"/>
          <p:cNvSpPr txBox="1"/>
          <p:nvPr/>
        </p:nvSpPr>
        <p:spPr>
          <a:xfrm>
            <a:off x="5296981" y="6156579"/>
            <a:ext cx="2669032" cy="1036962"/>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Consultas para simular “memoria” en el asistente.</a:t>
            </a:r>
          </a:p>
        </p:txBody>
      </p:sp>
      <p:sp>
        <p:nvSpPr>
          <p:cNvPr id="26" name="TextBox 26"/>
          <p:cNvSpPr txBox="1"/>
          <p:nvPr/>
        </p:nvSpPr>
        <p:spPr>
          <a:xfrm>
            <a:off x="193196" y="6052406"/>
            <a:ext cx="2669032" cy="1360746"/>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Almacenamiento de mensajes y respuestas en base de datos.</a:t>
            </a:r>
          </a:p>
        </p:txBody>
      </p:sp>
      <p:sp>
        <p:nvSpPr>
          <p:cNvPr id="27" name="TextBox 27"/>
          <p:cNvSpPr txBox="1"/>
          <p:nvPr/>
        </p:nvSpPr>
        <p:spPr>
          <a:xfrm>
            <a:off x="1069232" y="1014483"/>
            <a:ext cx="12948749" cy="2218050"/>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Plan de Trabajo – Etapa 2 (Mejoras y Funcionalidades)</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 y="0"/>
            <a:ext cx="18394680" cy="4994990"/>
            <a:chOff x="0" y="0"/>
            <a:chExt cx="24526240" cy="6659987"/>
          </a:xfrm>
        </p:grpSpPr>
        <p:sp>
          <p:nvSpPr>
            <p:cNvPr id="3" name="Freeform 3"/>
            <p:cNvSpPr/>
            <p:nvPr/>
          </p:nvSpPr>
          <p:spPr>
            <a:xfrm>
              <a:off x="0" y="0"/>
              <a:ext cx="24526239" cy="6660007"/>
            </a:xfrm>
            <a:custGeom>
              <a:avLst/>
              <a:gdLst/>
              <a:ahLst/>
              <a:cxnLst/>
              <a:rect l="l" t="t" r="r" b="b"/>
              <a:pathLst>
                <a:path w="24526239" h="6660007">
                  <a:moveTo>
                    <a:pt x="0" y="0"/>
                  </a:moveTo>
                  <a:lnTo>
                    <a:pt x="24526239" y="0"/>
                  </a:lnTo>
                  <a:lnTo>
                    <a:pt x="24526239" y="6660007"/>
                  </a:lnTo>
                  <a:lnTo>
                    <a:pt x="0" y="6660007"/>
                  </a:lnTo>
                  <a:lnTo>
                    <a:pt x="0" y="0"/>
                  </a:lnTo>
                  <a:close/>
                </a:path>
              </a:pathLst>
            </a:custGeom>
            <a:blipFill>
              <a:blip r:embed="rId3"/>
              <a:stretch>
                <a:fillRect t="-72704" b="-72704"/>
              </a:stretch>
            </a:blipFill>
          </p:spPr>
        </p:sp>
      </p:grpSp>
      <p:grpSp>
        <p:nvGrpSpPr>
          <p:cNvPr id="4" name="Group 4"/>
          <p:cNvGrpSpPr/>
          <p:nvPr/>
        </p:nvGrpSpPr>
        <p:grpSpPr>
          <a:xfrm>
            <a:off x="2031157" y="4994990"/>
            <a:ext cx="13922445" cy="754850"/>
            <a:chOff x="0" y="0"/>
            <a:chExt cx="18563260" cy="1006466"/>
          </a:xfrm>
        </p:grpSpPr>
        <p:sp>
          <p:nvSpPr>
            <p:cNvPr id="5" name="Freeform 5"/>
            <p:cNvSpPr/>
            <p:nvPr/>
          </p:nvSpPr>
          <p:spPr>
            <a:xfrm>
              <a:off x="0" y="0"/>
              <a:ext cx="18563210" cy="1006475"/>
            </a:xfrm>
            <a:custGeom>
              <a:avLst/>
              <a:gdLst/>
              <a:ahLst/>
              <a:cxnLst/>
              <a:rect l="l" t="t" r="r" b="b"/>
              <a:pathLst>
                <a:path w="18563210" h="1006475">
                  <a:moveTo>
                    <a:pt x="0" y="0"/>
                  </a:moveTo>
                  <a:lnTo>
                    <a:pt x="18563210" y="0"/>
                  </a:lnTo>
                  <a:lnTo>
                    <a:pt x="18563210" y="1006475"/>
                  </a:lnTo>
                  <a:lnTo>
                    <a:pt x="0" y="1006475"/>
                  </a:lnTo>
                  <a:lnTo>
                    <a:pt x="0" y="0"/>
                  </a:lnTo>
                  <a:close/>
                </a:path>
              </a:pathLst>
            </a:custGeom>
            <a:blipFill>
              <a:blip r:embed="rId4">
                <a:alphaModFix amt="80000"/>
              </a:blip>
              <a:stretch>
                <a:fillRect t="-8373" b="-8372"/>
              </a:stretch>
            </a:blipFill>
          </p:spPr>
        </p:sp>
      </p:grpSp>
      <p:grpSp>
        <p:nvGrpSpPr>
          <p:cNvPr id="6" name="Group 6"/>
          <p:cNvGrpSpPr/>
          <p:nvPr/>
        </p:nvGrpSpPr>
        <p:grpSpPr>
          <a:xfrm>
            <a:off x="14494558" y="2762801"/>
            <a:ext cx="2796646" cy="2746539"/>
            <a:chOff x="0" y="0"/>
            <a:chExt cx="3728861" cy="3662052"/>
          </a:xfrm>
        </p:grpSpPr>
        <p:sp>
          <p:nvSpPr>
            <p:cNvPr id="7" name="Freeform 7"/>
            <p:cNvSpPr/>
            <p:nvPr/>
          </p:nvSpPr>
          <p:spPr>
            <a:xfrm>
              <a:off x="0" y="0"/>
              <a:ext cx="3728847" cy="3662045"/>
            </a:xfrm>
            <a:custGeom>
              <a:avLst/>
              <a:gdLst/>
              <a:ahLst/>
              <a:cxnLst/>
              <a:rect l="l" t="t" r="r" b="b"/>
              <a:pathLst>
                <a:path w="3728847" h="3662045">
                  <a:moveTo>
                    <a:pt x="0" y="0"/>
                  </a:moveTo>
                  <a:lnTo>
                    <a:pt x="3728847" y="0"/>
                  </a:lnTo>
                  <a:lnTo>
                    <a:pt x="3728847" y="3662045"/>
                  </a:lnTo>
                  <a:lnTo>
                    <a:pt x="0" y="3662045"/>
                  </a:lnTo>
                  <a:lnTo>
                    <a:pt x="0" y="0"/>
                  </a:lnTo>
                  <a:close/>
                </a:path>
              </a:pathLst>
            </a:custGeom>
            <a:blipFill>
              <a:blip r:embed="rId5"/>
              <a:stretch>
                <a:fillRect l="-16" r="-17"/>
              </a:stretch>
            </a:blipFill>
          </p:spPr>
        </p:sp>
      </p:grpSp>
      <p:grpSp>
        <p:nvGrpSpPr>
          <p:cNvPr id="8" name="Group 8"/>
          <p:cNvGrpSpPr/>
          <p:nvPr/>
        </p:nvGrpSpPr>
        <p:grpSpPr>
          <a:xfrm>
            <a:off x="13077592" y="1028700"/>
            <a:ext cx="6690329" cy="1321340"/>
            <a:chOff x="0" y="0"/>
            <a:chExt cx="8920439" cy="1761787"/>
          </a:xfrm>
        </p:grpSpPr>
        <p:sp>
          <p:nvSpPr>
            <p:cNvPr id="9" name="Freeform 9"/>
            <p:cNvSpPr/>
            <p:nvPr/>
          </p:nvSpPr>
          <p:spPr>
            <a:xfrm flipH="1">
              <a:off x="0" y="0"/>
              <a:ext cx="8920480" cy="1761744"/>
            </a:xfrm>
            <a:custGeom>
              <a:avLst/>
              <a:gdLst/>
              <a:ahLst/>
              <a:cxnLst/>
              <a:rect l="l" t="t" r="r" b="b"/>
              <a:pathLst>
                <a:path w="8920480" h="1761744">
                  <a:moveTo>
                    <a:pt x="8920480" y="0"/>
                  </a:moveTo>
                  <a:lnTo>
                    <a:pt x="0" y="0"/>
                  </a:lnTo>
                  <a:lnTo>
                    <a:pt x="0" y="1761744"/>
                  </a:lnTo>
                  <a:lnTo>
                    <a:pt x="8920480" y="1761744"/>
                  </a:lnTo>
                  <a:lnTo>
                    <a:pt x="8920480" y="0"/>
                  </a:lnTo>
                  <a:close/>
                </a:path>
              </a:pathLst>
            </a:custGeom>
            <a:blipFill>
              <a:blip r:embed="rId6"/>
              <a:stretch>
                <a:fillRect l="-132" r="-132" b="-2"/>
              </a:stretch>
            </a:blipFill>
          </p:spPr>
        </p:sp>
      </p:grpSp>
      <p:grpSp>
        <p:nvGrpSpPr>
          <p:cNvPr id="10" name="Group 10"/>
          <p:cNvGrpSpPr/>
          <p:nvPr/>
        </p:nvGrpSpPr>
        <p:grpSpPr>
          <a:xfrm>
            <a:off x="1381794" y="5347675"/>
            <a:ext cx="15524411" cy="4402210"/>
            <a:chOff x="0" y="0"/>
            <a:chExt cx="20699215" cy="5869613"/>
          </a:xfrm>
        </p:grpSpPr>
        <p:sp>
          <p:nvSpPr>
            <p:cNvPr id="11" name="Freeform 11"/>
            <p:cNvSpPr/>
            <p:nvPr/>
          </p:nvSpPr>
          <p:spPr>
            <a:xfrm>
              <a:off x="0" y="0"/>
              <a:ext cx="20699222" cy="5869559"/>
            </a:xfrm>
            <a:custGeom>
              <a:avLst/>
              <a:gdLst/>
              <a:ahLst/>
              <a:cxnLst/>
              <a:rect l="l" t="t" r="r" b="b"/>
              <a:pathLst>
                <a:path w="20699222" h="5869559">
                  <a:moveTo>
                    <a:pt x="0" y="0"/>
                  </a:moveTo>
                  <a:lnTo>
                    <a:pt x="20699222" y="0"/>
                  </a:lnTo>
                  <a:lnTo>
                    <a:pt x="20699222" y="5869559"/>
                  </a:lnTo>
                  <a:lnTo>
                    <a:pt x="0" y="5869559"/>
                  </a:lnTo>
                  <a:lnTo>
                    <a:pt x="0" y="0"/>
                  </a:lnTo>
                  <a:close/>
                </a:path>
              </a:pathLst>
            </a:custGeom>
            <a:blipFill>
              <a:blip r:embed="rId7"/>
              <a:stretch>
                <a:fillRect t="-5844" b="-5845"/>
              </a:stretch>
            </a:blipFill>
          </p:spPr>
        </p:sp>
      </p:grpSp>
      <p:sp>
        <p:nvSpPr>
          <p:cNvPr id="12" name="TextBox 12"/>
          <p:cNvSpPr txBox="1"/>
          <p:nvPr/>
        </p:nvSpPr>
        <p:spPr>
          <a:xfrm>
            <a:off x="1069232" y="1014483"/>
            <a:ext cx="12948749" cy="1179891"/>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Resumen Plan de Trabajo</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 y="-396240"/>
            <a:ext cx="18394680" cy="3852626"/>
            <a:chOff x="0" y="0"/>
            <a:chExt cx="24526240" cy="5136835"/>
          </a:xfrm>
        </p:grpSpPr>
        <p:sp>
          <p:nvSpPr>
            <p:cNvPr id="3" name="Freeform 3"/>
            <p:cNvSpPr/>
            <p:nvPr/>
          </p:nvSpPr>
          <p:spPr>
            <a:xfrm>
              <a:off x="0" y="0"/>
              <a:ext cx="24526239" cy="5136896"/>
            </a:xfrm>
            <a:custGeom>
              <a:avLst/>
              <a:gdLst/>
              <a:ahLst/>
              <a:cxnLst/>
              <a:rect l="l" t="t" r="r" b="b"/>
              <a:pathLst>
                <a:path w="24526239" h="5136896">
                  <a:moveTo>
                    <a:pt x="0" y="0"/>
                  </a:moveTo>
                  <a:lnTo>
                    <a:pt x="24526239" y="0"/>
                  </a:lnTo>
                  <a:lnTo>
                    <a:pt x="24526239" y="5136896"/>
                  </a:lnTo>
                  <a:lnTo>
                    <a:pt x="0" y="5136896"/>
                  </a:lnTo>
                  <a:lnTo>
                    <a:pt x="0" y="0"/>
                  </a:lnTo>
                  <a:close/>
                </a:path>
              </a:pathLst>
            </a:custGeom>
            <a:blipFill>
              <a:blip r:embed="rId3"/>
              <a:stretch>
                <a:fillRect t="-109087" b="-109086"/>
              </a:stretch>
            </a:blipFill>
          </p:spPr>
        </p:sp>
      </p:grpSp>
      <p:grpSp>
        <p:nvGrpSpPr>
          <p:cNvPr id="4" name="Group 4"/>
          <p:cNvGrpSpPr/>
          <p:nvPr/>
        </p:nvGrpSpPr>
        <p:grpSpPr>
          <a:xfrm>
            <a:off x="2031157" y="3456386"/>
            <a:ext cx="13922445" cy="582214"/>
            <a:chOff x="0" y="0"/>
            <a:chExt cx="18563260" cy="776285"/>
          </a:xfrm>
        </p:grpSpPr>
        <p:sp>
          <p:nvSpPr>
            <p:cNvPr id="5" name="Freeform 5"/>
            <p:cNvSpPr/>
            <p:nvPr/>
          </p:nvSpPr>
          <p:spPr>
            <a:xfrm>
              <a:off x="0" y="0"/>
              <a:ext cx="18563210" cy="776224"/>
            </a:xfrm>
            <a:custGeom>
              <a:avLst/>
              <a:gdLst/>
              <a:ahLst/>
              <a:cxnLst/>
              <a:rect l="l" t="t" r="r" b="b"/>
              <a:pathLst>
                <a:path w="18563210" h="776224">
                  <a:moveTo>
                    <a:pt x="0" y="0"/>
                  </a:moveTo>
                  <a:lnTo>
                    <a:pt x="18563210" y="0"/>
                  </a:lnTo>
                  <a:lnTo>
                    <a:pt x="18563210" y="776224"/>
                  </a:lnTo>
                  <a:lnTo>
                    <a:pt x="0" y="776224"/>
                  </a:lnTo>
                  <a:lnTo>
                    <a:pt x="0" y="0"/>
                  </a:lnTo>
                  <a:close/>
                </a:path>
              </a:pathLst>
            </a:custGeom>
            <a:blipFill>
              <a:blip r:embed="rId4">
                <a:alphaModFix amt="80000"/>
              </a:blip>
              <a:stretch>
                <a:fillRect t="-25683" b="-25691"/>
              </a:stretch>
            </a:blipFill>
          </p:spPr>
        </p:sp>
      </p:grpSp>
      <p:grpSp>
        <p:nvGrpSpPr>
          <p:cNvPr id="6" name="Group 6"/>
          <p:cNvGrpSpPr/>
          <p:nvPr/>
        </p:nvGrpSpPr>
        <p:grpSpPr>
          <a:xfrm>
            <a:off x="13252390" y="1719850"/>
            <a:ext cx="2796646" cy="2746539"/>
            <a:chOff x="0" y="0"/>
            <a:chExt cx="3728861" cy="3662052"/>
          </a:xfrm>
        </p:grpSpPr>
        <p:sp>
          <p:nvSpPr>
            <p:cNvPr id="7" name="Freeform 7"/>
            <p:cNvSpPr/>
            <p:nvPr/>
          </p:nvSpPr>
          <p:spPr>
            <a:xfrm>
              <a:off x="0" y="0"/>
              <a:ext cx="3728847" cy="3662045"/>
            </a:xfrm>
            <a:custGeom>
              <a:avLst/>
              <a:gdLst/>
              <a:ahLst/>
              <a:cxnLst/>
              <a:rect l="l" t="t" r="r" b="b"/>
              <a:pathLst>
                <a:path w="3728847" h="3662045">
                  <a:moveTo>
                    <a:pt x="0" y="0"/>
                  </a:moveTo>
                  <a:lnTo>
                    <a:pt x="3728847" y="0"/>
                  </a:lnTo>
                  <a:lnTo>
                    <a:pt x="3728847" y="3662045"/>
                  </a:lnTo>
                  <a:lnTo>
                    <a:pt x="0" y="3662045"/>
                  </a:lnTo>
                  <a:lnTo>
                    <a:pt x="0" y="0"/>
                  </a:lnTo>
                  <a:close/>
                </a:path>
              </a:pathLst>
            </a:custGeom>
            <a:blipFill>
              <a:blip r:embed="rId5"/>
              <a:stretch>
                <a:fillRect l="-16" r="-17"/>
              </a:stretch>
            </a:blipFill>
          </p:spPr>
        </p:sp>
      </p:grpSp>
      <p:grpSp>
        <p:nvGrpSpPr>
          <p:cNvPr id="8" name="Group 8"/>
          <p:cNvGrpSpPr/>
          <p:nvPr/>
        </p:nvGrpSpPr>
        <p:grpSpPr>
          <a:xfrm>
            <a:off x="13077592" y="1028700"/>
            <a:ext cx="6690329" cy="1321340"/>
            <a:chOff x="0" y="0"/>
            <a:chExt cx="8920439" cy="1761787"/>
          </a:xfrm>
        </p:grpSpPr>
        <p:sp>
          <p:nvSpPr>
            <p:cNvPr id="9" name="Freeform 9"/>
            <p:cNvSpPr/>
            <p:nvPr/>
          </p:nvSpPr>
          <p:spPr>
            <a:xfrm flipH="1">
              <a:off x="0" y="0"/>
              <a:ext cx="8920480" cy="1761744"/>
            </a:xfrm>
            <a:custGeom>
              <a:avLst/>
              <a:gdLst/>
              <a:ahLst/>
              <a:cxnLst/>
              <a:rect l="l" t="t" r="r" b="b"/>
              <a:pathLst>
                <a:path w="8920480" h="1761744">
                  <a:moveTo>
                    <a:pt x="8920480" y="0"/>
                  </a:moveTo>
                  <a:lnTo>
                    <a:pt x="0" y="0"/>
                  </a:lnTo>
                  <a:lnTo>
                    <a:pt x="0" y="1761744"/>
                  </a:lnTo>
                  <a:lnTo>
                    <a:pt x="8920480" y="1761744"/>
                  </a:lnTo>
                  <a:lnTo>
                    <a:pt x="8920480" y="0"/>
                  </a:lnTo>
                  <a:close/>
                </a:path>
              </a:pathLst>
            </a:custGeom>
            <a:blipFill>
              <a:blip r:embed="rId6"/>
              <a:stretch>
                <a:fillRect l="-132" r="-132" b="-2"/>
              </a:stretch>
            </a:blipFill>
          </p:spPr>
        </p:sp>
      </p:grpSp>
      <p:grpSp>
        <p:nvGrpSpPr>
          <p:cNvPr id="10" name="Group 10"/>
          <p:cNvGrpSpPr>
            <a:grpSpLocks noChangeAspect="1"/>
          </p:cNvGrpSpPr>
          <p:nvPr/>
        </p:nvGrpSpPr>
        <p:grpSpPr>
          <a:xfrm>
            <a:off x="2724852" y="4325073"/>
            <a:ext cx="12535055" cy="5283474"/>
            <a:chOff x="0" y="0"/>
            <a:chExt cx="17730304" cy="7473251"/>
          </a:xfrm>
        </p:grpSpPr>
        <p:sp>
          <p:nvSpPr>
            <p:cNvPr id="11" name="Freeform 11"/>
            <p:cNvSpPr/>
            <p:nvPr/>
          </p:nvSpPr>
          <p:spPr>
            <a:xfrm>
              <a:off x="0" y="0"/>
              <a:ext cx="17730343" cy="7473188"/>
            </a:xfrm>
            <a:custGeom>
              <a:avLst/>
              <a:gdLst/>
              <a:ahLst/>
              <a:cxnLst/>
              <a:rect l="l" t="t" r="r" b="b"/>
              <a:pathLst>
                <a:path w="17730343" h="7473188">
                  <a:moveTo>
                    <a:pt x="0" y="0"/>
                  </a:moveTo>
                  <a:lnTo>
                    <a:pt x="17730343" y="0"/>
                  </a:lnTo>
                  <a:lnTo>
                    <a:pt x="17730343" y="7473188"/>
                  </a:lnTo>
                  <a:lnTo>
                    <a:pt x="0" y="7473188"/>
                  </a:lnTo>
                  <a:lnTo>
                    <a:pt x="0" y="0"/>
                  </a:lnTo>
                  <a:close/>
                </a:path>
              </a:pathLst>
            </a:custGeom>
            <a:blipFill>
              <a:blip r:embed="rId7"/>
              <a:stretch>
                <a:fillRect l="-28" r="-28"/>
              </a:stretch>
            </a:blipFill>
          </p:spPr>
        </p:sp>
      </p:grpSp>
      <p:sp>
        <p:nvSpPr>
          <p:cNvPr id="12" name="TextBox 12"/>
          <p:cNvSpPr txBox="1"/>
          <p:nvPr/>
        </p:nvSpPr>
        <p:spPr>
          <a:xfrm>
            <a:off x="1069232" y="1014483"/>
            <a:ext cx="12948749" cy="1179891"/>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Carta Grantt</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621063" y="4825573"/>
            <a:ext cx="10308299" cy="657154"/>
            <a:chOff x="0" y="0"/>
            <a:chExt cx="13744399" cy="876205"/>
          </a:xfrm>
        </p:grpSpPr>
        <p:sp>
          <p:nvSpPr>
            <p:cNvPr id="3" name="Freeform 3"/>
            <p:cNvSpPr/>
            <p:nvPr/>
          </p:nvSpPr>
          <p:spPr>
            <a:xfrm>
              <a:off x="0" y="0"/>
              <a:ext cx="13744448" cy="876173"/>
            </a:xfrm>
            <a:custGeom>
              <a:avLst/>
              <a:gdLst/>
              <a:ahLst/>
              <a:cxnLst/>
              <a:rect l="l" t="t" r="r" b="b"/>
              <a:pathLst>
                <a:path w="13744448" h="876173">
                  <a:moveTo>
                    <a:pt x="0" y="0"/>
                  </a:moveTo>
                  <a:lnTo>
                    <a:pt x="13744448" y="0"/>
                  </a:lnTo>
                  <a:lnTo>
                    <a:pt x="13744448" y="876173"/>
                  </a:lnTo>
                  <a:lnTo>
                    <a:pt x="0" y="876173"/>
                  </a:lnTo>
                  <a:lnTo>
                    <a:pt x="0" y="0"/>
                  </a:lnTo>
                  <a:close/>
                </a:path>
              </a:pathLst>
            </a:custGeom>
            <a:blipFill>
              <a:blip r:embed="rId3"/>
              <a:stretch>
                <a:fillRect l="-357" r="-356" b="-3"/>
              </a:stretch>
            </a:blipFill>
          </p:spPr>
        </p:sp>
      </p:grpSp>
      <p:grpSp>
        <p:nvGrpSpPr>
          <p:cNvPr id="4" name="Group 4"/>
          <p:cNvGrpSpPr/>
          <p:nvPr/>
        </p:nvGrpSpPr>
        <p:grpSpPr>
          <a:xfrm>
            <a:off x="0" y="0"/>
            <a:ext cx="9475072" cy="10287000"/>
            <a:chOff x="0" y="0"/>
            <a:chExt cx="12633429" cy="13716000"/>
          </a:xfrm>
        </p:grpSpPr>
        <p:sp>
          <p:nvSpPr>
            <p:cNvPr id="5" name="Freeform 5"/>
            <p:cNvSpPr/>
            <p:nvPr/>
          </p:nvSpPr>
          <p:spPr>
            <a:xfrm>
              <a:off x="0" y="0"/>
              <a:ext cx="12633452" cy="13716000"/>
            </a:xfrm>
            <a:custGeom>
              <a:avLst/>
              <a:gdLst/>
              <a:ahLst/>
              <a:cxnLst/>
              <a:rect l="l" t="t" r="r" b="b"/>
              <a:pathLst>
                <a:path w="12633452" h="13716000">
                  <a:moveTo>
                    <a:pt x="0" y="0"/>
                  </a:moveTo>
                  <a:lnTo>
                    <a:pt x="12633452" y="0"/>
                  </a:lnTo>
                  <a:lnTo>
                    <a:pt x="12633452" y="13716000"/>
                  </a:lnTo>
                  <a:lnTo>
                    <a:pt x="0" y="13716000"/>
                  </a:lnTo>
                  <a:lnTo>
                    <a:pt x="0" y="0"/>
                  </a:lnTo>
                  <a:close/>
                </a:path>
              </a:pathLst>
            </a:custGeom>
            <a:blipFill>
              <a:blip r:embed="rId4"/>
              <a:stretch>
                <a:fillRect l="-31459" r="-31459"/>
              </a:stretch>
            </a:blipFill>
          </p:spPr>
        </p:sp>
      </p:grpSp>
      <p:grpSp>
        <p:nvGrpSpPr>
          <p:cNvPr id="6" name="Group 6"/>
          <p:cNvGrpSpPr/>
          <p:nvPr/>
        </p:nvGrpSpPr>
        <p:grpSpPr>
          <a:xfrm>
            <a:off x="13366105" y="2746115"/>
            <a:ext cx="1614717" cy="1804555"/>
            <a:chOff x="0" y="0"/>
            <a:chExt cx="2152956" cy="2406073"/>
          </a:xfrm>
        </p:grpSpPr>
        <p:sp>
          <p:nvSpPr>
            <p:cNvPr id="7" name="Freeform 7"/>
            <p:cNvSpPr/>
            <p:nvPr/>
          </p:nvSpPr>
          <p:spPr>
            <a:xfrm>
              <a:off x="0" y="0"/>
              <a:ext cx="2152904" cy="2406015"/>
            </a:xfrm>
            <a:custGeom>
              <a:avLst/>
              <a:gdLst/>
              <a:ahLst/>
              <a:cxnLst/>
              <a:rect l="l" t="t" r="r" b="b"/>
              <a:pathLst>
                <a:path w="2152904" h="2406015">
                  <a:moveTo>
                    <a:pt x="0" y="0"/>
                  </a:moveTo>
                  <a:lnTo>
                    <a:pt x="2152904" y="0"/>
                  </a:lnTo>
                  <a:lnTo>
                    <a:pt x="2152904" y="2406015"/>
                  </a:lnTo>
                  <a:lnTo>
                    <a:pt x="0" y="2406015"/>
                  </a:lnTo>
                  <a:lnTo>
                    <a:pt x="0" y="0"/>
                  </a:lnTo>
                  <a:close/>
                </a:path>
              </a:pathLst>
            </a:custGeom>
            <a:blipFill>
              <a:blip r:embed="rId5"/>
              <a:stretch>
                <a:fillRect l="-33818" r="-33820" b="-2"/>
              </a:stretch>
            </a:blipFill>
          </p:spPr>
        </p:sp>
      </p:grpSp>
      <p:grpSp>
        <p:nvGrpSpPr>
          <p:cNvPr id="8" name="Group 8"/>
          <p:cNvGrpSpPr/>
          <p:nvPr/>
        </p:nvGrpSpPr>
        <p:grpSpPr>
          <a:xfrm>
            <a:off x="10621673" y="1127227"/>
            <a:ext cx="1565039" cy="1565039"/>
            <a:chOff x="0" y="0"/>
            <a:chExt cx="2086719" cy="2086719"/>
          </a:xfrm>
        </p:grpSpPr>
        <p:sp>
          <p:nvSpPr>
            <p:cNvPr id="9" name="Freeform 9"/>
            <p:cNvSpPr/>
            <p:nvPr/>
          </p:nvSpPr>
          <p:spPr>
            <a:xfrm>
              <a:off x="0" y="0"/>
              <a:ext cx="2086737" cy="2086737"/>
            </a:xfrm>
            <a:custGeom>
              <a:avLst/>
              <a:gdLst/>
              <a:ahLst/>
              <a:cxnLst/>
              <a:rect l="l" t="t" r="r" b="b"/>
              <a:pathLst>
                <a:path w="2086737" h="2086737">
                  <a:moveTo>
                    <a:pt x="0" y="0"/>
                  </a:moveTo>
                  <a:lnTo>
                    <a:pt x="2086737" y="0"/>
                  </a:lnTo>
                  <a:lnTo>
                    <a:pt x="2086737" y="2086737"/>
                  </a:lnTo>
                  <a:lnTo>
                    <a:pt x="0" y="2086737"/>
                  </a:lnTo>
                  <a:lnTo>
                    <a:pt x="0" y="0"/>
                  </a:lnTo>
                  <a:close/>
                </a:path>
              </a:pathLst>
            </a:custGeom>
            <a:blipFill>
              <a:blip r:embed="rId6"/>
              <a:stretch>
                <a:fillRect/>
              </a:stretch>
            </a:blipFill>
          </p:spPr>
        </p:sp>
      </p:grpSp>
      <p:grpSp>
        <p:nvGrpSpPr>
          <p:cNvPr id="10" name="Group 10"/>
          <p:cNvGrpSpPr/>
          <p:nvPr/>
        </p:nvGrpSpPr>
        <p:grpSpPr>
          <a:xfrm>
            <a:off x="13258913" y="1222772"/>
            <a:ext cx="1469495" cy="1469495"/>
            <a:chOff x="0" y="0"/>
            <a:chExt cx="1959327" cy="1959327"/>
          </a:xfrm>
        </p:grpSpPr>
        <p:sp>
          <p:nvSpPr>
            <p:cNvPr id="11" name="Freeform 11"/>
            <p:cNvSpPr/>
            <p:nvPr/>
          </p:nvSpPr>
          <p:spPr>
            <a:xfrm>
              <a:off x="0" y="0"/>
              <a:ext cx="1959356" cy="1959356"/>
            </a:xfrm>
            <a:custGeom>
              <a:avLst/>
              <a:gdLst/>
              <a:ahLst/>
              <a:cxnLst/>
              <a:rect l="l" t="t" r="r" b="b"/>
              <a:pathLst>
                <a:path w="1959356" h="1959356">
                  <a:moveTo>
                    <a:pt x="0" y="0"/>
                  </a:moveTo>
                  <a:lnTo>
                    <a:pt x="1959356" y="0"/>
                  </a:lnTo>
                  <a:lnTo>
                    <a:pt x="1959356" y="1959356"/>
                  </a:lnTo>
                  <a:lnTo>
                    <a:pt x="0" y="1959356"/>
                  </a:lnTo>
                  <a:lnTo>
                    <a:pt x="0" y="0"/>
                  </a:lnTo>
                  <a:close/>
                </a:path>
              </a:pathLst>
            </a:custGeom>
            <a:blipFill>
              <a:blip r:embed="rId7"/>
              <a:stretch>
                <a:fillRect r="1" b="1"/>
              </a:stretch>
            </a:blipFill>
          </p:spPr>
        </p:sp>
      </p:grpSp>
      <p:grpSp>
        <p:nvGrpSpPr>
          <p:cNvPr id="12" name="Group 12"/>
          <p:cNvGrpSpPr/>
          <p:nvPr/>
        </p:nvGrpSpPr>
        <p:grpSpPr>
          <a:xfrm>
            <a:off x="16076583" y="1337142"/>
            <a:ext cx="1182717" cy="1240756"/>
            <a:chOff x="0" y="0"/>
            <a:chExt cx="1576956" cy="1654341"/>
          </a:xfrm>
        </p:grpSpPr>
        <p:sp>
          <p:nvSpPr>
            <p:cNvPr id="13" name="Freeform 13"/>
            <p:cNvSpPr/>
            <p:nvPr/>
          </p:nvSpPr>
          <p:spPr>
            <a:xfrm>
              <a:off x="0" y="0"/>
              <a:ext cx="1576959" cy="1654302"/>
            </a:xfrm>
            <a:custGeom>
              <a:avLst/>
              <a:gdLst/>
              <a:ahLst/>
              <a:cxnLst/>
              <a:rect l="l" t="t" r="r" b="b"/>
              <a:pathLst>
                <a:path w="1576959" h="1654302">
                  <a:moveTo>
                    <a:pt x="0" y="0"/>
                  </a:moveTo>
                  <a:lnTo>
                    <a:pt x="1576959" y="0"/>
                  </a:lnTo>
                  <a:lnTo>
                    <a:pt x="1576959" y="1654302"/>
                  </a:lnTo>
                  <a:lnTo>
                    <a:pt x="0" y="1654302"/>
                  </a:lnTo>
                  <a:lnTo>
                    <a:pt x="0" y="0"/>
                  </a:lnTo>
                  <a:close/>
                </a:path>
              </a:pathLst>
            </a:custGeom>
            <a:blipFill>
              <a:blip r:embed="rId8"/>
              <a:stretch>
                <a:fillRect l="-42395" r="-42395" b="-2"/>
              </a:stretch>
            </a:blipFill>
          </p:spPr>
        </p:sp>
      </p:grpSp>
      <p:grpSp>
        <p:nvGrpSpPr>
          <p:cNvPr id="14" name="Group 14"/>
          <p:cNvGrpSpPr/>
          <p:nvPr/>
        </p:nvGrpSpPr>
        <p:grpSpPr>
          <a:xfrm>
            <a:off x="11764817" y="6293655"/>
            <a:ext cx="1264042" cy="1264042"/>
            <a:chOff x="0" y="0"/>
            <a:chExt cx="1685389" cy="1685389"/>
          </a:xfrm>
        </p:grpSpPr>
        <p:sp>
          <p:nvSpPr>
            <p:cNvPr id="15" name="Freeform 15"/>
            <p:cNvSpPr/>
            <p:nvPr/>
          </p:nvSpPr>
          <p:spPr>
            <a:xfrm>
              <a:off x="0" y="0"/>
              <a:ext cx="1685417" cy="1685417"/>
            </a:xfrm>
            <a:custGeom>
              <a:avLst/>
              <a:gdLst/>
              <a:ahLst/>
              <a:cxnLst/>
              <a:rect l="l" t="t" r="r" b="b"/>
              <a:pathLst>
                <a:path w="1685417" h="1685417">
                  <a:moveTo>
                    <a:pt x="0" y="0"/>
                  </a:moveTo>
                  <a:lnTo>
                    <a:pt x="1685417" y="0"/>
                  </a:lnTo>
                  <a:lnTo>
                    <a:pt x="1685417" y="1685417"/>
                  </a:lnTo>
                  <a:lnTo>
                    <a:pt x="0" y="1685417"/>
                  </a:lnTo>
                  <a:lnTo>
                    <a:pt x="0" y="0"/>
                  </a:lnTo>
                  <a:close/>
                </a:path>
              </a:pathLst>
            </a:custGeom>
            <a:blipFill>
              <a:blip r:embed="rId9"/>
              <a:stretch>
                <a:fillRect r="1" b="1"/>
              </a:stretch>
            </a:blipFill>
          </p:spPr>
        </p:sp>
      </p:grpSp>
      <p:grpSp>
        <p:nvGrpSpPr>
          <p:cNvPr id="16" name="Group 16"/>
          <p:cNvGrpSpPr/>
          <p:nvPr/>
        </p:nvGrpSpPr>
        <p:grpSpPr>
          <a:xfrm>
            <a:off x="14604194" y="6149811"/>
            <a:ext cx="1523911" cy="1407885"/>
            <a:chOff x="0" y="0"/>
            <a:chExt cx="2031881" cy="1877180"/>
          </a:xfrm>
        </p:grpSpPr>
        <p:sp>
          <p:nvSpPr>
            <p:cNvPr id="17" name="Freeform 17"/>
            <p:cNvSpPr/>
            <p:nvPr/>
          </p:nvSpPr>
          <p:spPr>
            <a:xfrm>
              <a:off x="0" y="0"/>
              <a:ext cx="2031873" cy="1877187"/>
            </a:xfrm>
            <a:custGeom>
              <a:avLst/>
              <a:gdLst/>
              <a:ahLst/>
              <a:cxnLst/>
              <a:rect l="l" t="t" r="r" b="b"/>
              <a:pathLst>
                <a:path w="2031873" h="1877187">
                  <a:moveTo>
                    <a:pt x="0" y="0"/>
                  </a:moveTo>
                  <a:lnTo>
                    <a:pt x="2031873" y="0"/>
                  </a:lnTo>
                  <a:lnTo>
                    <a:pt x="2031873" y="1877187"/>
                  </a:lnTo>
                  <a:lnTo>
                    <a:pt x="0" y="1877187"/>
                  </a:lnTo>
                  <a:lnTo>
                    <a:pt x="0" y="0"/>
                  </a:lnTo>
                  <a:close/>
                </a:path>
              </a:pathLst>
            </a:custGeom>
            <a:blipFill>
              <a:blip r:embed="rId10"/>
              <a:stretch>
                <a:fillRect t="-4120" b="-4120"/>
              </a:stretch>
            </a:blipFill>
          </p:spPr>
        </p:sp>
      </p:grpSp>
      <p:grpSp>
        <p:nvGrpSpPr>
          <p:cNvPr id="18" name="Group 18"/>
          <p:cNvGrpSpPr/>
          <p:nvPr/>
        </p:nvGrpSpPr>
        <p:grpSpPr>
          <a:xfrm>
            <a:off x="10103789" y="7946250"/>
            <a:ext cx="1520026" cy="1520026"/>
            <a:chOff x="0" y="0"/>
            <a:chExt cx="2026701" cy="2026701"/>
          </a:xfrm>
        </p:grpSpPr>
        <p:sp>
          <p:nvSpPr>
            <p:cNvPr id="19" name="Freeform 19"/>
            <p:cNvSpPr/>
            <p:nvPr/>
          </p:nvSpPr>
          <p:spPr>
            <a:xfrm>
              <a:off x="0" y="0"/>
              <a:ext cx="2026666" cy="2026666"/>
            </a:xfrm>
            <a:custGeom>
              <a:avLst/>
              <a:gdLst/>
              <a:ahLst/>
              <a:cxnLst/>
              <a:rect l="l" t="t" r="r" b="b"/>
              <a:pathLst>
                <a:path w="2026666" h="2026666">
                  <a:moveTo>
                    <a:pt x="0" y="0"/>
                  </a:moveTo>
                  <a:lnTo>
                    <a:pt x="2026666" y="0"/>
                  </a:lnTo>
                  <a:lnTo>
                    <a:pt x="2026666" y="2026666"/>
                  </a:lnTo>
                  <a:lnTo>
                    <a:pt x="0" y="2026666"/>
                  </a:lnTo>
                  <a:lnTo>
                    <a:pt x="0" y="0"/>
                  </a:lnTo>
                  <a:close/>
                </a:path>
              </a:pathLst>
            </a:custGeom>
            <a:blipFill>
              <a:blip r:embed="rId11"/>
              <a:stretch>
                <a:fillRect r="-1" b="-1"/>
              </a:stretch>
            </a:blipFill>
          </p:spPr>
        </p:sp>
      </p:grpSp>
      <p:grpSp>
        <p:nvGrpSpPr>
          <p:cNvPr id="20" name="Group 20"/>
          <p:cNvGrpSpPr/>
          <p:nvPr/>
        </p:nvGrpSpPr>
        <p:grpSpPr>
          <a:xfrm>
            <a:off x="11824860" y="8447789"/>
            <a:ext cx="3230925" cy="516948"/>
            <a:chOff x="0" y="0"/>
            <a:chExt cx="4307900" cy="689264"/>
          </a:xfrm>
        </p:grpSpPr>
        <p:sp>
          <p:nvSpPr>
            <p:cNvPr id="21" name="Freeform 21"/>
            <p:cNvSpPr/>
            <p:nvPr/>
          </p:nvSpPr>
          <p:spPr>
            <a:xfrm>
              <a:off x="0" y="0"/>
              <a:ext cx="4307840" cy="689229"/>
            </a:xfrm>
            <a:custGeom>
              <a:avLst/>
              <a:gdLst/>
              <a:ahLst/>
              <a:cxnLst/>
              <a:rect l="l" t="t" r="r" b="b"/>
              <a:pathLst>
                <a:path w="4307840" h="689229">
                  <a:moveTo>
                    <a:pt x="0" y="0"/>
                  </a:moveTo>
                  <a:lnTo>
                    <a:pt x="4307840" y="0"/>
                  </a:lnTo>
                  <a:lnTo>
                    <a:pt x="4307840" y="689229"/>
                  </a:lnTo>
                  <a:lnTo>
                    <a:pt x="0" y="689229"/>
                  </a:lnTo>
                  <a:lnTo>
                    <a:pt x="0" y="0"/>
                  </a:lnTo>
                  <a:close/>
                </a:path>
              </a:pathLst>
            </a:custGeom>
            <a:blipFill>
              <a:blip r:embed="rId12"/>
              <a:stretch>
                <a:fillRect t="-542" r="-1" b="-547"/>
              </a:stretch>
            </a:blipFill>
          </p:spPr>
        </p:sp>
      </p:grpSp>
      <p:sp>
        <p:nvSpPr>
          <p:cNvPr id="22" name="TextBox 22"/>
          <p:cNvSpPr txBox="1"/>
          <p:nvPr/>
        </p:nvSpPr>
        <p:spPr>
          <a:xfrm>
            <a:off x="1213588" y="3981141"/>
            <a:ext cx="6932644" cy="1157954"/>
          </a:xfrm>
          <a:prstGeom prst="rect">
            <a:avLst/>
          </a:prstGeom>
        </p:spPr>
        <p:txBody>
          <a:bodyPr lIns="0" tIns="0" rIns="0" bIns="0" rtlCol="0" anchor="t">
            <a:spAutoFit/>
          </a:bodyPr>
          <a:lstStyle/>
          <a:p>
            <a:pPr marL="548641" lvl="2" indent="-182880" algn="l">
              <a:lnSpc>
                <a:spcPts val="4032"/>
              </a:lnSpc>
              <a:buFont typeface="Arial"/>
              <a:buChar char="⚬"/>
            </a:pPr>
            <a:r>
              <a:rPr lang="en-US" sz="2400">
                <a:solidFill>
                  <a:srgbClr val="FFFFFF"/>
                </a:solidFill>
                <a:latin typeface="Public Sans"/>
                <a:ea typeface="Public Sans"/>
                <a:cs typeface="Public Sans"/>
                <a:sym typeface="Public Sans"/>
              </a:rPr>
              <a:t>Frontend / App de escritorio: Electron, HTML, CSS, JavaScript nodejs.</a:t>
            </a:r>
          </a:p>
        </p:txBody>
      </p:sp>
      <p:sp>
        <p:nvSpPr>
          <p:cNvPr id="23" name="TextBox 23"/>
          <p:cNvSpPr txBox="1"/>
          <p:nvPr/>
        </p:nvSpPr>
        <p:spPr>
          <a:xfrm>
            <a:off x="1213588" y="5262371"/>
            <a:ext cx="6932644" cy="539048"/>
          </a:xfrm>
          <a:prstGeom prst="rect">
            <a:avLst/>
          </a:prstGeom>
        </p:spPr>
        <p:txBody>
          <a:bodyPr lIns="0" tIns="0" rIns="0" bIns="0" rtlCol="0" anchor="t">
            <a:spAutoFit/>
          </a:bodyPr>
          <a:lstStyle/>
          <a:p>
            <a:pPr marL="548641" lvl="2" indent="-182880" algn="l">
              <a:lnSpc>
                <a:spcPts val="4032"/>
              </a:lnSpc>
              <a:buFont typeface="Arial"/>
              <a:buChar char="⚬"/>
            </a:pPr>
            <a:r>
              <a:rPr lang="en-US" sz="2400">
                <a:solidFill>
                  <a:srgbClr val="FFFFFF"/>
                </a:solidFill>
                <a:latin typeface="Public Sans"/>
                <a:ea typeface="Public Sans"/>
                <a:cs typeface="Public Sans"/>
                <a:sym typeface="Public Sans"/>
              </a:rPr>
              <a:t>Backend / Lógica: Python, MySql.</a:t>
            </a:r>
          </a:p>
        </p:txBody>
      </p:sp>
      <p:sp>
        <p:nvSpPr>
          <p:cNvPr id="24" name="TextBox 24"/>
          <p:cNvSpPr txBox="1"/>
          <p:nvPr/>
        </p:nvSpPr>
        <p:spPr>
          <a:xfrm>
            <a:off x="1213588" y="6125269"/>
            <a:ext cx="6932644" cy="640890"/>
          </a:xfrm>
          <a:prstGeom prst="rect">
            <a:avLst/>
          </a:prstGeom>
        </p:spPr>
        <p:txBody>
          <a:bodyPr lIns="0" tIns="0" rIns="0" bIns="0" rtlCol="0" anchor="t">
            <a:spAutoFit/>
          </a:bodyPr>
          <a:lstStyle/>
          <a:p>
            <a:pPr marL="548641" lvl="2" indent="-182880" algn="l">
              <a:lnSpc>
                <a:spcPts val="4032"/>
              </a:lnSpc>
              <a:buFont typeface="Arial"/>
              <a:buChar char="⚬"/>
            </a:pPr>
            <a:r>
              <a:rPr lang="en-US" sz="2400">
                <a:solidFill>
                  <a:srgbClr val="FFFFFF"/>
                </a:solidFill>
                <a:latin typeface="Public Sans"/>
                <a:ea typeface="Public Sans"/>
                <a:cs typeface="Public Sans"/>
                <a:sym typeface="Public Sans"/>
              </a:rPr>
              <a:t>APIs: Gemini, ElevenLabs, Twitchio.</a:t>
            </a:r>
          </a:p>
        </p:txBody>
      </p:sp>
      <p:sp>
        <p:nvSpPr>
          <p:cNvPr id="25" name="TextBox 25"/>
          <p:cNvSpPr txBox="1"/>
          <p:nvPr/>
        </p:nvSpPr>
        <p:spPr>
          <a:xfrm>
            <a:off x="1213588" y="6988168"/>
            <a:ext cx="8443140" cy="958082"/>
          </a:xfrm>
          <a:prstGeom prst="rect">
            <a:avLst/>
          </a:prstGeom>
        </p:spPr>
        <p:txBody>
          <a:bodyPr lIns="0" tIns="0" rIns="0" bIns="0" rtlCol="0" anchor="t">
            <a:spAutoFit/>
          </a:bodyPr>
          <a:lstStyle/>
          <a:p>
            <a:pPr marL="548641" lvl="2" indent="-182880" algn="l">
              <a:lnSpc>
                <a:spcPts val="4032"/>
              </a:lnSpc>
              <a:buFont typeface="Arial"/>
              <a:buChar char="⚬"/>
            </a:pPr>
            <a:r>
              <a:rPr lang="en-US" sz="2400">
                <a:solidFill>
                  <a:srgbClr val="FFFFFF"/>
                </a:solidFill>
                <a:latin typeface="Public Sans"/>
                <a:ea typeface="Public Sans"/>
                <a:cs typeface="Public Sans"/>
                <a:sym typeface="Public Sans"/>
              </a:rPr>
              <a:t>Otros recursos: StreamBot, Vtuber Studio, salida de audio virtual.</a:t>
            </a:r>
          </a:p>
        </p:txBody>
      </p:sp>
      <p:sp>
        <p:nvSpPr>
          <p:cNvPr id="26" name="TextBox 26"/>
          <p:cNvSpPr txBox="1"/>
          <p:nvPr/>
        </p:nvSpPr>
        <p:spPr>
          <a:xfrm>
            <a:off x="1213588" y="878335"/>
            <a:ext cx="8115300" cy="2214204"/>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Herramientas y Tecnologías</a:t>
            </a:r>
          </a:p>
        </p:txBody>
      </p:sp>
      <p:grpSp>
        <p:nvGrpSpPr>
          <p:cNvPr id="27" name="Group 27"/>
          <p:cNvGrpSpPr>
            <a:grpSpLocks noChangeAspect="1"/>
          </p:cNvGrpSpPr>
          <p:nvPr/>
        </p:nvGrpSpPr>
        <p:grpSpPr>
          <a:xfrm>
            <a:off x="15055785" y="7946250"/>
            <a:ext cx="3137177" cy="1727803"/>
            <a:chOff x="0" y="0"/>
            <a:chExt cx="4182903" cy="2303737"/>
          </a:xfrm>
        </p:grpSpPr>
        <p:sp>
          <p:nvSpPr>
            <p:cNvPr id="28" name="Freeform 28" descr="Google Gemini"/>
            <p:cNvSpPr/>
            <p:nvPr/>
          </p:nvSpPr>
          <p:spPr>
            <a:xfrm>
              <a:off x="0" y="0"/>
              <a:ext cx="4182872" cy="2303780"/>
            </a:xfrm>
            <a:custGeom>
              <a:avLst/>
              <a:gdLst/>
              <a:ahLst/>
              <a:cxnLst/>
              <a:rect l="l" t="t" r="r" b="b"/>
              <a:pathLst>
                <a:path w="4182872" h="2303780">
                  <a:moveTo>
                    <a:pt x="0" y="0"/>
                  </a:moveTo>
                  <a:lnTo>
                    <a:pt x="4182872" y="0"/>
                  </a:lnTo>
                  <a:lnTo>
                    <a:pt x="4182872" y="2303780"/>
                  </a:lnTo>
                  <a:lnTo>
                    <a:pt x="0" y="2303780"/>
                  </a:lnTo>
                  <a:lnTo>
                    <a:pt x="0" y="0"/>
                  </a:lnTo>
                  <a:close/>
                </a:path>
              </a:pathLst>
            </a:custGeom>
            <a:blipFill>
              <a:blip r:embed="rId13"/>
              <a:stretch>
                <a:fillRect l="-23363" t="-39949" r="-36482" b="-23302"/>
              </a:stretch>
            </a:blipFill>
          </p:spPr>
        </p:sp>
      </p:grpSp>
      <p:grpSp>
        <p:nvGrpSpPr>
          <p:cNvPr id="29" name="Group 29"/>
          <p:cNvGrpSpPr>
            <a:grpSpLocks noChangeAspect="1"/>
          </p:cNvGrpSpPr>
          <p:nvPr/>
        </p:nvGrpSpPr>
        <p:grpSpPr>
          <a:xfrm>
            <a:off x="12864663" y="3940699"/>
            <a:ext cx="2617600" cy="2617600"/>
            <a:chOff x="0" y="0"/>
            <a:chExt cx="3490133" cy="3490133"/>
          </a:xfrm>
        </p:grpSpPr>
        <p:sp>
          <p:nvSpPr>
            <p:cNvPr id="30" name="Freeform 30"/>
            <p:cNvSpPr/>
            <p:nvPr/>
          </p:nvSpPr>
          <p:spPr>
            <a:xfrm>
              <a:off x="0" y="0"/>
              <a:ext cx="3490087" cy="3490087"/>
            </a:xfrm>
            <a:custGeom>
              <a:avLst/>
              <a:gdLst/>
              <a:ahLst/>
              <a:cxnLst/>
              <a:rect l="l" t="t" r="r" b="b"/>
              <a:pathLst>
                <a:path w="3490087" h="3490087">
                  <a:moveTo>
                    <a:pt x="0" y="0"/>
                  </a:moveTo>
                  <a:lnTo>
                    <a:pt x="3490087" y="0"/>
                  </a:lnTo>
                  <a:lnTo>
                    <a:pt x="3490087" y="3490087"/>
                  </a:lnTo>
                  <a:lnTo>
                    <a:pt x="0" y="3490087"/>
                  </a:lnTo>
                  <a:lnTo>
                    <a:pt x="0" y="0"/>
                  </a:lnTo>
                  <a:close/>
                </a:path>
              </a:pathLst>
            </a:custGeom>
            <a:blipFill>
              <a:blip r:embed="rId14"/>
              <a:stretch>
                <a:fillRect r="-1" b="-1"/>
              </a:stretch>
            </a:blipFill>
          </p:spPr>
        </p:sp>
      </p:gr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9235" b="-9235"/>
              </a:stretch>
            </a:blipFill>
          </p:spPr>
        </p:sp>
      </p:grpSp>
      <p:grpSp>
        <p:nvGrpSpPr>
          <p:cNvPr id="4" name="Group 4"/>
          <p:cNvGrpSpPr/>
          <p:nvPr/>
        </p:nvGrpSpPr>
        <p:grpSpPr>
          <a:xfrm>
            <a:off x="13077592" y="1028700"/>
            <a:ext cx="6690329" cy="1321340"/>
            <a:chOff x="0" y="0"/>
            <a:chExt cx="8920439" cy="1761787"/>
          </a:xfrm>
        </p:grpSpPr>
        <p:sp>
          <p:nvSpPr>
            <p:cNvPr id="5" name="Freeform 5"/>
            <p:cNvSpPr/>
            <p:nvPr/>
          </p:nvSpPr>
          <p:spPr>
            <a:xfrm flipH="1">
              <a:off x="0" y="0"/>
              <a:ext cx="8920480" cy="1761744"/>
            </a:xfrm>
            <a:custGeom>
              <a:avLst/>
              <a:gdLst/>
              <a:ahLst/>
              <a:cxnLst/>
              <a:rect l="l" t="t" r="r" b="b"/>
              <a:pathLst>
                <a:path w="8920480" h="1761744">
                  <a:moveTo>
                    <a:pt x="8920480" y="0"/>
                  </a:moveTo>
                  <a:lnTo>
                    <a:pt x="0" y="0"/>
                  </a:lnTo>
                  <a:lnTo>
                    <a:pt x="0" y="1761744"/>
                  </a:lnTo>
                  <a:lnTo>
                    <a:pt x="8920480" y="1761744"/>
                  </a:lnTo>
                  <a:lnTo>
                    <a:pt x="8920480" y="0"/>
                  </a:lnTo>
                  <a:close/>
                </a:path>
              </a:pathLst>
            </a:custGeom>
            <a:blipFill>
              <a:blip r:embed="rId4"/>
              <a:stretch>
                <a:fillRect l="-132" r="-132" b="-2"/>
              </a:stretch>
            </a:blipFill>
          </p:spPr>
        </p:sp>
      </p:grpSp>
      <p:grpSp>
        <p:nvGrpSpPr>
          <p:cNvPr id="6" name="Group 6"/>
          <p:cNvGrpSpPr/>
          <p:nvPr/>
        </p:nvGrpSpPr>
        <p:grpSpPr>
          <a:xfrm rot="2700000">
            <a:off x="-1003068" y="5792767"/>
            <a:ext cx="9571075" cy="8163329"/>
            <a:chOff x="0" y="0"/>
            <a:chExt cx="12761433" cy="10884439"/>
          </a:xfrm>
        </p:grpSpPr>
        <p:sp>
          <p:nvSpPr>
            <p:cNvPr id="7" name="Freeform 7"/>
            <p:cNvSpPr/>
            <p:nvPr/>
          </p:nvSpPr>
          <p:spPr>
            <a:xfrm>
              <a:off x="0" y="0"/>
              <a:ext cx="12761468" cy="10884408"/>
            </a:xfrm>
            <a:custGeom>
              <a:avLst/>
              <a:gdLst/>
              <a:ahLst/>
              <a:cxnLst/>
              <a:rect l="l" t="t" r="r" b="b"/>
              <a:pathLst>
                <a:path w="12761468" h="10884408">
                  <a:moveTo>
                    <a:pt x="0" y="0"/>
                  </a:moveTo>
                  <a:lnTo>
                    <a:pt x="12761468" y="0"/>
                  </a:lnTo>
                  <a:lnTo>
                    <a:pt x="12761468" y="10884408"/>
                  </a:lnTo>
                  <a:lnTo>
                    <a:pt x="0" y="10884408"/>
                  </a:lnTo>
                  <a:lnTo>
                    <a:pt x="0" y="0"/>
                  </a:lnTo>
                  <a:close/>
                </a:path>
              </a:pathLst>
            </a:custGeom>
            <a:blipFill>
              <a:blip r:embed="rId5">
                <a:alphaModFix amt="70000"/>
              </a:blip>
              <a:stretch>
                <a:fillRect l="-2" r="-2"/>
              </a:stretch>
            </a:blipFill>
          </p:spPr>
        </p:sp>
      </p:grpSp>
      <p:sp>
        <p:nvSpPr>
          <p:cNvPr id="8" name="TextBox 8"/>
          <p:cNvSpPr txBox="1"/>
          <p:nvPr/>
        </p:nvSpPr>
        <p:spPr>
          <a:xfrm>
            <a:off x="9144000" y="3053927"/>
            <a:ext cx="7754698" cy="1346867"/>
          </a:xfrm>
          <a:prstGeom prst="rect">
            <a:avLst/>
          </a:prstGeom>
        </p:spPr>
        <p:txBody>
          <a:bodyPr lIns="0" tIns="0" rIns="0" bIns="0" rtlCol="0" anchor="t">
            <a:spAutoFit/>
          </a:bodyPr>
          <a:lstStyle/>
          <a:p>
            <a:pPr marL="686293" lvl="2" indent="-228764" algn="just">
              <a:lnSpc>
                <a:spcPts val="5547"/>
              </a:lnSpc>
              <a:buFont typeface="Arial"/>
              <a:buChar char="⚬"/>
            </a:pPr>
            <a:r>
              <a:rPr lang="en-US" sz="3001">
                <a:solidFill>
                  <a:srgbClr val="FFFFFF"/>
                </a:solidFill>
                <a:latin typeface="Public Sans"/>
                <a:ea typeface="Public Sans"/>
                <a:cs typeface="Public Sans"/>
                <a:sym typeface="Public Sans"/>
              </a:rPr>
              <a:t>Incrementa la interacción en tiempo real con los espectadores.</a:t>
            </a:r>
          </a:p>
        </p:txBody>
      </p:sp>
      <p:sp>
        <p:nvSpPr>
          <p:cNvPr id="9" name="TextBox 9"/>
          <p:cNvSpPr txBox="1"/>
          <p:nvPr/>
        </p:nvSpPr>
        <p:spPr>
          <a:xfrm>
            <a:off x="9144000" y="4638918"/>
            <a:ext cx="8913613" cy="1346867"/>
          </a:xfrm>
          <a:prstGeom prst="rect">
            <a:avLst/>
          </a:prstGeom>
        </p:spPr>
        <p:txBody>
          <a:bodyPr lIns="0" tIns="0" rIns="0" bIns="0" rtlCol="0" anchor="t">
            <a:spAutoFit/>
          </a:bodyPr>
          <a:lstStyle/>
          <a:p>
            <a:pPr marL="686293" lvl="2" indent="-228764" algn="just">
              <a:lnSpc>
                <a:spcPts val="5547"/>
              </a:lnSpc>
              <a:buFont typeface="Arial"/>
              <a:buChar char="⚬"/>
            </a:pPr>
            <a:r>
              <a:rPr lang="en-US" sz="3001">
                <a:solidFill>
                  <a:srgbClr val="FFFFFF"/>
                </a:solidFill>
                <a:latin typeface="Public Sans"/>
                <a:ea typeface="Public Sans"/>
                <a:cs typeface="Public Sans"/>
                <a:sym typeface="Public Sans"/>
              </a:rPr>
              <a:t>Facilita la accesibilidad a streamers que no pueden leer constantemente el chat.</a:t>
            </a:r>
          </a:p>
        </p:txBody>
      </p:sp>
      <p:sp>
        <p:nvSpPr>
          <p:cNvPr id="10" name="TextBox 10"/>
          <p:cNvSpPr txBox="1"/>
          <p:nvPr/>
        </p:nvSpPr>
        <p:spPr>
          <a:xfrm>
            <a:off x="9144000" y="6223910"/>
            <a:ext cx="6895278" cy="1346867"/>
          </a:xfrm>
          <a:prstGeom prst="rect">
            <a:avLst/>
          </a:prstGeom>
        </p:spPr>
        <p:txBody>
          <a:bodyPr lIns="0" tIns="0" rIns="0" bIns="0" rtlCol="0" anchor="t">
            <a:spAutoFit/>
          </a:bodyPr>
          <a:lstStyle/>
          <a:p>
            <a:pPr marL="686293" lvl="2" indent="-228764" algn="l">
              <a:lnSpc>
                <a:spcPts val="5547"/>
              </a:lnSpc>
              <a:buFont typeface="Arial"/>
              <a:buChar char="⚬"/>
            </a:pPr>
            <a:r>
              <a:rPr lang="en-US" sz="3001">
                <a:solidFill>
                  <a:srgbClr val="FFFFFF"/>
                </a:solidFill>
                <a:latin typeface="Public Sans"/>
                <a:ea typeface="Public Sans"/>
                <a:cs typeface="Public Sans"/>
                <a:sym typeface="Public Sans"/>
              </a:rPr>
              <a:t>Aporta dinamismo y mayor inmersión al streaming.</a:t>
            </a:r>
          </a:p>
        </p:txBody>
      </p:sp>
      <p:sp>
        <p:nvSpPr>
          <p:cNvPr id="11" name="TextBox 11"/>
          <p:cNvSpPr txBox="1"/>
          <p:nvPr/>
        </p:nvSpPr>
        <p:spPr>
          <a:xfrm>
            <a:off x="9144000" y="7946473"/>
            <a:ext cx="8575054" cy="1927958"/>
          </a:xfrm>
          <a:prstGeom prst="rect">
            <a:avLst/>
          </a:prstGeom>
        </p:spPr>
        <p:txBody>
          <a:bodyPr lIns="0" tIns="0" rIns="0" bIns="0" rtlCol="0" anchor="t">
            <a:spAutoFit/>
          </a:bodyPr>
          <a:lstStyle/>
          <a:p>
            <a:pPr marL="686293" lvl="2" indent="-228764" algn="just">
              <a:lnSpc>
                <a:spcPts val="5547"/>
              </a:lnSpc>
              <a:buFont typeface="Arial"/>
              <a:buChar char="⚬"/>
            </a:pPr>
            <a:r>
              <a:rPr lang="en-US" sz="3001">
                <a:solidFill>
                  <a:srgbClr val="FFFFFF"/>
                </a:solidFill>
                <a:latin typeface="Public Sans"/>
                <a:ea typeface="Public Sans"/>
                <a:cs typeface="Public Sans"/>
                <a:sym typeface="Public Sans"/>
              </a:rPr>
              <a:t>Abre posibilidades de expansión hacia nuevas plataformas y funcionalidades.</a:t>
            </a:r>
          </a:p>
          <a:p>
            <a:pPr marL="686293" lvl="2" indent="-228764" algn="just">
              <a:lnSpc>
                <a:spcPts val="5547"/>
              </a:lnSpc>
            </a:pPr>
            <a:endParaRPr lang="en-US" sz="3001">
              <a:solidFill>
                <a:srgbClr val="FFFFFF"/>
              </a:solidFill>
              <a:latin typeface="Public Sans"/>
              <a:ea typeface="Public Sans"/>
              <a:cs typeface="Public Sans"/>
              <a:sym typeface="Public Sans"/>
            </a:endParaRPr>
          </a:p>
        </p:txBody>
      </p:sp>
      <p:sp>
        <p:nvSpPr>
          <p:cNvPr id="12" name="TextBox 12"/>
          <p:cNvSpPr txBox="1"/>
          <p:nvPr/>
        </p:nvSpPr>
        <p:spPr>
          <a:xfrm>
            <a:off x="1028700" y="361950"/>
            <a:ext cx="8856368" cy="3956183"/>
          </a:xfrm>
          <a:prstGeom prst="rect">
            <a:avLst/>
          </a:prstGeom>
        </p:spPr>
        <p:txBody>
          <a:bodyPr lIns="0" tIns="0" rIns="0" bIns="0" rtlCol="0" anchor="t">
            <a:spAutoFit/>
          </a:bodyPr>
          <a:lstStyle/>
          <a:p>
            <a:pPr algn="l">
              <a:lnSpc>
                <a:spcPts val="16798"/>
              </a:lnSpc>
            </a:pPr>
            <a:r>
              <a:rPr lang="en-US" sz="9999" b="1">
                <a:solidFill>
                  <a:srgbClr val="FFFFFF"/>
                </a:solidFill>
                <a:latin typeface="Public Sans Bold"/>
                <a:ea typeface="Public Sans Bold"/>
                <a:cs typeface="Public Sans Bold"/>
                <a:sym typeface="Public Sans Bold"/>
              </a:rPr>
              <a:t>Beneficios del Proyecto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694859"/>
            <a:ext cx="18297525" cy="607603"/>
            <a:chOff x="0" y="0"/>
            <a:chExt cx="24396700" cy="810137"/>
          </a:xfrm>
        </p:grpSpPr>
        <p:sp>
          <p:nvSpPr>
            <p:cNvPr id="3" name="Freeform 3"/>
            <p:cNvSpPr/>
            <p:nvPr/>
          </p:nvSpPr>
          <p:spPr>
            <a:xfrm>
              <a:off x="0" y="0"/>
              <a:ext cx="24396700" cy="810133"/>
            </a:xfrm>
            <a:custGeom>
              <a:avLst/>
              <a:gdLst/>
              <a:ahLst/>
              <a:cxnLst/>
              <a:rect l="l" t="t" r="r" b="b"/>
              <a:pathLst>
                <a:path w="24396700" h="810133">
                  <a:moveTo>
                    <a:pt x="0" y="0"/>
                  </a:moveTo>
                  <a:lnTo>
                    <a:pt x="24396700" y="0"/>
                  </a:lnTo>
                  <a:lnTo>
                    <a:pt x="24396700" y="810133"/>
                  </a:lnTo>
                  <a:lnTo>
                    <a:pt x="0" y="810133"/>
                  </a:lnTo>
                  <a:lnTo>
                    <a:pt x="0" y="0"/>
                  </a:lnTo>
                  <a:close/>
                </a:path>
              </a:pathLst>
            </a:custGeom>
            <a:blipFill>
              <a:blip r:embed="rId3"/>
              <a:stretch>
                <a:fillRect t="-953412" b="-953413"/>
              </a:stretch>
            </a:blipFill>
          </p:spPr>
        </p:sp>
      </p:grpSp>
      <p:sp>
        <p:nvSpPr>
          <p:cNvPr id="4" name="AutoShape 4"/>
          <p:cNvSpPr/>
          <p:nvPr/>
        </p:nvSpPr>
        <p:spPr>
          <a:xfrm rot="20909">
            <a:off x="7365363" y="1565809"/>
            <a:ext cx="6264026" cy="0"/>
          </a:xfrm>
          <a:prstGeom prst="line">
            <a:avLst/>
          </a:prstGeom>
          <a:ln w="28575" cap="rnd">
            <a:solidFill>
              <a:srgbClr val="311581"/>
            </a:solidFill>
            <a:prstDash val="solid"/>
            <a:headEnd type="oval" w="lg" len="lg"/>
            <a:tailEnd type="oval" w="lg" len="lg"/>
          </a:ln>
        </p:spPr>
      </p:sp>
      <p:grpSp>
        <p:nvGrpSpPr>
          <p:cNvPr id="5" name="Group 5"/>
          <p:cNvGrpSpPr/>
          <p:nvPr/>
        </p:nvGrpSpPr>
        <p:grpSpPr>
          <a:xfrm>
            <a:off x="195995" y="81009"/>
            <a:ext cx="18473328" cy="607603"/>
            <a:chOff x="0" y="0"/>
            <a:chExt cx="24631103" cy="810138"/>
          </a:xfrm>
        </p:grpSpPr>
        <p:sp>
          <p:nvSpPr>
            <p:cNvPr id="6" name="Freeform 6"/>
            <p:cNvSpPr/>
            <p:nvPr/>
          </p:nvSpPr>
          <p:spPr>
            <a:xfrm>
              <a:off x="0" y="0"/>
              <a:ext cx="24631142" cy="810133"/>
            </a:xfrm>
            <a:custGeom>
              <a:avLst/>
              <a:gdLst/>
              <a:ahLst/>
              <a:cxnLst/>
              <a:rect l="l" t="t" r="r" b="b"/>
              <a:pathLst>
                <a:path w="24631142" h="810133">
                  <a:moveTo>
                    <a:pt x="0" y="0"/>
                  </a:moveTo>
                  <a:lnTo>
                    <a:pt x="24631142" y="0"/>
                  </a:lnTo>
                  <a:lnTo>
                    <a:pt x="24631142" y="810133"/>
                  </a:lnTo>
                  <a:lnTo>
                    <a:pt x="0" y="810133"/>
                  </a:lnTo>
                  <a:lnTo>
                    <a:pt x="0" y="0"/>
                  </a:lnTo>
                  <a:close/>
                </a:path>
              </a:pathLst>
            </a:custGeom>
            <a:blipFill>
              <a:blip r:embed="rId3"/>
              <a:stretch>
                <a:fillRect t="-963053" b="-963054"/>
              </a:stretch>
            </a:blipFill>
          </p:spPr>
        </p:sp>
      </p:grpSp>
      <p:grpSp>
        <p:nvGrpSpPr>
          <p:cNvPr id="7" name="Group 7"/>
          <p:cNvGrpSpPr/>
          <p:nvPr/>
        </p:nvGrpSpPr>
        <p:grpSpPr>
          <a:xfrm>
            <a:off x="28567" y="81009"/>
            <a:ext cx="6526043" cy="4974187"/>
            <a:chOff x="0" y="0"/>
            <a:chExt cx="8701391" cy="6632249"/>
          </a:xfrm>
        </p:grpSpPr>
        <p:sp>
          <p:nvSpPr>
            <p:cNvPr id="8" name="Freeform 8"/>
            <p:cNvSpPr/>
            <p:nvPr/>
          </p:nvSpPr>
          <p:spPr>
            <a:xfrm>
              <a:off x="0" y="0"/>
              <a:ext cx="8701405" cy="6632194"/>
            </a:xfrm>
            <a:custGeom>
              <a:avLst/>
              <a:gdLst/>
              <a:ahLst/>
              <a:cxnLst/>
              <a:rect l="l" t="t" r="r" b="b"/>
              <a:pathLst>
                <a:path w="8701405" h="6632194">
                  <a:moveTo>
                    <a:pt x="8701405" y="0"/>
                  </a:moveTo>
                  <a:lnTo>
                    <a:pt x="5423281" y="6273673"/>
                  </a:lnTo>
                  <a:cubicBezTo>
                    <a:pt x="5313426" y="6495034"/>
                    <a:pt x="5105908" y="6632194"/>
                    <a:pt x="4880864" y="6632194"/>
                  </a:cubicBezTo>
                  <a:lnTo>
                    <a:pt x="0" y="6632194"/>
                  </a:lnTo>
                  <a:lnTo>
                    <a:pt x="0" y="0"/>
                  </a:lnTo>
                  <a:close/>
                </a:path>
              </a:pathLst>
            </a:custGeom>
            <a:blipFill>
              <a:blip r:embed="rId4"/>
              <a:stretch>
                <a:fillRect l="-22590" r="-22590"/>
              </a:stretch>
            </a:blipFill>
          </p:spPr>
        </p:sp>
      </p:grpSp>
      <p:sp>
        <p:nvSpPr>
          <p:cNvPr id="9" name="Freeform 9"/>
          <p:cNvSpPr/>
          <p:nvPr/>
        </p:nvSpPr>
        <p:spPr>
          <a:xfrm>
            <a:off x="1185765" y="5251301"/>
            <a:ext cx="657418" cy="657418"/>
          </a:xfrm>
          <a:custGeom>
            <a:avLst/>
            <a:gdLst/>
            <a:ahLst/>
            <a:cxnLst/>
            <a:rect l="l" t="t" r="r" b="b"/>
            <a:pathLst>
              <a:path w="657418" h="657418">
                <a:moveTo>
                  <a:pt x="0" y="0"/>
                </a:moveTo>
                <a:lnTo>
                  <a:pt x="657418" y="0"/>
                </a:lnTo>
                <a:lnTo>
                  <a:pt x="657418" y="657418"/>
                </a:lnTo>
                <a:lnTo>
                  <a:pt x="0" y="65741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0" name="TextBox 10"/>
          <p:cNvSpPr txBox="1"/>
          <p:nvPr/>
        </p:nvSpPr>
        <p:spPr>
          <a:xfrm>
            <a:off x="1376831" y="5272166"/>
            <a:ext cx="237186" cy="575534"/>
          </a:xfrm>
          <a:prstGeom prst="rect">
            <a:avLst/>
          </a:prstGeom>
        </p:spPr>
        <p:txBody>
          <a:bodyPr lIns="0" tIns="0" rIns="0" bIns="0" rtlCol="0" anchor="t">
            <a:spAutoFit/>
          </a:bodyPr>
          <a:lstStyle/>
          <a:p>
            <a:pPr algn="l">
              <a:lnSpc>
                <a:spcPts val="4835"/>
              </a:lnSpc>
            </a:pPr>
            <a:r>
              <a:rPr lang="en-US" sz="3443" b="1">
                <a:solidFill>
                  <a:srgbClr val="311581"/>
                </a:solidFill>
                <a:latin typeface="Nunito Bold"/>
                <a:ea typeface="Nunito Bold"/>
                <a:cs typeface="Nunito Bold"/>
                <a:sym typeface="Nunito Bold"/>
              </a:rPr>
              <a:t>1</a:t>
            </a:r>
          </a:p>
        </p:txBody>
      </p:sp>
      <p:sp>
        <p:nvSpPr>
          <p:cNvPr id="11" name="Freeform 11"/>
          <p:cNvSpPr/>
          <p:nvPr/>
        </p:nvSpPr>
        <p:spPr>
          <a:xfrm>
            <a:off x="7547194" y="5217977"/>
            <a:ext cx="657418" cy="657418"/>
          </a:xfrm>
          <a:custGeom>
            <a:avLst/>
            <a:gdLst/>
            <a:ahLst/>
            <a:cxnLst/>
            <a:rect l="l" t="t" r="r" b="b"/>
            <a:pathLst>
              <a:path w="657418" h="657418">
                <a:moveTo>
                  <a:pt x="0" y="0"/>
                </a:moveTo>
                <a:lnTo>
                  <a:pt x="657418" y="0"/>
                </a:lnTo>
                <a:lnTo>
                  <a:pt x="657418" y="657418"/>
                </a:lnTo>
                <a:lnTo>
                  <a:pt x="0" y="65741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2" name="TextBox 12"/>
          <p:cNvSpPr txBox="1"/>
          <p:nvPr/>
        </p:nvSpPr>
        <p:spPr>
          <a:xfrm>
            <a:off x="7748432" y="5225989"/>
            <a:ext cx="254942" cy="574719"/>
          </a:xfrm>
          <a:prstGeom prst="rect">
            <a:avLst/>
          </a:prstGeom>
        </p:spPr>
        <p:txBody>
          <a:bodyPr lIns="0" tIns="0" rIns="0" bIns="0" rtlCol="0" anchor="t">
            <a:spAutoFit/>
          </a:bodyPr>
          <a:lstStyle/>
          <a:p>
            <a:pPr algn="l">
              <a:lnSpc>
                <a:spcPts val="4695"/>
              </a:lnSpc>
            </a:pPr>
            <a:r>
              <a:rPr lang="en-US" sz="3343" b="1">
                <a:solidFill>
                  <a:srgbClr val="311581"/>
                </a:solidFill>
                <a:latin typeface="Nunito Bold"/>
                <a:ea typeface="Nunito Bold"/>
                <a:cs typeface="Nunito Bold"/>
                <a:sym typeface="Nunito Bold"/>
              </a:rPr>
              <a:t>2</a:t>
            </a:r>
          </a:p>
        </p:txBody>
      </p:sp>
      <p:sp>
        <p:nvSpPr>
          <p:cNvPr id="13" name="Freeform 13"/>
          <p:cNvSpPr/>
          <p:nvPr/>
        </p:nvSpPr>
        <p:spPr>
          <a:xfrm>
            <a:off x="12995759" y="5217977"/>
            <a:ext cx="657418" cy="657418"/>
          </a:xfrm>
          <a:custGeom>
            <a:avLst/>
            <a:gdLst/>
            <a:ahLst/>
            <a:cxnLst/>
            <a:rect l="l" t="t" r="r" b="b"/>
            <a:pathLst>
              <a:path w="657418" h="657418">
                <a:moveTo>
                  <a:pt x="0" y="0"/>
                </a:moveTo>
                <a:lnTo>
                  <a:pt x="657418" y="0"/>
                </a:lnTo>
                <a:lnTo>
                  <a:pt x="657418" y="657418"/>
                </a:lnTo>
                <a:lnTo>
                  <a:pt x="0" y="65741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4" name="TextBox 14"/>
          <p:cNvSpPr txBox="1"/>
          <p:nvPr/>
        </p:nvSpPr>
        <p:spPr>
          <a:xfrm>
            <a:off x="13196996" y="5235514"/>
            <a:ext cx="254942" cy="574719"/>
          </a:xfrm>
          <a:prstGeom prst="rect">
            <a:avLst/>
          </a:prstGeom>
        </p:spPr>
        <p:txBody>
          <a:bodyPr lIns="0" tIns="0" rIns="0" bIns="0" rtlCol="0" anchor="t">
            <a:spAutoFit/>
          </a:bodyPr>
          <a:lstStyle/>
          <a:p>
            <a:pPr algn="l">
              <a:lnSpc>
                <a:spcPts val="4695"/>
              </a:lnSpc>
            </a:pPr>
            <a:r>
              <a:rPr lang="en-US" sz="3343" b="1">
                <a:solidFill>
                  <a:srgbClr val="311581"/>
                </a:solidFill>
                <a:latin typeface="Nunito Bold"/>
                <a:ea typeface="Nunito Bold"/>
                <a:cs typeface="Nunito Bold"/>
                <a:sym typeface="Nunito Bold"/>
              </a:rPr>
              <a:t>3</a:t>
            </a:r>
          </a:p>
        </p:txBody>
      </p:sp>
      <p:sp>
        <p:nvSpPr>
          <p:cNvPr id="15" name="AutoShape 15"/>
          <p:cNvSpPr/>
          <p:nvPr/>
        </p:nvSpPr>
        <p:spPr>
          <a:xfrm rot="36521">
            <a:off x="7546237" y="6529885"/>
            <a:ext cx="3586368" cy="0"/>
          </a:xfrm>
          <a:prstGeom prst="line">
            <a:avLst/>
          </a:prstGeom>
          <a:ln w="28575" cap="rnd">
            <a:solidFill>
              <a:srgbClr val="311581"/>
            </a:solidFill>
            <a:prstDash val="solid"/>
            <a:headEnd type="oval" w="lg" len="lg"/>
            <a:tailEnd type="oval" w="lg" len="lg"/>
          </a:ln>
        </p:spPr>
      </p:sp>
      <p:sp>
        <p:nvSpPr>
          <p:cNvPr id="16" name="AutoShape 16"/>
          <p:cNvSpPr/>
          <p:nvPr/>
        </p:nvSpPr>
        <p:spPr>
          <a:xfrm rot="36521">
            <a:off x="1184808" y="6548935"/>
            <a:ext cx="3586368" cy="0"/>
          </a:xfrm>
          <a:prstGeom prst="line">
            <a:avLst/>
          </a:prstGeom>
          <a:ln w="28575" cap="rnd">
            <a:solidFill>
              <a:srgbClr val="311581"/>
            </a:solidFill>
            <a:prstDash val="solid"/>
            <a:headEnd type="oval" w="lg" len="lg"/>
            <a:tailEnd type="oval" w="lg" len="lg"/>
          </a:ln>
        </p:spPr>
      </p:sp>
      <p:sp>
        <p:nvSpPr>
          <p:cNvPr id="17" name="AutoShape 17"/>
          <p:cNvSpPr/>
          <p:nvPr/>
        </p:nvSpPr>
        <p:spPr>
          <a:xfrm rot="36521">
            <a:off x="12994802" y="6529885"/>
            <a:ext cx="3586368" cy="0"/>
          </a:xfrm>
          <a:prstGeom prst="line">
            <a:avLst/>
          </a:prstGeom>
          <a:ln w="28575" cap="rnd">
            <a:solidFill>
              <a:srgbClr val="311581"/>
            </a:solidFill>
            <a:prstDash val="solid"/>
            <a:headEnd type="oval" w="lg" len="lg"/>
            <a:tailEnd type="oval" w="lg" len="lg"/>
          </a:ln>
        </p:spPr>
      </p:sp>
      <p:sp>
        <p:nvSpPr>
          <p:cNvPr id="18" name="TextBox 18"/>
          <p:cNvSpPr txBox="1"/>
          <p:nvPr/>
        </p:nvSpPr>
        <p:spPr>
          <a:xfrm>
            <a:off x="13013953" y="6669554"/>
            <a:ext cx="3914251" cy="707814"/>
          </a:xfrm>
          <a:prstGeom prst="rect">
            <a:avLst/>
          </a:prstGeom>
        </p:spPr>
        <p:txBody>
          <a:bodyPr lIns="0" tIns="0" rIns="0" bIns="0" rtlCol="0" anchor="t">
            <a:spAutoFit/>
          </a:bodyPr>
          <a:lstStyle/>
          <a:p>
            <a:pPr algn="l">
              <a:lnSpc>
                <a:spcPts val="3117"/>
              </a:lnSpc>
            </a:pPr>
            <a:r>
              <a:rPr lang="en-US" sz="2220" b="1">
                <a:solidFill>
                  <a:srgbClr val="311581"/>
                </a:solidFill>
                <a:latin typeface="Public Sans Bold"/>
                <a:ea typeface="Public Sans Bold"/>
                <a:cs typeface="Public Sans Bold"/>
                <a:sym typeface="Public Sans Bold"/>
              </a:rPr>
              <a:t>Documentación, pruebas y entrega final.</a:t>
            </a:r>
          </a:p>
        </p:txBody>
      </p:sp>
      <p:sp>
        <p:nvSpPr>
          <p:cNvPr id="19" name="TextBox 19"/>
          <p:cNvSpPr txBox="1"/>
          <p:nvPr/>
        </p:nvSpPr>
        <p:spPr>
          <a:xfrm>
            <a:off x="7584438" y="6669554"/>
            <a:ext cx="3529016" cy="1020900"/>
          </a:xfrm>
          <a:prstGeom prst="rect">
            <a:avLst/>
          </a:prstGeom>
        </p:spPr>
        <p:txBody>
          <a:bodyPr lIns="0" tIns="0" rIns="0" bIns="0" rtlCol="0" anchor="t">
            <a:spAutoFit/>
          </a:bodyPr>
          <a:lstStyle/>
          <a:p>
            <a:pPr algn="l">
              <a:lnSpc>
                <a:spcPts val="3117"/>
              </a:lnSpc>
            </a:pPr>
            <a:r>
              <a:rPr lang="en-US" sz="2220" b="1">
                <a:solidFill>
                  <a:srgbClr val="311581"/>
                </a:solidFill>
                <a:latin typeface="Public Sans Bold"/>
                <a:ea typeface="Public Sans Bold"/>
                <a:cs typeface="Public Sans Bold"/>
                <a:sym typeface="Public Sans Bold"/>
              </a:rPr>
              <a:t>Incorporación de mejoras y funcionalidades adicionales.</a:t>
            </a:r>
          </a:p>
        </p:txBody>
      </p:sp>
      <p:sp>
        <p:nvSpPr>
          <p:cNvPr id="20" name="TextBox 20"/>
          <p:cNvSpPr txBox="1"/>
          <p:nvPr/>
        </p:nvSpPr>
        <p:spPr>
          <a:xfrm>
            <a:off x="1203959" y="6669554"/>
            <a:ext cx="3964628" cy="702470"/>
          </a:xfrm>
          <a:prstGeom prst="rect">
            <a:avLst/>
          </a:prstGeom>
        </p:spPr>
        <p:txBody>
          <a:bodyPr lIns="0" tIns="0" rIns="0" bIns="0" rtlCol="0" anchor="t">
            <a:spAutoFit/>
          </a:bodyPr>
          <a:lstStyle/>
          <a:p>
            <a:pPr algn="l">
              <a:lnSpc>
                <a:spcPts val="3117"/>
              </a:lnSpc>
            </a:pPr>
            <a:r>
              <a:rPr lang="en-US" sz="2220" b="1">
                <a:solidFill>
                  <a:srgbClr val="311581"/>
                </a:solidFill>
                <a:latin typeface="Public Sans Bold"/>
                <a:ea typeface="Public Sans Bold"/>
                <a:cs typeface="Public Sans Bold"/>
                <a:sym typeface="Public Sans Bold"/>
              </a:rPr>
              <a:t>Desarrollo del producto mínimo viable.</a:t>
            </a:r>
          </a:p>
        </p:txBody>
      </p:sp>
      <p:sp>
        <p:nvSpPr>
          <p:cNvPr id="21" name="TextBox 21"/>
          <p:cNvSpPr txBox="1"/>
          <p:nvPr/>
        </p:nvSpPr>
        <p:spPr>
          <a:xfrm>
            <a:off x="1203959" y="5967640"/>
            <a:ext cx="3548066" cy="466995"/>
          </a:xfrm>
          <a:prstGeom prst="rect">
            <a:avLst/>
          </a:prstGeom>
        </p:spPr>
        <p:txBody>
          <a:bodyPr lIns="0" tIns="0" rIns="0" bIns="0" rtlCol="0" anchor="t">
            <a:spAutoFit/>
          </a:bodyPr>
          <a:lstStyle/>
          <a:p>
            <a:pPr algn="l">
              <a:lnSpc>
                <a:spcPts val="3608"/>
              </a:lnSpc>
            </a:pPr>
            <a:r>
              <a:rPr lang="en-US" sz="2570" b="1">
                <a:solidFill>
                  <a:srgbClr val="311581"/>
                </a:solidFill>
                <a:latin typeface="Public Sans Bold"/>
                <a:ea typeface="Public Sans Bold"/>
                <a:cs typeface="Public Sans Bold"/>
                <a:sym typeface="Public Sans Bold"/>
              </a:rPr>
              <a:t>ETAPA 1</a:t>
            </a:r>
          </a:p>
        </p:txBody>
      </p:sp>
      <p:sp>
        <p:nvSpPr>
          <p:cNvPr id="22" name="TextBox 22"/>
          <p:cNvSpPr txBox="1"/>
          <p:nvPr/>
        </p:nvSpPr>
        <p:spPr>
          <a:xfrm>
            <a:off x="7584438" y="5966725"/>
            <a:ext cx="3529016" cy="467938"/>
          </a:xfrm>
          <a:prstGeom prst="rect">
            <a:avLst/>
          </a:prstGeom>
        </p:spPr>
        <p:txBody>
          <a:bodyPr lIns="0" tIns="0" rIns="0" bIns="0" rtlCol="0" anchor="t">
            <a:spAutoFit/>
          </a:bodyPr>
          <a:lstStyle/>
          <a:p>
            <a:pPr algn="l">
              <a:lnSpc>
                <a:spcPts val="3608"/>
              </a:lnSpc>
            </a:pPr>
            <a:r>
              <a:rPr lang="en-US" sz="2570" b="1">
                <a:solidFill>
                  <a:srgbClr val="311581"/>
                </a:solidFill>
                <a:latin typeface="Public Sans Bold"/>
                <a:ea typeface="Public Sans Bold"/>
                <a:cs typeface="Public Sans Bold"/>
                <a:sym typeface="Public Sans Bold"/>
              </a:rPr>
              <a:t>ETAPA 2</a:t>
            </a:r>
          </a:p>
        </p:txBody>
      </p:sp>
      <p:sp>
        <p:nvSpPr>
          <p:cNvPr id="23" name="TextBox 23"/>
          <p:cNvSpPr txBox="1"/>
          <p:nvPr/>
        </p:nvSpPr>
        <p:spPr>
          <a:xfrm>
            <a:off x="13013953" y="5966725"/>
            <a:ext cx="3548066" cy="467938"/>
          </a:xfrm>
          <a:prstGeom prst="rect">
            <a:avLst/>
          </a:prstGeom>
        </p:spPr>
        <p:txBody>
          <a:bodyPr lIns="0" tIns="0" rIns="0" bIns="0" rtlCol="0" anchor="t">
            <a:spAutoFit/>
          </a:bodyPr>
          <a:lstStyle/>
          <a:p>
            <a:pPr algn="l">
              <a:lnSpc>
                <a:spcPts val="3608"/>
              </a:lnSpc>
            </a:pPr>
            <a:r>
              <a:rPr lang="en-US" sz="2570" b="1">
                <a:solidFill>
                  <a:srgbClr val="311581"/>
                </a:solidFill>
                <a:latin typeface="Public Sans Bold"/>
                <a:ea typeface="Public Sans Bold"/>
                <a:cs typeface="Public Sans Bold"/>
                <a:sym typeface="Public Sans Bold"/>
              </a:rPr>
              <a:t>ETAPA 3</a:t>
            </a:r>
          </a:p>
        </p:txBody>
      </p:sp>
      <p:sp>
        <p:nvSpPr>
          <p:cNvPr id="24" name="TextBox 24"/>
          <p:cNvSpPr txBox="1"/>
          <p:nvPr/>
        </p:nvSpPr>
        <p:spPr>
          <a:xfrm>
            <a:off x="7384471" y="2198278"/>
            <a:ext cx="9532046" cy="2218050"/>
          </a:xfrm>
          <a:prstGeom prst="rect">
            <a:avLst/>
          </a:prstGeom>
        </p:spPr>
        <p:txBody>
          <a:bodyPr lIns="0" tIns="0" rIns="0" bIns="0" rtlCol="0" anchor="t">
            <a:spAutoFit/>
          </a:bodyPr>
          <a:lstStyle/>
          <a:p>
            <a:pPr algn="l">
              <a:lnSpc>
                <a:spcPts val="9855"/>
              </a:lnSpc>
            </a:pPr>
            <a:r>
              <a:rPr lang="en-US" sz="7398" b="1">
                <a:solidFill>
                  <a:srgbClr val="311581"/>
                </a:solidFill>
                <a:latin typeface="Public Sans Bold"/>
                <a:ea typeface="Public Sans Bold"/>
                <a:cs typeface="Public Sans Bold"/>
                <a:sym typeface="Public Sans Bold"/>
              </a:rPr>
              <a:t>Cronograma de Trabajo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9259" b="-9259"/>
              </a:stretch>
            </a:blipFill>
          </p:spPr>
        </p:sp>
      </p:grpSp>
      <p:sp>
        <p:nvSpPr>
          <p:cNvPr id="4" name="Freeform 4"/>
          <p:cNvSpPr/>
          <p:nvPr/>
        </p:nvSpPr>
        <p:spPr>
          <a:xfrm rot="2700000">
            <a:off x="-1003068" y="5792767"/>
            <a:ext cx="9571075" cy="8163329"/>
          </a:xfrm>
          <a:custGeom>
            <a:avLst/>
            <a:gdLst/>
            <a:ahLst/>
            <a:cxnLst/>
            <a:rect l="l" t="t" r="r" b="b"/>
            <a:pathLst>
              <a:path w="9571075" h="8163329">
                <a:moveTo>
                  <a:pt x="0" y="0"/>
                </a:moveTo>
                <a:lnTo>
                  <a:pt x="9571075" y="0"/>
                </a:lnTo>
                <a:lnTo>
                  <a:pt x="9571075" y="8163329"/>
                </a:lnTo>
                <a:lnTo>
                  <a:pt x="0" y="8163329"/>
                </a:lnTo>
                <a:lnTo>
                  <a:pt x="0" y="0"/>
                </a:lnTo>
                <a:close/>
              </a:path>
            </a:pathLst>
          </a:custGeom>
          <a:blipFill>
            <a:blip r:embed="rId3">
              <a:alphaModFix amt="19999"/>
              <a:extLst>
                <a:ext uri="{96DAC541-7B7A-43D3-8B79-37D633B846F1}">
                  <asvg:svgBlip xmlns:asvg="http://schemas.microsoft.com/office/drawing/2016/SVG/main" xmlns="" r:embed="rId4"/>
                </a:ext>
              </a:extLst>
            </a:blip>
            <a:stretch>
              <a:fillRect t="-47" b="-47"/>
            </a:stretch>
          </a:blipFill>
        </p:spPr>
      </p:sp>
      <p:grpSp>
        <p:nvGrpSpPr>
          <p:cNvPr id="5" name="Group 5"/>
          <p:cNvGrpSpPr/>
          <p:nvPr/>
        </p:nvGrpSpPr>
        <p:grpSpPr>
          <a:xfrm>
            <a:off x="9437446" y="1028700"/>
            <a:ext cx="9711503" cy="9258300"/>
            <a:chOff x="0" y="0"/>
            <a:chExt cx="12948671" cy="12344400"/>
          </a:xfrm>
        </p:grpSpPr>
        <p:sp>
          <p:nvSpPr>
            <p:cNvPr id="6" name="Freeform 6"/>
            <p:cNvSpPr/>
            <p:nvPr/>
          </p:nvSpPr>
          <p:spPr>
            <a:xfrm>
              <a:off x="0" y="0"/>
              <a:ext cx="12948666" cy="12344400"/>
            </a:xfrm>
            <a:custGeom>
              <a:avLst/>
              <a:gdLst/>
              <a:ahLst/>
              <a:cxnLst/>
              <a:rect l="l" t="t" r="r" b="b"/>
              <a:pathLst>
                <a:path w="12948666" h="12344400">
                  <a:moveTo>
                    <a:pt x="0" y="0"/>
                  </a:moveTo>
                  <a:lnTo>
                    <a:pt x="12948666" y="0"/>
                  </a:lnTo>
                  <a:lnTo>
                    <a:pt x="12948666" y="12344400"/>
                  </a:lnTo>
                  <a:lnTo>
                    <a:pt x="0" y="12344400"/>
                  </a:lnTo>
                  <a:lnTo>
                    <a:pt x="0" y="0"/>
                  </a:lnTo>
                  <a:close/>
                </a:path>
              </a:pathLst>
            </a:custGeom>
            <a:blipFill>
              <a:blip r:embed="rId5"/>
              <a:stretch>
                <a:fillRect l="-9" r="-9"/>
              </a:stretch>
            </a:blipFill>
          </p:spPr>
        </p:sp>
      </p:grpSp>
      <p:sp>
        <p:nvSpPr>
          <p:cNvPr id="7" name="Freeform 7"/>
          <p:cNvSpPr/>
          <p:nvPr/>
        </p:nvSpPr>
        <p:spPr>
          <a:xfrm flipH="1">
            <a:off x="13077592" y="1028700"/>
            <a:ext cx="6690329" cy="1321340"/>
          </a:xfrm>
          <a:custGeom>
            <a:avLst/>
            <a:gdLst/>
            <a:ahLst/>
            <a:cxnLst/>
            <a:rect l="l" t="t" r="r" b="b"/>
            <a:pathLst>
              <a:path w="6690329" h="1321340">
                <a:moveTo>
                  <a:pt x="6690329" y="0"/>
                </a:moveTo>
                <a:lnTo>
                  <a:pt x="0" y="0"/>
                </a:lnTo>
                <a:lnTo>
                  <a:pt x="0" y="1321340"/>
                </a:lnTo>
                <a:lnTo>
                  <a:pt x="6690329" y="1321340"/>
                </a:lnTo>
                <a:lnTo>
                  <a:pt x="6690329" y="0"/>
                </a:lnTo>
                <a:close/>
              </a:path>
            </a:pathLst>
          </a:custGeom>
          <a:blipFill>
            <a:blip r:embed="rId6">
              <a:extLst>
                <a:ext uri="{96DAC541-7B7A-43D3-8B79-37D633B846F1}">
                  <asvg:svgBlip xmlns:asvg="http://schemas.microsoft.com/office/drawing/2016/SVG/main" xmlns="" r:embed="rId7"/>
                </a:ext>
              </a:extLst>
            </a:blip>
            <a:stretch>
              <a:fillRect l="-14" r="-14"/>
            </a:stretch>
          </a:blipFill>
        </p:spPr>
      </p:sp>
      <p:grpSp>
        <p:nvGrpSpPr>
          <p:cNvPr id="8" name="Group 8"/>
          <p:cNvGrpSpPr/>
          <p:nvPr/>
        </p:nvGrpSpPr>
        <p:grpSpPr>
          <a:xfrm>
            <a:off x="1009650" y="1537234"/>
            <a:ext cx="6263910" cy="38100"/>
            <a:chOff x="0" y="0"/>
            <a:chExt cx="8351880" cy="50800"/>
          </a:xfrm>
        </p:grpSpPr>
        <p:sp>
          <p:nvSpPr>
            <p:cNvPr id="9" name="Freeform 9"/>
            <p:cNvSpPr/>
            <p:nvPr/>
          </p:nvSpPr>
          <p:spPr>
            <a:xfrm>
              <a:off x="25400" y="0"/>
              <a:ext cx="8301101" cy="50800"/>
            </a:xfrm>
            <a:custGeom>
              <a:avLst/>
              <a:gdLst/>
              <a:ahLst/>
              <a:cxnLst/>
              <a:rect l="l" t="t" r="r" b="b"/>
              <a:pathLst>
                <a:path w="8301101" h="50800">
                  <a:moveTo>
                    <a:pt x="0" y="0"/>
                  </a:moveTo>
                  <a:lnTo>
                    <a:pt x="8301101" y="0"/>
                  </a:lnTo>
                  <a:lnTo>
                    <a:pt x="8301101" y="50800"/>
                  </a:lnTo>
                  <a:lnTo>
                    <a:pt x="0" y="50800"/>
                  </a:lnTo>
                  <a:close/>
                </a:path>
              </a:pathLst>
            </a:custGeom>
            <a:solidFill>
              <a:srgbClr val="FFFFFF"/>
            </a:solidFill>
          </p:spPr>
        </p:sp>
      </p:grpSp>
      <p:sp>
        <p:nvSpPr>
          <p:cNvPr id="10" name="TextBox 10"/>
          <p:cNvSpPr txBox="1"/>
          <p:nvPr/>
        </p:nvSpPr>
        <p:spPr>
          <a:xfrm>
            <a:off x="1028700" y="1201154"/>
            <a:ext cx="8230541" cy="4139686"/>
          </a:xfrm>
          <a:prstGeom prst="rect">
            <a:avLst/>
          </a:prstGeom>
        </p:spPr>
        <p:txBody>
          <a:bodyPr lIns="0" tIns="0" rIns="0" bIns="0" rtlCol="0" anchor="t">
            <a:spAutoFit/>
          </a:bodyPr>
          <a:lstStyle/>
          <a:p>
            <a:pPr algn="l">
              <a:lnSpc>
                <a:spcPts val="15417"/>
              </a:lnSpc>
            </a:pPr>
            <a:r>
              <a:rPr lang="en-US" sz="10010">
                <a:solidFill>
                  <a:srgbClr val="FFFFFF"/>
                </a:solidFill>
                <a:latin typeface="Public Sans"/>
                <a:ea typeface="Public Sans"/>
                <a:cs typeface="Public Sans"/>
                <a:sym typeface="Public Sans"/>
              </a:rPr>
              <a:t>Avances del Proyecto</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340" y="-66675"/>
            <a:ext cx="18394680" cy="2428425"/>
            <a:chOff x="0" y="0"/>
            <a:chExt cx="24526240" cy="3237900"/>
          </a:xfrm>
        </p:grpSpPr>
        <p:sp>
          <p:nvSpPr>
            <p:cNvPr id="3" name="Freeform 3"/>
            <p:cNvSpPr/>
            <p:nvPr/>
          </p:nvSpPr>
          <p:spPr>
            <a:xfrm>
              <a:off x="0" y="0"/>
              <a:ext cx="24526239" cy="3237919"/>
            </a:xfrm>
            <a:custGeom>
              <a:avLst/>
              <a:gdLst/>
              <a:ahLst/>
              <a:cxnLst/>
              <a:rect l="l" t="t" r="r" b="b"/>
              <a:pathLst>
                <a:path w="24526239" h="3237919">
                  <a:moveTo>
                    <a:pt x="0" y="0"/>
                  </a:moveTo>
                  <a:lnTo>
                    <a:pt x="24526239" y="0"/>
                  </a:lnTo>
                  <a:lnTo>
                    <a:pt x="24526239" y="3237919"/>
                  </a:lnTo>
                  <a:lnTo>
                    <a:pt x="0" y="3237919"/>
                  </a:lnTo>
                  <a:lnTo>
                    <a:pt x="0" y="0"/>
                  </a:lnTo>
                  <a:close/>
                </a:path>
              </a:pathLst>
            </a:custGeom>
            <a:blipFill>
              <a:blip r:embed="rId3"/>
              <a:stretch>
                <a:fillRect t="-202389" b="-202388"/>
              </a:stretch>
            </a:blipFill>
          </p:spPr>
        </p:sp>
      </p:grpSp>
      <p:grpSp>
        <p:nvGrpSpPr>
          <p:cNvPr id="4" name="Group 4"/>
          <p:cNvGrpSpPr/>
          <p:nvPr/>
        </p:nvGrpSpPr>
        <p:grpSpPr>
          <a:xfrm>
            <a:off x="12660903" y="311482"/>
            <a:ext cx="6690329" cy="1321340"/>
            <a:chOff x="0" y="0"/>
            <a:chExt cx="8920439" cy="1761787"/>
          </a:xfrm>
        </p:grpSpPr>
        <p:sp>
          <p:nvSpPr>
            <p:cNvPr id="5" name="Freeform 5"/>
            <p:cNvSpPr/>
            <p:nvPr/>
          </p:nvSpPr>
          <p:spPr>
            <a:xfrm flipH="1">
              <a:off x="0" y="0"/>
              <a:ext cx="8920480" cy="1761744"/>
            </a:xfrm>
            <a:custGeom>
              <a:avLst/>
              <a:gdLst/>
              <a:ahLst/>
              <a:cxnLst/>
              <a:rect l="l" t="t" r="r" b="b"/>
              <a:pathLst>
                <a:path w="8920480" h="1761744">
                  <a:moveTo>
                    <a:pt x="8920480" y="0"/>
                  </a:moveTo>
                  <a:lnTo>
                    <a:pt x="0" y="0"/>
                  </a:lnTo>
                  <a:lnTo>
                    <a:pt x="0" y="1761744"/>
                  </a:lnTo>
                  <a:lnTo>
                    <a:pt x="8920480" y="1761744"/>
                  </a:lnTo>
                  <a:lnTo>
                    <a:pt x="8920480" y="0"/>
                  </a:lnTo>
                  <a:close/>
                </a:path>
              </a:pathLst>
            </a:custGeom>
            <a:blipFill>
              <a:blip r:embed="rId4"/>
              <a:stretch>
                <a:fillRect l="-132" r="-132" b="-2"/>
              </a:stretch>
            </a:blipFill>
          </p:spPr>
        </p:sp>
      </p:grpSp>
      <p:sp>
        <p:nvSpPr>
          <p:cNvPr id="6" name="Freeform 6"/>
          <p:cNvSpPr/>
          <p:nvPr/>
        </p:nvSpPr>
        <p:spPr>
          <a:xfrm>
            <a:off x="12265072" y="5110352"/>
            <a:ext cx="5184548" cy="999204"/>
          </a:xfrm>
          <a:custGeom>
            <a:avLst/>
            <a:gdLst/>
            <a:ahLst/>
            <a:cxnLst/>
            <a:rect l="l" t="t" r="r" b="b"/>
            <a:pathLst>
              <a:path w="5184548" h="999204">
                <a:moveTo>
                  <a:pt x="0" y="0"/>
                </a:moveTo>
                <a:lnTo>
                  <a:pt x="5184548" y="0"/>
                </a:lnTo>
                <a:lnTo>
                  <a:pt x="5184548" y="999204"/>
                </a:lnTo>
                <a:lnTo>
                  <a:pt x="0" y="999204"/>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a:off x="13220032" y="7012373"/>
            <a:ext cx="3274627" cy="3274627"/>
          </a:xfrm>
          <a:custGeom>
            <a:avLst/>
            <a:gdLst/>
            <a:ahLst/>
            <a:cxnLst/>
            <a:rect l="l" t="t" r="r" b="b"/>
            <a:pathLst>
              <a:path w="3274627" h="3274627">
                <a:moveTo>
                  <a:pt x="0" y="0"/>
                </a:moveTo>
                <a:lnTo>
                  <a:pt x="3274627" y="0"/>
                </a:lnTo>
                <a:lnTo>
                  <a:pt x="3274627" y="3274627"/>
                </a:lnTo>
                <a:lnTo>
                  <a:pt x="0" y="3274627"/>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8" name="TextBox 8"/>
          <p:cNvSpPr txBox="1"/>
          <p:nvPr/>
        </p:nvSpPr>
        <p:spPr>
          <a:xfrm>
            <a:off x="605610" y="825936"/>
            <a:ext cx="11680636" cy="1228568"/>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Entrevistas Realizadas</a:t>
            </a:r>
          </a:p>
        </p:txBody>
      </p:sp>
      <p:sp>
        <p:nvSpPr>
          <p:cNvPr id="9" name="TextBox 9"/>
          <p:cNvSpPr txBox="1"/>
          <p:nvPr/>
        </p:nvSpPr>
        <p:spPr>
          <a:xfrm>
            <a:off x="15479821" y="6052406"/>
            <a:ext cx="2732839" cy="456875"/>
          </a:xfrm>
          <a:prstGeom prst="rect">
            <a:avLst/>
          </a:prstGeom>
        </p:spPr>
        <p:txBody>
          <a:bodyPr lIns="0" tIns="0" rIns="0" bIns="0" rtlCol="0" anchor="t">
            <a:spAutoFit/>
          </a:bodyPr>
          <a:lstStyle/>
          <a:p>
            <a:pPr algn="ctr">
              <a:lnSpc>
                <a:spcPts val="3117"/>
              </a:lnSpc>
            </a:pPr>
            <a:r>
              <a:rPr lang="en-US" sz="2220" b="1">
                <a:solidFill>
                  <a:srgbClr val="311581"/>
                </a:solidFill>
                <a:latin typeface="Public Sans Bold"/>
                <a:ea typeface="Public Sans Bold"/>
                <a:cs typeface="Public Sans Bold"/>
                <a:sym typeface="Public Sans Bold"/>
              </a:rPr>
              <a:t>.</a:t>
            </a:r>
          </a:p>
        </p:txBody>
      </p:sp>
      <p:sp>
        <p:nvSpPr>
          <p:cNvPr id="10" name="TextBox 10"/>
          <p:cNvSpPr txBox="1"/>
          <p:nvPr/>
        </p:nvSpPr>
        <p:spPr>
          <a:xfrm>
            <a:off x="605610" y="2446942"/>
            <a:ext cx="16358458" cy="1314351"/>
          </a:xfrm>
          <a:prstGeom prst="rect">
            <a:avLst/>
          </a:prstGeom>
        </p:spPr>
        <p:txBody>
          <a:bodyPr lIns="0" tIns="0" rIns="0" bIns="0" rtlCol="0" anchor="t">
            <a:spAutoFit/>
          </a:bodyPr>
          <a:lstStyle/>
          <a:p>
            <a:pPr algn="l">
              <a:lnSpc>
                <a:spcPts val="3599"/>
              </a:lnSpc>
            </a:pPr>
            <a:r>
              <a:rPr lang="en-US" sz="1999">
                <a:solidFill>
                  <a:srgbClr val="7030A0"/>
                </a:solidFill>
                <a:latin typeface="Public Sans"/>
                <a:ea typeface="Public Sans"/>
                <a:cs typeface="Public Sans"/>
                <a:sym typeface="Public Sans"/>
              </a:rPr>
              <a:t>Con el objetivo de comprender las necesidades reales de los creadores de contenido, se llevaron a cabo entrevistas estructuradas de forma remota a traves de la plataforma de discord. Durante estas conversaciones se abordaron los siguientes tópicos clave:</a:t>
            </a:r>
          </a:p>
          <a:p>
            <a:pPr algn="l">
              <a:lnSpc>
                <a:spcPts val="3599"/>
              </a:lnSpc>
            </a:pPr>
            <a:endParaRPr lang="en-US" sz="1999">
              <a:solidFill>
                <a:srgbClr val="7030A0"/>
              </a:solidFill>
              <a:latin typeface="Public Sans"/>
              <a:ea typeface="Public Sans"/>
              <a:cs typeface="Public Sans"/>
              <a:sym typeface="Public Sans"/>
            </a:endParaRPr>
          </a:p>
        </p:txBody>
      </p:sp>
      <p:sp>
        <p:nvSpPr>
          <p:cNvPr id="11" name="TextBox 11"/>
          <p:cNvSpPr txBox="1"/>
          <p:nvPr/>
        </p:nvSpPr>
        <p:spPr>
          <a:xfrm>
            <a:off x="605610" y="3923219"/>
            <a:ext cx="9218249" cy="2561462"/>
          </a:xfrm>
          <a:prstGeom prst="rect">
            <a:avLst/>
          </a:prstGeom>
        </p:spPr>
        <p:txBody>
          <a:bodyPr lIns="0" tIns="0" rIns="0" bIns="0" rtlCol="0" anchor="t">
            <a:spAutoFit/>
          </a:bodyPr>
          <a:lstStyle/>
          <a:p>
            <a:pPr algn="just">
              <a:lnSpc>
                <a:spcPts val="2280"/>
              </a:lnSpc>
            </a:pPr>
            <a:r>
              <a:rPr lang="en-US" sz="1520" b="1">
                <a:solidFill>
                  <a:srgbClr val="7030A0"/>
                </a:solidFill>
                <a:latin typeface="Public Sans Bold"/>
                <a:ea typeface="Public Sans Bold"/>
                <a:cs typeface="Public Sans Bold"/>
                <a:sym typeface="Public Sans Bold"/>
              </a:rPr>
              <a:t>Interacción y Engagement</a:t>
            </a:r>
          </a:p>
          <a:p>
            <a:pPr marL="328172" lvl="1" indent="-164086" algn="just">
              <a:lnSpc>
                <a:spcPts val="2280"/>
              </a:lnSpc>
              <a:buFont typeface="Arial"/>
              <a:buChar char="•"/>
            </a:pPr>
            <a:r>
              <a:rPr lang="en-US" sz="1520">
                <a:solidFill>
                  <a:srgbClr val="7030A0"/>
                </a:solidFill>
                <a:latin typeface="Public Sans"/>
                <a:ea typeface="Public Sans"/>
                <a:cs typeface="Public Sans"/>
                <a:sym typeface="Public Sans"/>
              </a:rPr>
              <a:t>Necesidad de mayor dinamismo e interacción en tiempo real con la audiencia.</a:t>
            </a:r>
          </a:p>
          <a:p>
            <a:pPr marL="328172" lvl="1" indent="-164086" algn="just">
              <a:lnSpc>
                <a:spcPts val="2280"/>
              </a:lnSpc>
              <a:buFont typeface="Arial"/>
              <a:buChar char="•"/>
            </a:pPr>
            <a:r>
              <a:rPr lang="en-US" sz="1520">
                <a:solidFill>
                  <a:srgbClr val="7030A0"/>
                </a:solidFill>
                <a:latin typeface="Public Sans"/>
                <a:ea typeface="Public Sans"/>
                <a:cs typeface="Public Sans"/>
                <a:sym typeface="Public Sans"/>
              </a:rPr>
              <a:t>Búsqueda de herramientas que aumenten la participación sin interrumpir la transmisión.</a:t>
            </a:r>
          </a:p>
          <a:p>
            <a:pPr algn="just">
              <a:lnSpc>
                <a:spcPts val="2280"/>
              </a:lnSpc>
            </a:pPr>
            <a:r>
              <a:rPr lang="en-US" sz="1520" b="1">
                <a:solidFill>
                  <a:srgbClr val="7030A0"/>
                </a:solidFill>
                <a:latin typeface="Public Sans Bold"/>
                <a:ea typeface="Public Sans Bold"/>
                <a:cs typeface="Public Sans Bold"/>
                <a:sym typeface="Public Sans Bold"/>
              </a:rPr>
              <a:t>Recursos y Limitaciones</a:t>
            </a:r>
          </a:p>
          <a:p>
            <a:pPr marL="328172" lvl="1" indent="-164086" algn="just">
              <a:lnSpc>
                <a:spcPts val="2280"/>
              </a:lnSpc>
              <a:buFont typeface="Arial"/>
              <a:buChar char="•"/>
            </a:pPr>
            <a:r>
              <a:rPr lang="en-US" sz="1520">
                <a:solidFill>
                  <a:srgbClr val="7030A0"/>
                </a:solidFill>
                <a:latin typeface="Public Sans"/>
                <a:ea typeface="Public Sans"/>
                <a:cs typeface="Public Sans"/>
                <a:sym typeface="Public Sans"/>
              </a:rPr>
              <a:t>Uso actual de bots, plugins y software independientes.</a:t>
            </a:r>
          </a:p>
          <a:p>
            <a:pPr marL="328172" lvl="1" indent="-164086" algn="just">
              <a:lnSpc>
                <a:spcPts val="2280"/>
              </a:lnSpc>
              <a:buFont typeface="Arial"/>
              <a:buChar char="•"/>
            </a:pPr>
            <a:r>
              <a:rPr lang="en-US" sz="1520">
                <a:solidFill>
                  <a:srgbClr val="7030A0"/>
                </a:solidFill>
                <a:latin typeface="Public Sans"/>
                <a:ea typeface="Public Sans"/>
                <a:cs typeface="Public Sans"/>
                <a:sym typeface="Public Sans"/>
              </a:rPr>
              <a:t>Limitaciones técnicas, económicas y de integración entre herramientas existentes.</a:t>
            </a:r>
          </a:p>
          <a:p>
            <a:pPr algn="just">
              <a:lnSpc>
                <a:spcPts val="2280"/>
              </a:lnSpc>
            </a:pPr>
            <a:r>
              <a:rPr lang="en-US" sz="1520" b="1">
                <a:solidFill>
                  <a:srgbClr val="7030A0"/>
                </a:solidFill>
                <a:latin typeface="Public Sans Bold"/>
                <a:ea typeface="Public Sans Bold"/>
                <a:cs typeface="Public Sans Bold"/>
                <a:sym typeface="Public Sans Bold"/>
              </a:rPr>
              <a:t>Experiencia Técnica</a:t>
            </a:r>
          </a:p>
          <a:p>
            <a:pPr marL="328172" lvl="1" indent="-164086" algn="just">
              <a:lnSpc>
                <a:spcPts val="2280"/>
              </a:lnSpc>
              <a:buFont typeface="Arial"/>
              <a:buChar char="•"/>
            </a:pPr>
            <a:r>
              <a:rPr lang="en-US" sz="1520">
                <a:solidFill>
                  <a:srgbClr val="7030A0"/>
                </a:solidFill>
                <a:latin typeface="Public Sans"/>
                <a:ea typeface="Public Sans"/>
                <a:cs typeface="Public Sans"/>
                <a:sym typeface="Public Sans"/>
              </a:rPr>
              <a:t>Variedad en niveles de experiencia, desde principiantes hasta streamers avanzados.</a:t>
            </a:r>
          </a:p>
          <a:p>
            <a:pPr marL="328172" lvl="1" indent="-164086" algn="just">
              <a:lnSpc>
                <a:spcPts val="2280"/>
              </a:lnSpc>
              <a:buFont typeface="Arial"/>
              <a:buChar char="•"/>
            </a:pPr>
            <a:r>
              <a:rPr lang="en-US" sz="1520">
                <a:solidFill>
                  <a:srgbClr val="7030A0"/>
                </a:solidFill>
                <a:latin typeface="Public Sans"/>
                <a:ea typeface="Public Sans"/>
                <a:cs typeface="Public Sans"/>
                <a:sym typeface="Public Sans"/>
              </a:rPr>
              <a:t>Demanda de plataformas más intuitivas, con configuraciones guiadas y menor curva de aprendizaje</a:t>
            </a:r>
            <a:r>
              <a:rPr lang="en-US" sz="1520" b="1">
                <a:solidFill>
                  <a:srgbClr val="7030A0"/>
                </a:solidFill>
                <a:latin typeface="Public Sans Bold"/>
                <a:ea typeface="Public Sans Bold"/>
                <a:cs typeface="Public Sans Bold"/>
                <a:sym typeface="Public Sans Bold"/>
              </a:rPr>
              <a:t>.</a:t>
            </a:r>
          </a:p>
        </p:txBody>
      </p:sp>
      <p:sp>
        <p:nvSpPr>
          <p:cNvPr id="12" name="TextBox 12"/>
          <p:cNvSpPr txBox="1"/>
          <p:nvPr/>
        </p:nvSpPr>
        <p:spPr>
          <a:xfrm>
            <a:off x="605610" y="6656131"/>
            <a:ext cx="8226723" cy="1599056"/>
          </a:xfrm>
          <a:prstGeom prst="rect">
            <a:avLst/>
          </a:prstGeom>
        </p:spPr>
        <p:txBody>
          <a:bodyPr lIns="0" tIns="0" rIns="0" bIns="0" rtlCol="0" anchor="t">
            <a:spAutoFit/>
          </a:bodyPr>
          <a:lstStyle/>
          <a:p>
            <a:pPr algn="just">
              <a:lnSpc>
                <a:spcPts val="2134"/>
              </a:lnSpc>
              <a:spcBef>
                <a:spcPct val="0"/>
              </a:spcBef>
            </a:pPr>
            <a:r>
              <a:rPr lang="en-US" sz="1520" b="1">
                <a:solidFill>
                  <a:srgbClr val="7030A0"/>
                </a:solidFill>
                <a:latin typeface="Public Sans Bold"/>
                <a:ea typeface="Public Sans Bold"/>
                <a:cs typeface="Public Sans Bold"/>
                <a:sym typeface="Public Sans Bold"/>
              </a:rPr>
              <a:t>Gestión de Comunidad</a:t>
            </a:r>
          </a:p>
          <a:p>
            <a:pPr marL="328172" lvl="1" indent="-164086" algn="just">
              <a:lnSpc>
                <a:spcPts val="2134"/>
              </a:lnSpc>
              <a:buFont typeface="Arial"/>
              <a:buChar char="•"/>
            </a:pPr>
            <a:r>
              <a:rPr lang="en-US" sz="1520">
                <a:solidFill>
                  <a:srgbClr val="7030A0"/>
                </a:solidFill>
                <a:latin typeface="Public Sans"/>
                <a:ea typeface="Public Sans"/>
                <a:cs typeface="Public Sans"/>
                <a:sym typeface="Public Sans"/>
              </a:rPr>
              <a:t>Importancia de mantener relaciones cercanas con la audiencia.</a:t>
            </a:r>
          </a:p>
          <a:p>
            <a:pPr marL="328172" lvl="1" indent="-164086" algn="just">
              <a:lnSpc>
                <a:spcPts val="2134"/>
              </a:lnSpc>
              <a:buFont typeface="Arial"/>
              <a:buChar char="•"/>
            </a:pPr>
            <a:r>
              <a:rPr lang="en-US" sz="1520">
                <a:solidFill>
                  <a:srgbClr val="7030A0"/>
                </a:solidFill>
                <a:latin typeface="Public Sans"/>
                <a:ea typeface="Public Sans"/>
                <a:cs typeface="Public Sans"/>
                <a:sym typeface="Public Sans"/>
              </a:rPr>
              <a:t>Necesidad de funciones inteligentes para moderación y administración de espectadores</a:t>
            </a:r>
            <a:r>
              <a:rPr lang="en-US" sz="1520" b="1">
                <a:solidFill>
                  <a:srgbClr val="7030A0"/>
                </a:solidFill>
                <a:latin typeface="Public Sans Bold"/>
                <a:ea typeface="Public Sans Bold"/>
                <a:cs typeface="Public Sans Bold"/>
                <a:sym typeface="Public Sans Bold"/>
              </a:rPr>
              <a:t>.</a:t>
            </a:r>
          </a:p>
          <a:p>
            <a:pPr algn="just">
              <a:lnSpc>
                <a:spcPts val="2134"/>
              </a:lnSpc>
              <a:spcBef>
                <a:spcPct val="0"/>
              </a:spcBef>
            </a:pPr>
            <a:r>
              <a:rPr lang="en-US" sz="1520" b="1">
                <a:solidFill>
                  <a:srgbClr val="7030A0"/>
                </a:solidFill>
                <a:latin typeface="Public Sans Bold"/>
                <a:ea typeface="Public Sans Bold"/>
                <a:cs typeface="Public Sans Bold"/>
                <a:sym typeface="Public Sans Bold"/>
              </a:rPr>
              <a:t>Personalización del Canal</a:t>
            </a:r>
          </a:p>
          <a:p>
            <a:pPr marL="328172" lvl="1" indent="-164086" algn="just">
              <a:lnSpc>
                <a:spcPts val="2134"/>
              </a:lnSpc>
              <a:buFont typeface="Arial"/>
              <a:buChar char="•"/>
            </a:pPr>
            <a:r>
              <a:rPr lang="en-US" sz="1520">
                <a:solidFill>
                  <a:srgbClr val="7030A0"/>
                </a:solidFill>
                <a:latin typeface="Public Sans"/>
                <a:ea typeface="Public Sans"/>
                <a:cs typeface="Public Sans"/>
                <a:sym typeface="Public Sans"/>
              </a:rPr>
              <a:t>Interés en asistentes virtuales personalizables y visuales distintivos.</a:t>
            </a:r>
          </a:p>
          <a:p>
            <a:pPr marL="328172" lvl="1" indent="-164086" algn="just">
              <a:lnSpc>
                <a:spcPts val="2134"/>
              </a:lnSpc>
              <a:buFont typeface="Arial"/>
              <a:buChar char="•"/>
            </a:pPr>
            <a:r>
              <a:rPr lang="en-US" sz="1520">
                <a:solidFill>
                  <a:srgbClr val="7030A0"/>
                </a:solidFill>
                <a:latin typeface="Public Sans"/>
                <a:ea typeface="Public Sans"/>
                <a:cs typeface="Public Sans"/>
                <a:sym typeface="Public Sans"/>
              </a:rPr>
              <a:t>Enfoque en fortalecer la identidad del canal.</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340" y="-66675"/>
            <a:ext cx="18394680" cy="2428425"/>
            <a:chOff x="0" y="0"/>
            <a:chExt cx="24526240" cy="3237900"/>
          </a:xfrm>
        </p:grpSpPr>
        <p:sp>
          <p:nvSpPr>
            <p:cNvPr id="3" name="Freeform 3"/>
            <p:cNvSpPr/>
            <p:nvPr/>
          </p:nvSpPr>
          <p:spPr>
            <a:xfrm>
              <a:off x="0" y="0"/>
              <a:ext cx="24526239" cy="3237919"/>
            </a:xfrm>
            <a:custGeom>
              <a:avLst/>
              <a:gdLst/>
              <a:ahLst/>
              <a:cxnLst/>
              <a:rect l="l" t="t" r="r" b="b"/>
              <a:pathLst>
                <a:path w="24526239" h="3237919">
                  <a:moveTo>
                    <a:pt x="0" y="0"/>
                  </a:moveTo>
                  <a:lnTo>
                    <a:pt x="24526239" y="0"/>
                  </a:lnTo>
                  <a:lnTo>
                    <a:pt x="24526239" y="3237919"/>
                  </a:lnTo>
                  <a:lnTo>
                    <a:pt x="0" y="3237919"/>
                  </a:lnTo>
                  <a:lnTo>
                    <a:pt x="0" y="0"/>
                  </a:lnTo>
                  <a:close/>
                </a:path>
              </a:pathLst>
            </a:custGeom>
            <a:blipFill>
              <a:blip r:embed="rId3"/>
              <a:stretch>
                <a:fillRect t="-202389" b="-202388"/>
              </a:stretch>
            </a:blipFill>
          </p:spPr>
        </p:sp>
      </p:grpSp>
      <p:grpSp>
        <p:nvGrpSpPr>
          <p:cNvPr id="4" name="Group 4"/>
          <p:cNvGrpSpPr/>
          <p:nvPr/>
        </p:nvGrpSpPr>
        <p:grpSpPr>
          <a:xfrm>
            <a:off x="12660903" y="311482"/>
            <a:ext cx="6690329" cy="1321340"/>
            <a:chOff x="0" y="0"/>
            <a:chExt cx="8920439" cy="1761787"/>
          </a:xfrm>
        </p:grpSpPr>
        <p:sp>
          <p:nvSpPr>
            <p:cNvPr id="5" name="Freeform 5"/>
            <p:cNvSpPr/>
            <p:nvPr/>
          </p:nvSpPr>
          <p:spPr>
            <a:xfrm flipH="1">
              <a:off x="0" y="0"/>
              <a:ext cx="8920480" cy="1761744"/>
            </a:xfrm>
            <a:custGeom>
              <a:avLst/>
              <a:gdLst/>
              <a:ahLst/>
              <a:cxnLst/>
              <a:rect l="l" t="t" r="r" b="b"/>
              <a:pathLst>
                <a:path w="8920480" h="1761744">
                  <a:moveTo>
                    <a:pt x="8920480" y="0"/>
                  </a:moveTo>
                  <a:lnTo>
                    <a:pt x="0" y="0"/>
                  </a:lnTo>
                  <a:lnTo>
                    <a:pt x="0" y="1761744"/>
                  </a:lnTo>
                  <a:lnTo>
                    <a:pt x="8920480" y="1761744"/>
                  </a:lnTo>
                  <a:lnTo>
                    <a:pt x="8920480" y="0"/>
                  </a:lnTo>
                  <a:close/>
                </a:path>
              </a:pathLst>
            </a:custGeom>
            <a:blipFill>
              <a:blip r:embed="rId4"/>
              <a:stretch>
                <a:fillRect l="-132" r="-132" b="-2"/>
              </a:stretch>
            </a:blipFill>
          </p:spPr>
        </p:sp>
      </p:grpSp>
      <p:sp>
        <p:nvSpPr>
          <p:cNvPr id="6" name="TextBox 6"/>
          <p:cNvSpPr txBox="1"/>
          <p:nvPr/>
        </p:nvSpPr>
        <p:spPr>
          <a:xfrm>
            <a:off x="605610" y="825936"/>
            <a:ext cx="11680636" cy="1228568"/>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Entrevistas Realizadas</a:t>
            </a:r>
          </a:p>
        </p:txBody>
      </p:sp>
      <p:sp>
        <p:nvSpPr>
          <p:cNvPr id="7" name="TextBox 7"/>
          <p:cNvSpPr txBox="1"/>
          <p:nvPr/>
        </p:nvSpPr>
        <p:spPr>
          <a:xfrm>
            <a:off x="605610" y="2967803"/>
            <a:ext cx="16085006" cy="4447845"/>
          </a:xfrm>
          <a:prstGeom prst="rect">
            <a:avLst/>
          </a:prstGeom>
        </p:spPr>
        <p:txBody>
          <a:bodyPr lIns="0" tIns="0" rIns="0" bIns="0" rtlCol="0" anchor="t">
            <a:spAutoFit/>
          </a:bodyPr>
          <a:lstStyle/>
          <a:p>
            <a:pPr algn="l">
              <a:lnSpc>
                <a:spcPts val="3599"/>
              </a:lnSpc>
            </a:pPr>
            <a:r>
              <a:rPr lang="en-US" sz="1999" b="1">
                <a:solidFill>
                  <a:srgbClr val="7030A0"/>
                </a:solidFill>
                <a:latin typeface="Public Sans Bold"/>
                <a:ea typeface="Public Sans Bold"/>
                <a:cs typeface="Public Sans Bold"/>
                <a:sym typeface="Public Sans Bold"/>
              </a:rPr>
              <a:t>Conclusiones</a:t>
            </a:r>
          </a:p>
          <a:p>
            <a:pPr algn="l">
              <a:lnSpc>
                <a:spcPts val="3599"/>
              </a:lnSpc>
            </a:pPr>
            <a:r>
              <a:rPr lang="en-US" sz="1999">
                <a:solidFill>
                  <a:srgbClr val="7030A0"/>
                </a:solidFill>
                <a:latin typeface="Public Sans"/>
                <a:ea typeface="Public Sans"/>
                <a:cs typeface="Public Sans"/>
                <a:sym typeface="Public Sans"/>
              </a:rPr>
              <a:t>Los resultados obtenidos evidencian la necesidad de soluciones tecnológicas integradas, accesibles y orientadas a:</a:t>
            </a:r>
          </a:p>
          <a:p>
            <a:pPr marL="431799" lvl="1" indent="-215899" algn="l">
              <a:lnSpc>
                <a:spcPts val="3599"/>
              </a:lnSpc>
              <a:buFont typeface="Arial"/>
              <a:buChar char="•"/>
            </a:pPr>
            <a:r>
              <a:rPr lang="en-US" sz="1999">
                <a:solidFill>
                  <a:srgbClr val="7030A0"/>
                </a:solidFill>
                <a:latin typeface="Public Sans"/>
                <a:ea typeface="Public Sans"/>
                <a:cs typeface="Public Sans"/>
                <a:sym typeface="Public Sans"/>
              </a:rPr>
              <a:t>Incrementar la interacción y participación de la audiencia.</a:t>
            </a:r>
          </a:p>
          <a:p>
            <a:pPr marL="431799" lvl="1" indent="-215899" algn="l">
              <a:lnSpc>
                <a:spcPts val="3599"/>
              </a:lnSpc>
              <a:buFont typeface="Arial"/>
              <a:buChar char="•"/>
            </a:pPr>
            <a:r>
              <a:rPr lang="en-US" sz="1999">
                <a:solidFill>
                  <a:srgbClr val="7030A0"/>
                </a:solidFill>
                <a:latin typeface="Public Sans"/>
                <a:ea typeface="Public Sans"/>
                <a:cs typeface="Public Sans"/>
                <a:sym typeface="Public Sans"/>
              </a:rPr>
              <a:t>Facilitar la automatización y moderación del chat.</a:t>
            </a:r>
          </a:p>
          <a:p>
            <a:pPr marL="431799" lvl="1" indent="-215899" algn="l">
              <a:lnSpc>
                <a:spcPts val="3599"/>
              </a:lnSpc>
              <a:buFont typeface="Arial"/>
              <a:buChar char="•"/>
            </a:pPr>
            <a:r>
              <a:rPr lang="en-US" sz="1999">
                <a:solidFill>
                  <a:srgbClr val="7030A0"/>
                </a:solidFill>
                <a:latin typeface="Public Sans"/>
                <a:ea typeface="Public Sans"/>
                <a:cs typeface="Public Sans"/>
                <a:sym typeface="Public Sans"/>
              </a:rPr>
              <a:t>Mejorar la personalización del canal y la identidad del creador.</a:t>
            </a:r>
          </a:p>
          <a:p>
            <a:pPr marL="431799" lvl="1" indent="-215899" algn="l">
              <a:lnSpc>
                <a:spcPts val="3599"/>
              </a:lnSpc>
              <a:buFont typeface="Arial"/>
              <a:buChar char="•"/>
            </a:pPr>
            <a:r>
              <a:rPr lang="en-US" sz="1999">
                <a:solidFill>
                  <a:srgbClr val="7030A0"/>
                </a:solidFill>
                <a:latin typeface="Public Sans"/>
                <a:ea typeface="Public Sans"/>
                <a:cs typeface="Public Sans"/>
                <a:sym typeface="Public Sans"/>
              </a:rPr>
              <a:t>Reducir barreras técnicas para nuevos streamers.</a:t>
            </a:r>
          </a:p>
          <a:p>
            <a:pPr marL="431799" lvl="1" indent="-215899" algn="l">
              <a:lnSpc>
                <a:spcPts val="3599"/>
              </a:lnSpc>
              <a:buFont typeface="Arial"/>
              <a:buChar char="•"/>
            </a:pPr>
            <a:r>
              <a:rPr lang="en-US" sz="1999">
                <a:solidFill>
                  <a:srgbClr val="7030A0"/>
                </a:solidFill>
                <a:latin typeface="Public Sans"/>
                <a:ea typeface="Public Sans"/>
                <a:cs typeface="Public Sans"/>
                <a:sym typeface="Public Sans"/>
              </a:rPr>
              <a:t>Ofrecer herramientas de asistencia inteligente en tiempo real.</a:t>
            </a:r>
          </a:p>
          <a:p>
            <a:pPr algn="l">
              <a:lnSpc>
                <a:spcPts val="3599"/>
              </a:lnSpc>
            </a:pPr>
            <a:r>
              <a:rPr lang="en-US" sz="1999">
                <a:solidFill>
                  <a:srgbClr val="7030A0"/>
                </a:solidFill>
                <a:latin typeface="Public Sans"/>
                <a:ea typeface="Public Sans"/>
                <a:cs typeface="Public Sans"/>
                <a:sym typeface="Public Sans"/>
              </a:rPr>
              <a:t>Estas conclusiones constituyen la base para el diseño de una plataforma innovadora que responda a las necesidades reales del mercado de streaming, potenciando la experiencia del creador y de su comunidad.</a:t>
            </a:r>
          </a:p>
          <a:p>
            <a:pPr algn="l">
              <a:lnSpc>
                <a:spcPts val="3599"/>
              </a:lnSpc>
            </a:pPr>
            <a:endParaRPr lang="en-US" sz="1999">
              <a:solidFill>
                <a:srgbClr val="7030A0"/>
              </a:solidFill>
              <a:latin typeface="Public Sans"/>
              <a:ea typeface="Public Sans"/>
              <a:cs typeface="Public Sans"/>
              <a:sym typeface="Public Sans"/>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90182"/>
            <a:ext cx="18297525" cy="412281"/>
            <a:chOff x="0" y="0"/>
            <a:chExt cx="24396700" cy="549708"/>
          </a:xfrm>
        </p:grpSpPr>
        <p:sp>
          <p:nvSpPr>
            <p:cNvPr id="3" name="Freeform 3"/>
            <p:cNvSpPr/>
            <p:nvPr/>
          </p:nvSpPr>
          <p:spPr>
            <a:xfrm>
              <a:off x="0" y="0"/>
              <a:ext cx="24396700" cy="549656"/>
            </a:xfrm>
            <a:custGeom>
              <a:avLst/>
              <a:gdLst/>
              <a:ahLst/>
              <a:cxnLst/>
              <a:rect l="l" t="t" r="r" b="b"/>
              <a:pathLst>
                <a:path w="24396700" h="549656">
                  <a:moveTo>
                    <a:pt x="0" y="0"/>
                  </a:moveTo>
                  <a:lnTo>
                    <a:pt x="24396700" y="0"/>
                  </a:lnTo>
                  <a:lnTo>
                    <a:pt x="24396700" y="549656"/>
                  </a:lnTo>
                  <a:lnTo>
                    <a:pt x="0" y="549656"/>
                  </a:lnTo>
                  <a:lnTo>
                    <a:pt x="0" y="0"/>
                  </a:lnTo>
                  <a:close/>
                </a:path>
              </a:pathLst>
            </a:custGeom>
            <a:blipFill>
              <a:blip r:embed="rId2"/>
              <a:stretch>
                <a:fillRect t="-1429508" b="-1429518"/>
              </a:stretch>
            </a:blipFill>
          </p:spPr>
        </p:sp>
      </p:grpSp>
      <p:grpSp>
        <p:nvGrpSpPr>
          <p:cNvPr id="4" name="Group 4"/>
          <p:cNvGrpSpPr/>
          <p:nvPr/>
        </p:nvGrpSpPr>
        <p:grpSpPr>
          <a:xfrm>
            <a:off x="6116526" y="1014793"/>
            <a:ext cx="6263910" cy="38100"/>
            <a:chOff x="0" y="0"/>
            <a:chExt cx="8351880" cy="50800"/>
          </a:xfrm>
        </p:grpSpPr>
        <p:sp>
          <p:nvSpPr>
            <p:cNvPr id="5" name="Freeform 5"/>
            <p:cNvSpPr/>
            <p:nvPr/>
          </p:nvSpPr>
          <p:spPr>
            <a:xfrm>
              <a:off x="25400" y="0"/>
              <a:ext cx="8301101" cy="50800"/>
            </a:xfrm>
            <a:custGeom>
              <a:avLst/>
              <a:gdLst/>
              <a:ahLst/>
              <a:cxnLst/>
              <a:rect l="l" t="t" r="r" b="b"/>
              <a:pathLst>
                <a:path w="8301101" h="50800">
                  <a:moveTo>
                    <a:pt x="0" y="0"/>
                  </a:moveTo>
                  <a:lnTo>
                    <a:pt x="8301101" y="0"/>
                  </a:lnTo>
                  <a:lnTo>
                    <a:pt x="8301101" y="50800"/>
                  </a:lnTo>
                  <a:lnTo>
                    <a:pt x="0" y="50800"/>
                  </a:lnTo>
                  <a:close/>
                </a:path>
              </a:pathLst>
            </a:custGeom>
            <a:solidFill>
              <a:srgbClr val="311581"/>
            </a:solidFill>
          </p:spPr>
        </p:sp>
      </p:grpSp>
      <p:grpSp>
        <p:nvGrpSpPr>
          <p:cNvPr id="6" name="Group 6"/>
          <p:cNvGrpSpPr/>
          <p:nvPr/>
        </p:nvGrpSpPr>
        <p:grpSpPr>
          <a:xfrm>
            <a:off x="167428" y="-26327"/>
            <a:ext cx="18473328" cy="435819"/>
            <a:chOff x="0" y="0"/>
            <a:chExt cx="24631103" cy="581092"/>
          </a:xfrm>
        </p:grpSpPr>
        <p:sp>
          <p:nvSpPr>
            <p:cNvPr id="7" name="Freeform 7"/>
            <p:cNvSpPr/>
            <p:nvPr/>
          </p:nvSpPr>
          <p:spPr>
            <a:xfrm>
              <a:off x="0" y="0"/>
              <a:ext cx="24631142" cy="581152"/>
            </a:xfrm>
            <a:custGeom>
              <a:avLst/>
              <a:gdLst/>
              <a:ahLst/>
              <a:cxnLst/>
              <a:rect l="l" t="t" r="r" b="b"/>
              <a:pathLst>
                <a:path w="24631142" h="581152">
                  <a:moveTo>
                    <a:pt x="0" y="0"/>
                  </a:moveTo>
                  <a:lnTo>
                    <a:pt x="24631142" y="0"/>
                  </a:lnTo>
                  <a:lnTo>
                    <a:pt x="24631142" y="581152"/>
                  </a:lnTo>
                  <a:lnTo>
                    <a:pt x="0" y="581152"/>
                  </a:lnTo>
                  <a:lnTo>
                    <a:pt x="0" y="0"/>
                  </a:lnTo>
                  <a:close/>
                </a:path>
              </a:pathLst>
            </a:custGeom>
            <a:blipFill>
              <a:blip r:embed="rId2"/>
              <a:stretch>
                <a:fillRect t="-1362779" b="-1362769"/>
              </a:stretch>
            </a:blipFill>
          </p:spPr>
        </p:sp>
      </p:grpSp>
      <p:sp>
        <p:nvSpPr>
          <p:cNvPr id="8" name="Freeform 8"/>
          <p:cNvSpPr/>
          <p:nvPr/>
        </p:nvSpPr>
        <p:spPr>
          <a:xfrm>
            <a:off x="-6683" y="-33010"/>
            <a:ext cx="6539409" cy="3581228"/>
          </a:xfrm>
          <a:custGeom>
            <a:avLst/>
            <a:gdLst/>
            <a:ahLst/>
            <a:cxnLst/>
            <a:rect l="l" t="t" r="r" b="b"/>
            <a:pathLst>
              <a:path w="6539409" h="3581228">
                <a:moveTo>
                  <a:pt x="0" y="0"/>
                </a:moveTo>
                <a:lnTo>
                  <a:pt x="6539409" y="0"/>
                </a:lnTo>
                <a:lnTo>
                  <a:pt x="6539409" y="3581229"/>
                </a:lnTo>
                <a:lnTo>
                  <a:pt x="0" y="358122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9" name="Freeform 9"/>
          <p:cNvSpPr/>
          <p:nvPr/>
        </p:nvSpPr>
        <p:spPr>
          <a:xfrm>
            <a:off x="2288364" y="709392"/>
            <a:ext cx="1765721" cy="2320157"/>
          </a:xfrm>
          <a:custGeom>
            <a:avLst/>
            <a:gdLst/>
            <a:ahLst/>
            <a:cxnLst/>
            <a:rect l="l" t="t" r="r" b="b"/>
            <a:pathLst>
              <a:path w="1765721" h="2320157">
                <a:moveTo>
                  <a:pt x="0" y="0"/>
                </a:moveTo>
                <a:lnTo>
                  <a:pt x="1765721" y="0"/>
                </a:lnTo>
                <a:lnTo>
                  <a:pt x="1765721" y="2320157"/>
                </a:lnTo>
                <a:lnTo>
                  <a:pt x="0" y="2320157"/>
                </a:lnTo>
                <a:lnTo>
                  <a:pt x="0" y="0"/>
                </a:lnTo>
                <a:close/>
              </a:path>
            </a:pathLst>
          </a:custGeom>
          <a:blipFill>
            <a:blip r:embed="rId5">
              <a:extLst>
                <a:ext uri="{96DAC541-7B7A-43D3-8B79-37D633B846F1}">
                  <asvg:svgBlip xmlns:asvg="http://schemas.microsoft.com/office/drawing/2016/SVG/main" xmlns="" r:embed="rId6"/>
                </a:ext>
              </a:extLst>
            </a:blip>
            <a:stretch>
              <a:fillRect l="-82" r="-82"/>
            </a:stretch>
          </a:blipFill>
        </p:spPr>
      </p:sp>
      <p:sp>
        <p:nvSpPr>
          <p:cNvPr id="10" name="TextBox 10"/>
          <p:cNvSpPr txBox="1"/>
          <p:nvPr/>
        </p:nvSpPr>
        <p:spPr>
          <a:xfrm>
            <a:off x="199437" y="3652994"/>
            <a:ext cx="18098088" cy="6053145"/>
          </a:xfrm>
          <a:prstGeom prst="rect">
            <a:avLst/>
          </a:prstGeom>
        </p:spPr>
        <p:txBody>
          <a:bodyPr lIns="0" tIns="0" rIns="0" bIns="0" rtlCol="0" anchor="t">
            <a:spAutoFit/>
          </a:bodyPr>
          <a:lstStyle/>
          <a:p>
            <a:pPr algn="l">
              <a:lnSpc>
                <a:spcPts val="3167"/>
              </a:lnSpc>
            </a:pPr>
            <a:r>
              <a:rPr lang="en-US" sz="2111" b="1">
                <a:solidFill>
                  <a:srgbClr val="311581"/>
                </a:solidFill>
                <a:latin typeface="Public Sans Bold"/>
                <a:ea typeface="Public Sans Bold"/>
                <a:cs typeface="Public Sans Bold"/>
                <a:sym typeface="Public Sans Bold"/>
              </a:rPr>
              <a:t>Resumen:</a:t>
            </a:r>
          </a:p>
          <a:p>
            <a:pPr algn="l">
              <a:lnSpc>
                <a:spcPts val="3167"/>
              </a:lnSpc>
            </a:pPr>
            <a:endParaRPr lang="en-US" sz="2111" b="1">
              <a:solidFill>
                <a:srgbClr val="311581"/>
              </a:solidFill>
              <a:latin typeface="Public Sans Bold"/>
              <a:ea typeface="Public Sans Bold"/>
              <a:cs typeface="Public Sans Bold"/>
              <a:sym typeface="Public Sans Bold"/>
            </a:endParaRPr>
          </a:p>
          <a:p>
            <a:pPr marL="482658" lvl="2" indent="-160886" algn="l">
              <a:lnSpc>
                <a:spcPts val="3167"/>
              </a:lnSpc>
              <a:buFont typeface="Arial"/>
              <a:buChar char="⚬"/>
            </a:pPr>
            <a:r>
              <a:rPr lang="en-US" sz="2111" b="1">
                <a:solidFill>
                  <a:srgbClr val="311581"/>
                </a:solidFill>
                <a:latin typeface="Public Sans Bold"/>
                <a:ea typeface="Public Sans Bold"/>
                <a:cs typeface="Public Sans Bold"/>
                <a:sym typeface="Public Sans Bold"/>
              </a:rPr>
              <a:t>Interacción dinámica con audiencia: </a:t>
            </a:r>
            <a:r>
              <a:rPr lang="en-US" sz="2111">
                <a:solidFill>
                  <a:srgbClr val="311581"/>
                </a:solidFill>
                <a:latin typeface="Public Sans"/>
                <a:ea typeface="Public Sans"/>
                <a:cs typeface="Public Sans"/>
                <a:sym typeface="Public Sans"/>
              </a:rPr>
              <a:t>Viewers pueden influir en el stream y mantener la interacción activa.</a:t>
            </a:r>
          </a:p>
          <a:p>
            <a:pPr marL="482658" lvl="2" indent="-160886" algn="l">
              <a:lnSpc>
                <a:spcPts val="3167"/>
              </a:lnSpc>
            </a:pPr>
            <a:endParaRPr lang="en-US" sz="2111">
              <a:solidFill>
                <a:srgbClr val="311581"/>
              </a:solidFill>
              <a:latin typeface="Public Sans"/>
              <a:ea typeface="Public Sans"/>
              <a:cs typeface="Public Sans"/>
              <a:sym typeface="Public Sans"/>
            </a:endParaRPr>
          </a:p>
          <a:p>
            <a:pPr marL="482658" lvl="2" indent="-160886" algn="l">
              <a:lnSpc>
                <a:spcPts val="3167"/>
              </a:lnSpc>
              <a:buFont typeface="Arial"/>
              <a:buChar char="⚬"/>
            </a:pPr>
            <a:r>
              <a:rPr lang="en-US" sz="2111" b="1">
                <a:solidFill>
                  <a:srgbClr val="311581"/>
                </a:solidFill>
                <a:latin typeface="Public Sans Bold"/>
                <a:ea typeface="Public Sans Bold"/>
                <a:cs typeface="Public Sans Bold"/>
                <a:sym typeface="Public Sans Bold"/>
              </a:rPr>
              <a:t>Asistente virtual con IA: </a:t>
            </a:r>
            <a:r>
              <a:rPr lang="en-US" sz="2111">
                <a:solidFill>
                  <a:srgbClr val="311581"/>
                </a:solidFill>
                <a:latin typeface="Public Sans"/>
                <a:ea typeface="Public Sans"/>
                <a:cs typeface="Public Sans"/>
                <a:sym typeface="Public Sans"/>
              </a:rPr>
              <a:t>Responde con voz y personalidad, ayuda en chat e interacción cuando el streamer está concentrado en otras acciones.</a:t>
            </a:r>
          </a:p>
          <a:p>
            <a:pPr marL="482658" lvl="2" indent="-160886" algn="l">
              <a:lnSpc>
                <a:spcPts val="3167"/>
              </a:lnSpc>
            </a:pPr>
            <a:endParaRPr lang="en-US" sz="2111">
              <a:solidFill>
                <a:srgbClr val="311581"/>
              </a:solidFill>
              <a:latin typeface="Public Sans"/>
              <a:ea typeface="Public Sans"/>
              <a:cs typeface="Public Sans"/>
              <a:sym typeface="Public Sans"/>
            </a:endParaRPr>
          </a:p>
          <a:p>
            <a:pPr marL="482658" lvl="2" indent="-160886" algn="l">
              <a:lnSpc>
                <a:spcPts val="3167"/>
              </a:lnSpc>
              <a:buFont typeface="Arial"/>
              <a:buChar char="⚬"/>
            </a:pPr>
            <a:r>
              <a:rPr lang="en-US" sz="2111" b="1">
                <a:solidFill>
                  <a:srgbClr val="311581"/>
                </a:solidFill>
                <a:latin typeface="Public Sans Bold"/>
                <a:ea typeface="Public Sans Bold"/>
                <a:cs typeface="Public Sans Bold"/>
                <a:sym typeface="Public Sans Bold"/>
              </a:rPr>
              <a:t>Personalización total del asistente: </a:t>
            </a:r>
            <a:r>
              <a:rPr lang="en-US" sz="2111">
                <a:solidFill>
                  <a:srgbClr val="311581"/>
                </a:solidFill>
                <a:latin typeface="Public Sans"/>
                <a:ea typeface="Public Sans"/>
                <a:cs typeface="Public Sans"/>
                <a:sym typeface="Public Sans"/>
              </a:rPr>
              <a:t>Configuración de apariencia, voz, comportamiento y tono.</a:t>
            </a:r>
          </a:p>
          <a:p>
            <a:pPr marL="482658" lvl="2" indent="-160886" algn="l">
              <a:lnSpc>
                <a:spcPts val="3167"/>
              </a:lnSpc>
            </a:pPr>
            <a:endParaRPr lang="en-US" sz="2111">
              <a:solidFill>
                <a:srgbClr val="311581"/>
              </a:solidFill>
              <a:latin typeface="Public Sans"/>
              <a:ea typeface="Public Sans"/>
              <a:cs typeface="Public Sans"/>
              <a:sym typeface="Public Sans"/>
            </a:endParaRPr>
          </a:p>
          <a:p>
            <a:pPr marL="482658" lvl="2" indent="-160886" algn="l">
              <a:lnSpc>
                <a:spcPts val="3167"/>
              </a:lnSpc>
              <a:buFont typeface="Arial"/>
              <a:buChar char="⚬"/>
            </a:pPr>
            <a:r>
              <a:rPr lang="en-US" sz="2111" b="1">
                <a:solidFill>
                  <a:srgbClr val="311581"/>
                </a:solidFill>
                <a:latin typeface="Public Sans Bold"/>
                <a:ea typeface="Public Sans Bold"/>
                <a:cs typeface="Public Sans Bold"/>
                <a:sym typeface="Public Sans Bold"/>
              </a:rPr>
              <a:t>Moderación inteligente: </a:t>
            </a:r>
            <a:r>
              <a:rPr lang="en-US" sz="2111">
                <a:solidFill>
                  <a:srgbClr val="311581"/>
                </a:solidFill>
                <a:latin typeface="Public Sans"/>
                <a:ea typeface="Public Sans"/>
                <a:cs typeface="Public Sans"/>
                <a:sym typeface="Public Sans"/>
              </a:rPr>
              <a:t>Filtra spam y lenguaje ofensivo, gestiona seguridad del chat y permite control manual del streamer.</a:t>
            </a:r>
          </a:p>
          <a:p>
            <a:pPr marL="482658" lvl="2" indent="-160886" algn="l">
              <a:lnSpc>
                <a:spcPts val="3167"/>
              </a:lnSpc>
            </a:pPr>
            <a:endParaRPr lang="en-US" sz="2111">
              <a:solidFill>
                <a:srgbClr val="311581"/>
              </a:solidFill>
              <a:latin typeface="Public Sans"/>
              <a:ea typeface="Public Sans"/>
              <a:cs typeface="Public Sans"/>
              <a:sym typeface="Public Sans"/>
            </a:endParaRPr>
          </a:p>
          <a:p>
            <a:pPr marL="482658" lvl="2" indent="-160886" algn="l">
              <a:lnSpc>
                <a:spcPts val="3167"/>
              </a:lnSpc>
              <a:buFont typeface="Arial"/>
              <a:buChar char="⚬"/>
            </a:pPr>
            <a:r>
              <a:rPr lang="en-US" sz="2111" b="1">
                <a:solidFill>
                  <a:srgbClr val="311581"/>
                </a:solidFill>
                <a:latin typeface="Public Sans Bold"/>
                <a:ea typeface="Public Sans Bold"/>
                <a:cs typeface="Public Sans Bold"/>
                <a:sym typeface="Public Sans Bold"/>
              </a:rPr>
              <a:t>Aprendizaje rápido: </a:t>
            </a:r>
            <a:r>
              <a:rPr lang="en-US" sz="2111">
                <a:solidFill>
                  <a:srgbClr val="311581"/>
                </a:solidFill>
                <a:latin typeface="Public Sans"/>
                <a:ea typeface="Public Sans"/>
                <a:cs typeface="Public Sans"/>
                <a:sym typeface="Public Sans"/>
              </a:rPr>
              <a:t>Tutoriales cortos y documentación clara acerca del uso del sistema para nuevos streamers.</a:t>
            </a:r>
          </a:p>
          <a:p>
            <a:pPr marL="482658" lvl="2" indent="-160886" algn="l">
              <a:lnSpc>
                <a:spcPts val="3167"/>
              </a:lnSpc>
            </a:pPr>
            <a:endParaRPr lang="en-US" sz="2111">
              <a:solidFill>
                <a:srgbClr val="311581"/>
              </a:solidFill>
              <a:latin typeface="Public Sans"/>
              <a:ea typeface="Public Sans"/>
              <a:cs typeface="Public Sans"/>
              <a:sym typeface="Public Sans"/>
            </a:endParaRPr>
          </a:p>
          <a:p>
            <a:pPr marL="482658" lvl="2" indent="-160886" algn="l">
              <a:lnSpc>
                <a:spcPts val="3167"/>
              </a:lnSpc>
              <a:buFont typeface="Arial"/>
              <a:buChar char="⚬"/>
            </a:pPr>
            <a:r>
              <a:rPr lang="en-US" sz="2111" b="1">
                <a:solidFill>
                  <a:srgbClr val="311581"/>
                </a:solidFill>
                <a:latin typeface="Public Sans Bold"/>
                <a:ea typeface="Public Sans Bold"/>
                <a:cs typeface="Public Sans Bold"/>
                <a:sym typeface="Public Sans Bold"/>
              </a:rPr>
              <a:t>Panel de control del asistente virtual: </a:t>
            </a:r>
            <a:r>
              <a:rPr lang="en-US" sz="2111">
                <a:solidFill>
                  <a:srgbClr val="311581"/>
                </a:solidFill>
                <a:latin typeface="Public Sans"/>
                <a:ea typeface="Public Sans"/>
                <a:cs typeface="Public Sans"/>
                <a:sym typeface="Public Sans"/>
              </a:rPr>
              <a:t>interfaz grafica que permita configurar el asistente.</a:t>
            </a:r>
          </a:p>
          <a:p>
            <a:pPr marL="482658" lvl="2" indent="-160886" algn="l">
              <a:lnSpc>
                <a:spcPts val="3167"/>
              </a:lnSpc>
            </a:pPr>
            <a:endParaRPr lang="en-US" sz="2111">
              <a:solidFill>
                <a:srgbClr val="311581"/>
              </a:solidFill>
              <a:latin typeface="Public Sans"/>
              <a:ea typeface="Public Sans"/>
              <a:cs typeface="Public Sans"/>
              <a:sym typeface="Public Sans"/>
            </a:endParaRPr>
          </a:p>
        </p:txBody>
      </p:sp>
      <p:sp>
        <p:nvSpPr>
          <p:cNvPr id="11" name="Freeform 11"/>
          <p:cNvSpPr/>
          <p:nvPr/>
        </p:nvSpPr>
        <p:spPr>
          <a:xfrm>
            <a:off x="465158" y="1033843"/>
            <a:ext cx="1671256" cy="1671256"/>
          </a:xfrm>
          <a:custGeom>
            <a:avLst/>
            <a:gdLst/>
            <a:ahLst/>
            <a:cxnLst/>
            <a:rect l="l" t="t" r="r" b="b"/>
            <a:pathLst>
              <a:path w="1671256" h="1671256">
                <a:moveTo>
                  <a:pt x="0" y="0"/>
                </a:moveTo>
                <a:lnTo>
                  <a:pt x="1671256" y="0"/>
                </a:lnTo>
                <a:lnTo>
                  <a:pt x="1671256" y="1671256"/>
                </a:lnTo>
                <a:lnTo>
                  <a:pt x="0" y="1671256"/>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2" name="TextBox 12"/>
          <p:cNvSpPr txBox="1"/>
          <p:nvPr/>
        </p:nvSpPr>
        <p:spPr>
          <a:xfrm>
            <a:off x="6135576" y="1267671"/>
            <a:ext cx="10555258" cy="1027491"/>
          </a:xfrm>
          <a:prstGeom prst="rect">
            <a:avLst/>
          </a:prstGeom>
        </p:spPr>
        <p:txBody>
          <a:bodyPr lIns="0" tIns="0" rIns="0" bIns="0" rtlCol="0" anchor="t">
            <a:spAutoFit/>
          </a:bodyPr>
          <a:lstStyle/>
          <a:p>
            <a:pPr algn="l">
              <a:lnSpc>
                <a:spcPts val="8213"/>
              </a:lnSpc>
            </a:pPr>
            <a:r>
              <a:rPr lang="en-US" sz="7398" b="1">
                <a:solidFill>
                  <a:srgbClr val="311581"/>
                </a:solidFill>
                <a:latin typeface="Public Sans Bold"/>
                <a:ea typeface="Public Sans Bold"/>
                <a:cs typeface="Public Sans Bold"/>
                <a:sym typeface="Public Sans Bold"/>
              </a:rPr>
              <a:t>Historias de Usuarios</a:t>
            </a:r>
          </a:p>
        </p:txBody>
      </p:sp>
      <p:sp>
        <p:nvSpPr>
          <p:cNvPr id="13" name="TextBox 13"/>
          <p:cNvSpPr txBox="1"/>
          <p:nvPr/>
        </p:nvSpPr>
        <p:spPr>
          <a:xfrm>
            <a:off x="6135576" y="2426603"/>
            <a:ext cx="9719841" cy="617352"/>
          </a:xfrm>
          <a:prstGeom prst="rect">
            <a:avLst/>
          </a:prstGeom>
        </p:spPr>
        <p:txBody>
          <a:bodyPr lIns="0" tIns="0" rIns="0" bIns="0" rtlCol="0" anchor="t">
            <a:spAutoFit/>
          </a:bodyPr>
          <a:lstStyle/>
          <a:p>
            <a:pPr algn="l">
              <a:lnSpc>
                <a:spcPts val="2340"/>
              </a:lnSpc>
            </a:pPr>
            <a:r>
              <a:rPr lang="en-US" sz="2000" b="1">
                <a:solidFill>
                  <a:srgbClr val="311581"/>
                </a:solidFill>
                <a:latin typeface="Public Sans Bold"/>
                <a:ea typeface="Public Sans Bold"/>
                <a:cs typeface="Public Sans Bold"/>
                <a:sym typeface="Public Sans Bold"/>
              </a:rPr>
              <a:t>Tras las entrevistas con streamers, se identificaron sus principales necesidades y se elaboraron historias de usuario para definir las funcionalidades del sistema.</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730188" cy="10287000"/>
            <a:chOff x="0" y="0"/>
            <a:chExt cx="10306917" cy="13716000"/>
          </a:xfrm>
        </p:grpSpPr>
        <p:sp>
          <p:nvSpPr>
            <p:cNvPr id="3" name="Freeform 3"/>
            <p:cNvSpPr/>
            <p:nvPr/>
          </p:nvSpPr>
          <p:spPr>
            <a:xfrm>
              <a:off x="0" y="0"/>
              <a:ext cx="10306941" cy="13716000"/>
            </a:xfrm>
            <a:custGeom>
              <a:avLst/>
              <a:gdLst/>
              <a:ahLst/>
              <a:cxnLst/>
              <a:rect l="l" t="t" r="r" b="b"/>
              <a:pathLst>
                <a:path w="10306941" h="13716000">
                  <a:moveTo>
                    <a:pt x="0" y="0"/>
                  </a:moveTo>
                  <a:lnTo>
                    <a:pt x="10306941" y="0"/>
                  </a:lnTo>
                  <a:lnTo>
                    <a:pt x="10306941" y="13716000"/>
                  </a:lnTo>
                  <a:lnTo>
                    <a:pt x="0" y="13716000"/>
                  </a:lnTo>
                  <a:lnTo>
                    <a:pt x="0" y="0"/>
                  </a:lnTo>
                  <a:close/>
                </a:path>
              </a:pathLst>
            </a:custGeom>
            <a:blipFill>
              <a:blip r:embed="rId3"/>
              <a:stretch>
                <a:fillRect l="-49846" r="-49846"/>
              </a:stretch>
            </a:blipFill>
          </p:spPr>
        </p:sp>
      </p:grpSp>
      <p:sp>
        <p:nvSpPr>
          <p:cNvPr id="4" name="Freeform 4"/>
          <p:cNvSpPr/>
          <p:nvPr/>
        </p:nvSpPr>
        <p:spPr>
          <a:xfrm>
            <a:off x="8146232" y="-21299"/>
            <a:ext cx="9741343" cy="10308299"/>
          </a:xfrm>
          <a:custGeom>
            <a:avLst/>
            <a:gdLst/>
            <a:ahLst/>
            <a:cxnLst/>
            <a:rect l="l" t="t" r="r" b="b"/>
            <a:pathLst>
              <a:path w="9741343" h="10308299">
                <a:moveTo>
                  <a:pt x="0" y="0"/>
                </a:moveTo>
                <a:lnTo>
                  <a:pt x="9741343" y="0"/>
                </a:lnTo>
                <a:lnTo>
                  <a:pt x="9741343" y="10308299"/>
                </a:lnTo>
                <a:lnTo>
                  <a:pt x="0" y="10308299"/>
                </a:lnTo>
                <a:lnTo>
                  <a:pt x="0" y="0"/>
                </a:lnTo>
                <a:close/>
              </a:path>
            </a:pathLst>
          </a:custGeom>
          <a:blipFill>
            <a:blip r:embed="rId4"/>
            <a:stretch>
              <a:fillRect/>
            </a:stretch>
          </a:blipFill>
        </p:spPr>
      </p:sp>
      <p:sp>
        <p:nvSpPr>
          <p:cNvPr id="5" name="TextBox 5"/>
          <p:cNvSpPr txBox="1"/>
          <p:nvPr/>
        </p:nvSpPr>
        <p:spPr>
          <a:xfrm>
            <a:off x="946827" y="904723"/>
            <a:ext cx="5836534" cy="1228568"/>
          </a:xfrm>
          <a:prstGeom prst="rect">
            <a:avLst/>
          </a:prstGeom>
        </p:spPr>
        <p:txBody>
          <a:bodyPr lIns="0" tIns="0" rIns="0" bIns="0" rtlCol="0" anchor="t">
            <a:spAutoFit/>
          </a:bodyPr>
          <a:lstStyle/>
          <a:p>
            <a:pPr algn="l">
              <a:lnSpc>
                <a:spcPts val="9855"/>
              </a:lnSpc>
            </a:pPr>
            <a:r>
              <a:rPr lang="en-US" sz="7398" b="1">
                <a:solidFill>
                  <a:srgbClr val="FFFFFF"/>
                </a:solidFill>
                <a:latin typeface="Public Sans Bold"/>
                <a:ea typeface="Public Sans Bold"/>
                <a:cs typeface="Public Sans Bold"/>
                <a:sym typeface="Public Sans Bold"/>
              </a:rPr>
              <a:t>Casos de uso</a:t>
            </a:r>
          </a:p>
        </p:txBody>
      </p:sp>
      <p:grpSp>
        <p:nvGrpSpPr>
          <p:cNvPr id="6" name="Group 6"/>
          <p:cNvGrpSpPr/>
          <p:nvPr/>
        </p:nvGrpSpPr>
        <p:grpSpPr>
          <a:xfrm rot="-5400000">
            <a:off x="3165046" y="4565142"/>
            <a:ext cx="10308299" cy="1178014"/>
            <a:chOff x="0" y="0"/>
            <a:chExt cx="13744399" cy="1570686"/>
          </a:xfrm>
        </p:grpSpPr>
        <p:sp>
          <p:nvSpPr>
            <p:cNvPr id="7" name="Freeform 7"/>
            <p:cNvSpPr/>
            <p:nvPr/>
          </p:nvSpPr>
          <p:spPr>
            <a:xfrm>
              <a:off x="0" y="0"/>
              <a:ext cx="13744448" cy="1570629"/>
            </a:xfrm>
            <a:custGeom>
              <a:avLst/>
              <a:gdLst/>
              <a:ahLst/>
              <a:cxnLst/>
              <a:rect l="l" t="t" r="r" b="b"/>
              <a:pathLst>
                <a:path w="13744448" h="1570629">
                  <a:moveTo>
                    <a:pt x="0" y="0"/>
                  </a:moveTo>
                  <a:lnTo>
                    <a:pt x="13744448" y="0"/>
                  </a:lnTo>
                  <a:lnTo>
                    <a:pt x="13744448" y="1570629"/>
                  </a:lnTo>
                  <a:lnTo>
                    <a:pt x="0" y="1570629"/>
                  </a:lnTo>
                  <a:lnTo>
                    <a:pt x="0" y="0"/>
                  </a:lnTo>
                  <a:close/>
                </a:path>
              </a:pathLst>
            </a:custGeom>
            <a:blipFill>
              <a:blip r:embed="rId5"/>
              <a:stretch>
                <a:fillRect l="-40270" r="-40269" b="-3"/>
              </a:stretch>
            </a:blipFill>
          </p:spPr>
        </p:sp>
      </p:grpSp>
      <p:sp>
        <p:nvSpPr>
          <p:cNvPr id="8" name="TextBox 8"/>
          <p:cNvSpPr txBox="1"/>
          <p:nvPr/>
        </p:nvSpPr>
        <p:spPr>
          <a:xfrm>
            <a:off x="242218" y="2576147"/>
            <a:ext cx="7297838" cy="4103401"/>
          </a:xfrm>
          <a:prstGeom prst="rect">
            <a:avLst/>
          </a:prstGeom>
        </p:spPr>
        <p:txBody>
          <a:bodyPr lIns="0" tIns="0" rIns="0" bIns="0" rtlCol="0" anchor="t">
            <a:spAutoFit/>
          </a:bodyPr>
          <a:lstStyle/>
          <a:p>
            <a:pPr algn="just">
              <a:lnSpc>
                <a:spcPts val="2730"/>
              </a:lnSpc>
            </a:pPr>
            <a:r>
              <a:rPr lang="en-US" sz="1820" b="1">
                <a:solidFill>
                  <a:srgbClr val="FFFFFF"/>
                </a:solidFill>
                <a:latin typeface="Public Sans Bold"/>
                <a:ea typeface="Public Sans Bold"/>
                <a:cs typeface="Public Sans Bold"/>
                <a:sym typeface="Public Sans Bold"/>
              </a:rPr>
              <a:t>Se elaboró un diagrama de casos de uso para representar la interacción entre los actores del sistema tanto streamer y viewers y por ultimo el asistente virtual.</a:t>
            </a:r>
          </a:p>
          <a:p>
            <a:pPr algn="just">
              <a:lnSpc>
                <a:spcPts val="2730"/>
              </a:lnSpc>
            </a:pPr>
            <a:endParaRPr lang="en-US" sz="1820" b="1">
              <a:solidFill>
                <a:srgbClr val="FFFFFF"/>
              </a:solidFill>
              <a:latin typeface="Public Sans Bold"/>
              <a:ea typeface="Public Sans Bold"/>
              <a:cs typeface="Public Sans Bold"/>
              <a:sym typeface="Public Sans Bold"/>
            </a:endParaRPr>
          </a:p>
          <a:p>
            <a:pPr algn="just">
              <a:lnSpc>
                <a:spcPts val="2730"/>
              </a:lnSpc>
            </a:pPr>
            <a:r>
              <a:rPr lang="en-US" sz="1820" b="1">
                <a:solidFill>
                  <a:srgbClr val="FFFFFF"/>
                </a:solidFill>
                <a:latin typeface="Public Sans Bold"/>
                <a:ea typeface="Public Sans Bold"/>
                <a:cs typeface="Public Sans Bold"/>
                <a:sym typeface="Public Sans Bold"/>
              </a:rPr>
              <a:t>El diagrama describe las funciones principales del asistente, incluyendo la configuración y personalización por parte del streamer, así como la interacción y ejecución de comandos por los viewers.</a:t>
            </a:r>
          </a:p>
          <a:p>
            <a:pPr algn="just">
              <a:lnSpc>
                <a:spcPts val="2730"/>
              </a:lnSpc>
            </a:pPr>
            <a:endParaRPr lang="en-US" sz="1820" b="1">
              <a:solidFill>
                <a:srgbClr val="FFFFFF"/>
              </a:solidFill>
              <a:latin typeface="Public Sans Bold"/>
              <a:ea typeface="Public Sans Bold"/>
              <a:cs typeface="Public Sans Bold"/>
              <a:sym typeface="Public Sans Bold"/>
            </a:endParaRPr>
          </a:p>
          <a:p>
            <a:pPr algn="just">
              <a:lnSpc>
                <a:spcPts val="2730"/>
              </a:lnSpc>
            </a:pPr>
            <a:r>
              <a:rPr lang="en-US" sz="1820" b="1">
                <a:solidFill>
                  <a:srgbClr val="FFFFFF"/>
                </a:solidFill>
                <a:latin typeface="Public Sans Bold"/>
                <a:ea typeface="Public Sans Bold"/>
                <a:cs typeface="Public Sans Bold"/>
                <a:sym typeface="Public Sans Bold"/>
              </a:rPr>
              <a:t> También se muestran las integraciones con servicios externos de IA y voz, y la gestión de datos para personalización y respuestas automáticas.</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432C7">
                <a:alpha val="100000"/>
              </a:srgbClr>
            </a:gs>
          </a:gsLst>
          <a:lin ang="16200000"/>
        </a:gradFill>
        <a:effectLst/>
      </p:bgPr>
    </p:bg>
    <p:spTree>
      <p:nvGrpSpPr>
        <p:cNvPr id="1" name=""/>
        <p:cNvGrpSpPr/>
        <p:nvPr/>
      </p:nvGrpSpPr>
      <p:grpSpPr>
        <a:xfrm>
          <a:off x="0" y="0"/>
          <a:ext cx="0" cy="0"/>
          <a:chOff x="0" y="0"/>
          <a:chExt cx="0" cy="0"/>
        </a:xfrm>
      </p:grpSpPr>
      <p:grpSp>
        <p:nvGrpSpPr>
          <p:cNvPr id="2" name="Group 2"/>
          <p:cNvGrpSpPr/>
          <p:nvPr/>
        </p:nvGrpSpPr>
        <p:grpSpPr>
          <a:xfrm>
            <a:off x="110398" y="-372329"/>
            <a:ext cx="18067203" cy="12319006"/>
            <a:chOff x="0" y="0"/>
            <a:chExt cx="22586127" cy="15400205"/>
          </a:xfrm>
        </p:grpSpPr>
        <p:sp>
          <p:nvSpPr>
            <p:cNvPr id="3" name="Freeform 3"/>
            <p:cNvSpPr/>
            <p:nvPr/>
          </p:nvSpPr>
          <p:spPr>
            <a:xfrm>
              <a:off x="0" y="0"/>
              <a:ext cx="22586187" cy="15400176"/>
            </a:xfrm>
            <a:custGeom>
              <a:avLst/>
              <a:gdLst/>
              <a:ahLst/>
              <a:cxnLst/>
              <a:rect l="l" t="t" r="r" b="b"/>
              <a:pathLst>
                <a:path w="22586187" h="15400176">
                  <a:moveTo>
                    <a:pt x="0" y="0"/>
                  </a:moveTo>
                  <a:lnTo>
                    <a:pt x="22586187" y="0"/>
                  </a:lnTo>
                  <a:lnTo>
                    <a:pt x="22586187" y="15400176"/>
                  </a:lnTo>
                  <a:lnTo>
                    <a:pt x="0" y="15400176"/>
                  </a:lnTo>
                  <a:lnTo>
                    <a:pt x="0" y="0"/>
                  </a:lnTo>
                  <a:close/>
                </a:path>
              </a:pathLst>
            </a:custGeom>
            <a:blipFill>
              <a:blip r:embed="rId2"/>
              <a:stretch>
                <a:fillRect l="-86" r="-86"/>
              </a:stretch>
            </a:blipFill>
          </p:spPr>
        </p:sp>
      </p:grpSp>
      <p:sp>
        <p:nvSpPr>
          <p:cNvPr id="4" name="Freeform 4"/>
          <p:cNvSpPr/>
          <p:nvPr/>
        </p:nvSpPr>
        <p:spPr>
          <a:xfrm rot="10488210">
            <a:off x="8631369" y="-447909"/>
            <a:ext cx="10140551" cy="1900584"/>
          </a:xfrm>
          <a:custGeom>
            <a:avLst/>
            <a:gdLst/>
            <a:ahLst/>
            <a:cxnLst/>
            <a:rect l="l" t="t" r="r" b="b"/>
            <a:pathLst>
              <a:path w="10140551" h="1900584">
                <a:moveTo>
                  <a:pt x="0" y="0"/>
                </a:moveTo>
                <a:lnTo>
                  <a:pt x="10140551" y="0"/>
                </a:lnTo>
                <a:lnTo>
                  <a:pt x="10140551" y="1900584"/>
                </a:lnTo>
                <a:lnTo>
                  <a:pt x="0" y="190058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TextBox 5"/>
          <p:cNvSpPr txBox="1"/>
          <p:nvPr/>
        </p:nvSpPr>
        <p:spPr>
          <a:xfrm>
            <a:off x="9345706" y="242447"/>
            <a:ext cx="8711877" cy="830613"/>
          </a:xfrm>
          <a:prstGeom prst="rect">
            <a:avLst/>
          </a:prstGeom>
        </p:spPr>
        <p:txBody>
          <a:bodyPr lIns="0" tIns="0" rIns="0" bIns="0" rtlCol="0" anchor="t">
            <a:spAutoFit/>
          </a:bodyPr>
          <a:lstStyle/>
          <a:p>
            <a:pPr algn="l">
              <a:lnSpc>
                <a:spcPts val="6660"/>
              </a:lnSpc>
            </a:pPr>
            <a:r>
              <a:rPr lang="en-US" sz="6000" b="1">
                <a:solidFill>
                  <a:srgbClr val="FFFFFF"/>
                </a:solidFill>
                <a:latin typeface="Public Sans Bold"/>
                <a:ea typeface="Public Sans Bold"/>
                <a:cs typeface="Public Sans Bold"/>
                <a:sym typeface="Public Sans Bold"/>
              </a:rPr>
              <a:t>Flujograma de Proceso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432C7">
                <a:alpha val="100000"/>
              </a:srgbClr>
            </a:gs>
          </a:gsLst>
          <a:lin ang="16200000"/>
        </a:gradFill>
        <a:effectLst/>
      </p:bgPr>
    </p:bg>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a:stretch>
            <a:fillRect/>
          </a:stretch>
        </p:blipFill>
        <p:spPr>
          <a:xfrm>
            <a:off x="686238" y="386009"/>
            <a:ext cx="16915524" cy="9514982"/>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1303</Words>
  <Application>Microsoft Office PowerPoint</Application>
  <PresentationFormat>Personalizado</PresentationFormat>
  <Paragraphs>182</Paragraphs>
  <Slides>22</Slides>
  <Notes>18</Notes>
  <HiddenSlides>0</HiddenSlides>
  <MMClips>1</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22</vt:i4>
      </vt:variant>
    </vt:vector>
  </HeadingPairs>
  <TitlesOfParts>
    <vt:vector size="29" baseType="lpstr">
      <vt:lpstr>Arial</vt:lpstr>
      <vt:lpstr>Public Sans</vt:lpstr>
      <vt:lpstr>Nunito Bold</vt:lpstr>
      <vt:lpstr>Public Sans Thin</vt:lpstr>
      <vt:lpstr>Calibri</vt:lpstr>
      <vt:lpstr>Public Sans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Proyecto.pptx</dc:title>
  <dc:creator>Claudio Adones Araya</dc:creator>
  <cp:lastModifiedBy>Claudio Adones Araya</cp:lastModifiedBy>
  <cp:revision>2</cp:revision>
  <dcterms:created xsi:type="dcterms:W3CDTF">2006-08-16T00:00:00Z</dcterms:created>
  <dcterms:modified xsi:type="dcterms:W3CDTF">2025-10-30T18:30:36Z</dcterms:modified>
  <dc:identifier>DAG3SD7JUKw</dc:identifier>
</cp:coreProperties>
</file>